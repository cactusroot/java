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422" r:id="rId2"/>
    <p:sldId id="440" r:id="rId3"/>
    <p:sldId id="447" r:id="rId4"/>
    <p:sldId id="429" r:id="rId5"/>
    <p:sldId id="418" r:id="rId6"/>
    <p:sldId id="442" r:id="rId7"/>
    <p:sldId id="445" r:id="rId8"/>
    <p:sldId id="441" r:id="rId9"/>
    <p:sldId id="444" r:id="rId10"/>
    <p:sldId id="443" r:id="rId11"/>
    <p:sldId id="435" r:id="rId12"/>
    <p:sldId id="431" r:id="rId13"/>
    <p:sldId id="288" r:id="rId14"/>
    <p:sldId id="289" r:id="rId15"/>
    <p:sldId id="436" r:id="rId16"/>
    <p:sldId id="437" r:id="rId17"/>
    <p:sldId id="438" r:id="rId18"/>
    <p:sldId id="43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2F5FA"/>
    <a:srgbClr val="000000"/>
    <a:srgbClr val="E6E6E6"/>
    <a:srgbClr val="E5EEFF"/>
    <a:srgbClr val="E5F6FF"/>
    <a:srgbClr val="EEF6FF"/>
    <a:srgbClr val="F6FFEE"/>
    <a:srgbClr val="EEFFDD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455" autoAdjust="0"/>
    <p:restoredTop sz="96386" autoAdjust="0"/>
  </p:normalViewPr>
  <p:slideViewPr>
    <p:cSldViewPr snapToGrid="0">
      <p:cViewPr>
        <p:scale>
          <a:sx n="100" d="100"/>
          <a:sy n="100" d="100"/>
        </p:scale>
        <p:origin x="1260" y="13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5" d="100"/>
          <a:sy n="125" d="100"/>
        </p:scale>
        <p:origin x="492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8DC784-3B3A-4CAC-98FD-9A1CC12ADF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78DDA-BE0D-4476-8468-194869BFD5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CABDD-8B3F-45C4-A152-E69BA35442ED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48C7E-FB72-413C-9B77-01DB696A64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3096C-3686-4EFF-A61E-935A95BA98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0FEFA-C16C-4FE6-96DC-FBD2E26EB87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11708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AE113-F8CC-4FE9-AA7C-5EEC3325EFF1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C2603-1279-4E54-A1F7-91E91D6C021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680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2603-1279-4E54-A1F7-91E91D6C021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9898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231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0881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245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5211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600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650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8812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1980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781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967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636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4B683-5B55-47E9-B45C-EB67E128550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75747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www.junioruni-essen.de/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.mi.fu-berlin.de/jonascleve/brueckenkurs/logik-regeln.pdf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85A916-8705-4789-91FD-B6AD62310C3E}"/>
                  </a:ext>
                </a:extLst>
              </p:cNvPr>
              <p:cNvSpPr txBox="1"/>
              <p:nvPr/>
            </p:nvSpPr>
            <p:spPr>
              <a:xfrm rot="1272087">
                <a:off x="4762978" y="2928603"/>
                <a:ext cx="7248178" cy="16301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kumimoji="0" lang="en-US" altLang="de-DE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de-DE" sz="16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0" lang="en-US" altLang="de-DE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lang="en-US" altLang="de-DE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de-DE" sz="16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de-DE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: </m:t>
                      </m:r>
                      <m:d>
                        <m:dPr>
                          <m:ctrlPr>
                            <a:rPr kumimoji="0" lang="en-US" altLang="de-DE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altLang="de-DE" sz="16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0" lang="en-US" altLang="de-DE" sz="16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kumimoji="0" lang="en-US" altLang="de-DE" sz="16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eqArr>
                        </m:e>
                      </m:d>
                      <m:r>
                        <a:rPr lang="en-US" altLang="de-D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d>
                        <m:dPr>
                          <m:ctrlPr>
                            <a:rPr lang="en-US" altLang="de-D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de-DE" sz="16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alt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de-DE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altLang="de-DE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eqArr>
                            </m:e>
                            <m:e>
                              <m:r>
                                <a:rPr lang="en-US" alt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  <m:oMath xmlns:m="http://schemas.openxmlformats.org/officeDocument/2006/math"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de-D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d>
                        <m:dPr>
                          <m:ctrlPr>
                            <a:rPr lang="en-US" altLang="de-DE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de-DE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de-DE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de-DE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  <m:r>
                        <a:rPr lang="en-US" altLang="de-D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altLang="de-D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kumimoji="0" lang="en-US" altLang="de-DE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de-DE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kumimoji="0" lang="de-DE" altLang="de-DE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85A916-8705-4789-91FD-B6AD62310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72087">
                <a:off x="4762978" y="2928603"/>
                <a:ext cx="7248178" cy="16301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EFB1FB-24D0-4C3C-837A-075D7435AE82}"/>
                  </a:ext>
                </a:extLst>
              </p:cNvPr>
              <p:cNvSpPr txBox="1"/>
              <p:nvPr/>
            </p:nvSpPr>
            <p:spPr>
              <a:xfrm rot="684757">
                <a:off x="764481" y="4945922"/>
                <a:ext cx="7646685" cy="1432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de-D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de-D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de-DE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eqArr>
                            </m:e>
                          </m:d>
                          <m:r>
                            <a:rPr lang="en-US" altLang="de-DE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de-DE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de-DE" sz="1600" i="1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altLang="de-DE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de-DE" sz="1600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ad>
                            <m:radPr>
                              <m:degHide m:val="on"/>
                              <m:ctrlPr>
                                <a:rPr lang="en-US" altLang="de-DE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de-DE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de-DE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de-DE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de-DE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de-DE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altLang="de-DE" sz="1600" b="0" i="1" smtClean="0">
                              <a:latin typeface="Cambria Math" panose="02040503050406030204" pitchFamily="18" charset="0"/>
                            </a:rPr>
                            <m:t>∈[1, 2)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de-DE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de-DE" sz="16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  <m:oMath xmlns:m="http://schemas.openxmlformats.org/officeDocument/2006/math"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de-D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d>
                        <m:dPr>
                          <m:ctrlPr>
                            <a:rPr lang="en-US" altLang="de-DE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de-DE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de-DE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de-DE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  <m:r>
                        <a:rPr lang="en-US" altLang="de-D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altLang="de-D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kumimoji="0" lang="en-US" altLang="de-DE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de-DE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kumimoji="0" lang="de-DE" altLang="de-DE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EFB1FB-24D0-4C3C-837A-075D7435A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684757">
                <a:off x="764481" y="4945922"/>
                <a:ext cx="7646685" cy="14328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2A2713-15B6-4062-AADA-FFE41E8D5591}"/>
                  </a:ext>
                </a:extLst>
              </p:cNvPr>
              <p:cNvSpPr txBox="1"/>
              <p:nvPr/>
            </p:nvSpPr>
            <p:spPr>
              <a:xfrm rot="20631408">
                <a:off x="564987" y="401324"/>
                <a:ext cx="7091364" cy="16301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kumimoji="0" lang="en-US" altLang="de-DE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de-DE" sz="16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0" lang="en-US" altLang="de-DE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lang="en-US" altLang="de-DE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de-DE" sz="16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de-DE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: </m:t>
                      </m:r>
                      <m:d>
                        <m:dPr>
                          <m:ctrlPr>
                            <a:rPr kumimoji="0" lang="en-US" altLang="de-DE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altLang="de-DE" sz="16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0" lang="en-US" altLang="de-DE" sz="16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kumimoji="0" lang="en-US" altLang="de-DE" sz="16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eqArr>
                        </m:e>
                      </m:d>
                      <m:r>
                        <a:rPr lang="en-US" altLang="de-D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d>
                        <m:dPr>
                          <m:ctrlPr>
                            <a:rPr lang="en-US" altLang="de-D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de-DE" sz="16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alt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de-DE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altLang="de-DE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eqArr>
                            </m:e>
                            <m:e>
                              <m:r>
                                <a:rPr lang="en-US" alt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  <m:oMath xmlns:m="http://schemas.openxmlformats.org/officeDocument/2006/math"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de-D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d>
                        <m:dPr>
                          <m:ctrlPr>
                            <a:rPr lang="en-US" altLang="de-DE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de-DE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de-DE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de-DE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  <m:r>
                        <a:rPr lang="en-US" altLang="de-D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altLang="de-D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kumimoji="0" lang="en-US" altLang="de-DE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de-DE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0" lang="en-US" altLang="de-DE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kumimoji="0" lang="de-DE" altLang="de-DE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2A2713-15B6-4062-AADA-FFE41E8D5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31408">
                <a:off x="564987" y="401324"/>
                <a:ext cx="7091364" cy="16301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C4FE5F9-987A-4C79-96C0-D4DAF6269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9852" y="2411465"/>
            <a:ext cx="10392295" cy="1012090"/>
          </a:xfrm>
          <a:solidFill>
            <a:schemeClr val="bg1">
              <a:alpha val="75000"/>
            </a:schemeClr>
          </a:solidFill>
        </p:spPr>
        <p:txBody>
          <a:bodyPr>
            <a:normAutofit/>
          </a:bodyPr>
          <a:lstStyle/>
          <a:p>
            <a:r>
              <a:rPr lang="de-DE" sz="6000" dirty="0"/>
              <a:t>Mathematische Grundlagen</a:t>
            </a:r>
            <a:endParaRPr lang="de-DE" dirty="0"/>
          </a:p>
        </p:txBody>
      </p:sp>
      <p:pic>
        <p:nvPicPr>
          <p:cNvPr id="9" name="Picture 8">
            <a:hlinkClick r:id="rId5"/>
            <a:extLst>
              <a:ext uri="{FF2B5EF4-FFF2-40B4-BE49-F238E27FC236}">
                <a16:creationId xmlns:a16="http://schemas.microsoft.com/office/drawing/2014/main" id="{720EDD69-8336-4AFF-9A22-7F921024C1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701"/>
            <a:ext cx="1524000" cy="152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084A4B-A4CB-488F-A412-BBDE76DBAE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5333299"/>
            <a:ext cx="1524000" cy="1524000"/>
          </a:xfrm>
          <a:prstGeom prst="rect">
            <a:avLst/>
          </a:prstGeom>
        </p:spPr>
      </p:pic>
      <p:pic>
        <p:nvPicPr>
          <p:cNvPr id="10" name="Graphic 9" descr="Ruler with solid fill">
            <a:extLst>
              <a:ext uri="{FF2B5EF4-FFF2-40B4-BE49-F238E27FC236}">
                <a16:creationId xmlns:a16="http://schemas.microsoft.com/office/drawing/2014/main" id="{FF98CE4D-2BDA-42B0-BD83-95B313894F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38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AF570-7E34-463A-945A-E2AE0339B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Aufbau aussagenlogischer Formeln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86C794-D4D9-4CCA-B897-3082D1FD45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de-DE" dirty="0"/>
                  <a:t>Aussagen (wahr oder falsch)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de-DE" b="0" i="1" dirty="0" smtClean="0">
                        <a:solidFill>
                          <a:srgbClr val="FFCCFF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„Es regnet.“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≔ </m:t>
                    </m:r>
                  </m:oMath>
                </a14:m>
                <a:r>
                  <a:rPr lang="de-DE" dirty="0"/>
                  <a:t>„Die Sonne scheint.“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≔ </m:t>
                    </m:r>
                  </m:oMath>
                </a14:m>
                <a:r>
                  <a:rPr lang="de-DE" dirty="0"/>
                  <a:t>„Am Himmel ist ein Regenbogen zu sehen.“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≔ </m:t>
                    </m:r>
                  </m:oMath>
                </a14:m>
                <a:r>
                  <a:rPr lang="de-DE" dirty="0"/>
                  <a:t>„Wir befinden uns an der richtigen Position.“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altLang="de-DE" dirty="0">
                        <a:latin typeface="Arial" panose="020B0604020202020204" pitchFamily="34" charset="0"/>
                      </a:rPr>
                      <m:t>⊤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≔ </m:t>
                    </m:r>
                  </m:oMath>
                </a14:m>
                <a:r>
                  <a:rPr lang="de-DE" dirty="0"/>
                  <a:t>wahr („Tautologie“)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altLang="de-DE" dirty="0">
                        <a:latin typeface="Arial" panose="020B0604020202020204" pitchFamily="34" charset="0"/>
                      </a:rPr>
                      <m:t>⊥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≔ </m:t>
                    </m:r>
                  </m:oMath>
                </a14:m>
                <a:r>
                  <a:rPr lang="de-DE" dirty="0"/>
                  <a:t>falsch („Kontradiktion“)</a:t>
                </a:r>
              </a:p>
              <a:p>
                <a:r>
                  <a:rPr lang="de-DE" dirty="0"/>
                  <a:t>Logischen Verknüpfungen</a:t>
                </a:r>
              </a:p>
              <a:p>
                <a:pPr marL="914400" lvl="2" indent="0">
                  <a:buNone/>
                </a:pPr>
                <a:r>
                  <a:rPr lang="de-DE" dirty="0"/>
                  <a:t>Seien </a:t>
                </a:r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dirty="0"/>
                  <a:t> und </a:t>
                </a:r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de-DE" dirty="0"/>
                  <a:t> aussagenlogische Formeln.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 ∧ 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DE" smtClean="0">
                        <a:solidFill>
                          <a:srgbClr val="FFCCFF"/>
                        </a:solidFill>
                      </a:rPr>
                      <m:t>:⇔</m:t>
                    </m:r>
                    <m:r>
                      <a:rPr lang="en-US" b="0" i="1" smtClean="0">
                        <a:solidFill>
                          <a:srgbClr val="FFCC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𝑢𝑛𝑑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de-DE" dirty="0"/>
                  <a:t> („Konjunktion“, gilt beides?)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 ∨ 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DE"/>
                      <m:t>:⇔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𝑜𝑑𝑒𝑟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de-DE" dirty="0"/>
                  <a:t>  („Disjunktion“, gilt </a:t>
                </a:r>
                <a:r>
                  <a:rPr lang="de-DE" dirty="0">
                    <a:solidFill>
                      <a:srgbClr val="FFCCFF"/>
                    </a:solidFill>
                  </a:rPr>
                  <a:t>mindestens eins</a:t>
                </a:r>
                <a:r>
                  <a:rPr lang="de-DE" dirty="0"/>
                  <a:t> von beidem?)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 dirty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de-DE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/>
                        <m:t>:⇔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𝑛𝑖𝑐h𝑡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de-DE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/>
                        <m:t>:⇔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𝑖𝑚𝑝𝑙𝑖𝑧𝑖𝑒𝑟𝑡</m:t>
                      </m:r>
                      <m:r>
                        <a:rPr lang="de-DE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/>
                        <m:t>:⇔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solidFill>
                            <a:srgbClr val="FFCCFF"/>
                          </a:solidFill>
                          <a:latin typeface="Cambria Math" panose="02040503050406030204" pitchFamily="18" charset="0"/>
                        </a:rPr>
                        <m:t>𝑤𝑒𝑛𝑛</m:t>
                      </m:r>
                      <m:r>
                        <a:rPr lang="en-US" b="0" i="1" dirty="0" smtClean="0">
                          <a:solidFill>
                            <a:srgbClr val="FFCC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solidFill>
                            <a:srgbClr val="FFCC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dirty="0" smtClean="0">
                          <a:solidFill>
                            <a:srgbClr val="FFCCF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solidFill>
                            <a:srgbClr val="FFCCFF"/>
                          </a:solidFill>
                          <a:latin typeface="Cambria Math" panose="02040503050406030204" pitchFamily="18" charset="0"/>
                        </a:rPr>
                        <m:t>𝑑𝑎𝑛𝑛</m:t>
                      </m:r>
                      <m:r>
                        <a:rPr lang="en-US" b="0" i="1" dirty="0" smtClean="0">
                          <a:solidFill>
                            <a:srgbClr val="FFCC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solidFill>
                            <a:srgbClr val="FFCCFF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/>
                        <m:t>:⇔</m:t>
                      </m:r>
                      <m:r>
                        <m:rPr>
                          <m:nor/>
                        </m:rPr>
                        <a:rPr lang="en-US" b="0" i="0" smtClean="0"/>
                        <m:t> </m:t>
                      </m:r>
                      <m:r>
                        <a:rPr lang="de-DE" i="1" dirty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de-DE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i="1" dirty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Beispiel: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) </a:t>
                </a:r>
                <a:r>
                  <a:rPr lang="de-DE" dirty="0"/>
                  <a:t>„Wenn es regnet und die Sonne scheint, ist am Himmel ein Regenbogen zu sehen, oder wir befinden uns nicht an der richtigen Position“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86C794-D4D9-4CCA-B897-3082D1FD45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447FE358-0C76-406C-82B9-49B75A574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9A8DADE-F15B-47E3-B94E-AA7A54484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3BDB648-67F2-4876-B790-380EA8218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-2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7595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1099A-6D8A-47FF-957D-AD073F2BA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Aussagenlogische Äquivalenz (≡)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E907D7-0231-4067-8A21-F84AF5A56E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Einige aussagenlogische Formeln sind äquivalent, also gleichbedeutend.</a:t>
                </a:r>
              </a:p>
              <a:p>
                <a:pPr lvl="1"/>
                <a:r>
                  <a:rPr lang="de-DE" dirty="0"/>
                  <a:t>Sie werden für die gleichen aussagenlogischen Variablen wahr.</a:t>
                </a:r>
              </a:p>
              <a:p>
                <a:r>
                  <a:rPr lang="de-DE" dirty="0"/>
                  <a:t>Beispiele: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de-DE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E907D7-0231-4067-8A21-F84AF5A56E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Paperclip with solid fill">
            <a:hlinkClick r:id="rId3"/>
            <a:extLst>
              <a:ext uri="{FF2B5EF4-FFF2-40B4-BE49-F238E27FC236}">
                <a16:creationId xmlns:a16="http://schemas.microsoft.com/office/drawing/2014/main" id="{ED963C25-12CC-49AC-AB4E-D00A5A588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00000">
            <a:off x="11277600" y="59436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193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7CC9-1D60-40D7-8CFC-EFB16059F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B55A8-9D06-4A5B-A451-0D7377335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86811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B82E-B9E0-4E92-9CA2-0750CB840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Intervalle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0D2DC9-2013-4C0C-9440-12890C4EB1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Seien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a</m:t>
                    </m:r>
                    <m:r>
                      <a:rPr lang="en-US" b="0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b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ℝ</m:t>
                    </m:r>
                  </m:oMath>
                </a14:m>
                <a:r>
                  <a:rPr lang="de-DE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Dann sind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a</m:t>
                        </m:r>
                        <m:r>
                          <a:rPr lang="en-US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e>
                    </m:d>
                    <m:r>
                      <a:rPr lang="en-US" b="0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≔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r</m:t>
                        </m:r>
                        <m: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ℝ</m:t>
                        </m:r>
                        <m: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≥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∧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endParaRPr lang="en-US" b="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de-DE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Die Menge aller reellen Zahlen von a inklusiv bis b inklusiv.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a</m:t>
                        </m:r>
                        <m:r>
                          <a:rPr lang="en-US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e>
                    </m:d>
                    <m:r>
                      <a:rPr lang="en-US" b="0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≔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r</m:t>
                        </m:r>
                        <m: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ℝ</m:t>
                        </m:r>
                        <m: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≥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∧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endParaRPr lang="de-DE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de-DE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Die Menge aller reellen Zahlen von a inklusiv bis b exklusiv.</a:t>
                </a:r>
              </a:p>
              <a:p>
                <a:pPr marL="0" indent="0">
                  <a:buNone/>
                </a:pPr>
                <a:endParaRPr lang="de-DE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de-DE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Beispiele:</a:t>
                </a:r>
              </a:p>
              <a:p>
                <a:pPr defTabSz="914400">
                  <a:defRPr>
                    <a:solidFill>
                      <a:srgbClr val="5FB1D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defRPr>
                </a:pPr>
                <a:r>
                  <a:rPr lang="de-DE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Integer aus [4, 7] = {4, 5, 6, 7}.</a:t>
                </a:r>
              </a:p>
              <a:p>
                <a:pPr defTabSz="914400">
                  <a:defRPr>
                    <a:solidFill>
                      <a:srgbClr val="5FB1D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defRPr>
                </a:pPr>
                <a:r>
                  <a:rPr lang="de-DE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Integer aus [3, 6) = {3, 4, 5}.</a:t>
                </a:r>
              </a:p>
              <a:p>
                <a:pPr defTabSz="914400">
                  <a:defRPr>
                    <a:solidFill>
                      <a:srgbClr val="5FB1D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defRPr>
                </a:pPr>
                <a:r>
                  <a:rPr lang="de-DE" dirty="0" err="1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Floats</a:t>
                </a:r>
                <a:r>
                  <a:rPr lang="de-DE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aus [1, 2] = {sehr viele Zahlen, z.B. 1, 2, 1.5, 1.875, 1.25}.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0D2DC9-2013-4C0C-9440-12890C4EB1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b="-18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6048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B0AE9-54DA-43FC-ADBB-5EA72E9A0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Tupel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C648-C724-427A-84CD-2A66F8036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580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393EF-77B7-462B-A621-A22AF4367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Kartesisches Produkt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C55E9-849E-4D2F-9649-E51746348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5364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24D68-0BE0-4520-A10E-C3C76235E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Relationen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FCF70-56C9-4230-90FB-313E3EEAA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816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0E3D-50F4-4362-A5A3-5CD186DB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Binäre Relationen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02AE2-C82F-4EDD-8483-D923DC951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7479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E101-26EF-461B-9DF7-0B9B1EB99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30F3A-EBEA-42A0-A91E-330355B70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0646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C75CD-4445-4A15-B7F6-B39F21B5C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Abbildungen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1C33F-7E13-4458-854B-7C2F4AABE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1755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199F9-3DD9-4E02-AEC5-0533753A5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2F5FA"/>
                </a:solidFill>
              </a:rPr>
              <a:t>Induktion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EE54A-741D-4374-B20B-25EB1C6A6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1259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3C690436-4BA1-4750-BD74-C636468663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8" r="2036"/>
          <a:stretch/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AB5A28A-27E3-430A-A012-B6EE913E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600" y="146050"/>
            <a:ext cx="4762500" cy="1093788"/>
          </a:xfrm>
        </p:spPr>
        <p:txBody>
          <a:bodyPr/>
          <a:lstStyle/>
          <a:p>
            <a:pPr algn="r"/>
            <a:r>
              <a:rPr lang="de-DE" b="1" dirty="0">
                <a:solidFill>
                  <a:schemeClr val="bg1"/>
                </a:solidFill>
              </a:rPr>
              <a:t>Koordinatensysteme</a:t>
            </a:r>
          </a:p>
        </p:txBody>
      </p:sp>
    </p:spTree>
    <p:extLst>
      <p:ext uri="{BB962C8B-B14F-4D97-AF65-F5344CB8AC3E}">
        <p14:creationId xmlns:p14="http://schemas.microsoft.com/office/powerpoint/2010/main" val="2314456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8D266E0-D1B2-4BF4-B792-A0124C1C57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511"/>
          <a:stretch/>
        </p:blipFill>
        <p:spPr>
          <a:xfrm>
            <a:off x="-1" y="0"/>
            <a:ext cx="12195649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4008A494-6719-4027-ABC2-70D8C066B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600" y="146050"/>
            <a:ext cx="4762500" cy="1093788"/>
          </a:xfrm>
        </p:spPr>
        <p:txBody>
          <a:bodyPr/>
          <a:lstStyle/>
          <a:p>
            <a:pPr algn="r"/>
            <a:r>
              <a:rPr lang="de-DE" b="1" dirty="0">
                <a:solidFill>
                  <a:schemeClr val="bg1"/>
                </a:solidFill>
              </a:rPr>
              <a:t>Formen</a:t>
            </a:r>
          </a:p>
        </p:txBody>
      </p:sp>
    </p:spTree>
    <p:extLst>
      <p:ext uri="{BB962C8B-B14F-4D97-AF65-F5344CB8AC3E}">
        <p14:creationId xmlns:p14="http://schemas.microsoft.com/office/powerpoint/2010/main" val="1211913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19B67-DFA2-477E-97D8-803825FC8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Satz des Pythagoras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6734B-E6D0-402E-9297-5943CCB67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7768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2F0F0-238D-4BD6-B0A8-74A8400DC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Winkelrechnung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4C011-6EFE-499A-A593-A78053BEE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5739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02227-213A-4E3B-8E6D-D6B72DDB9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Vektorraum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BE3E3-2222-433D-ADF1-FCF56E5CB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231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E688-45B5-42CD-BF94-A95E30E5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Affiner Raum?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704B1-1910-4767-ACE6-6DD29839A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-&gt; "Vektorfunktion" (A, A) -&gt; V</a:t>
            </a:r>
          </a:p>
          <a:p>
            <a:r>
              <a:rPr lang="de-DE" dirty="0"/>
              <a:t>für alle a, b, c aus A: ab + </a:t>
            </a:r>
            <a:r>
              <a:rPr lang="de-DE" dirty="0" err="1"/>
              <a:t>bc</a:t>
            </a:r>
            <a:r>
              <a:rPr lang="de-DE" dirty="0"/>
              <a:t> = </a:t>
            </a:r>
            <a:r>
              <a:rPr lang="de-DE" dirty="0" err="1"/>
              <a:t>ac</a:t>
            </a:r>
            <a:endParaRPr lang="de-DE" dirty="0"/>
          </a:p>
          <a:p>
            <a:r>
              <a:rPr lang="de-DE" dirty="0"/>
              <a:t>für alle a aus A und v aus V existiert genau ein b aus A mit ab = v</a:t>
            </a:r>
          </a:p>
        </p:txBody>
      </p:sp>
    </p:spTree>
    <p:extLst>
      <p:ext uri="{BB962C8B-B14F-4D97-AF65-F5344CB8AC3E}">
        <p14:creationId xmlns:p14="http://schemas.microsoft.com/office/powerpoint/2010/main" val="276796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3">
      <a:dk1>
        <a:sysClr val="windowText" lastClr="000000"/>
      </a:dk1>
      <a:lt1>
        <a:srgbClr val="F2F5F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513</Words>
  <Application>Microsoft Office PowerPoint</Application>
  <PresentationFormat>Widescreen</PresentationFormat>
  <Paragraphs>56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Consolas</vt:lpstr>
      <vt:lpstr>Office</vt:lpstr>
      <vt:lpstr>Mathematische Grundlagen</vt:lpstr>
      <vt:lpstr>Aufbau aussagenlogischer Formeln</vt:lpstr>
      <vt:lpstr>Aussagenlogische Äquivalenz (≡)</vt:lpstr>
      <vt:lpstr>Mengen</vt:lpstr>
      <vt:lpstr>Intervalle</vt:lpstr>
      <vt:lpstr>Tupel</vt:lpstr>
      <vt:lpstr>Kartesisches Produkt</vt:lpstr>
      <vt:lpstr>Relationen</vt:lpstr>
      <vt:lpstr>Binäre Relationen</vt:lpstr>
      <vt:lpstr>Graphen</vt:lpstr>
      <vt:lpstr>Abbildungen</vt:lpstr>
      <vt:lpstr>Induktion</vt:lpstr>
      <vt:lpstr>Koordinatensysteme</vt:lpstr>
      <vt:lpstr>Formen</vt:lpstr>
      <vt:lpstr>Satz des Pythagoras</vt:lpstr>
      <vt:lpstr>Winkelrechnung</vt:lpstr>
      <vt:lpstr>Vektorraum</vt:lpstr>
      <vt:lpstr>Affiner Raum?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2025-03-17T21:21:38Z</dcterms:created>
  <dcterms:modified xsi:type="dcterms:W3CDTF">2025-11-14T19:15:29Z</dcterms:modified>
</cp:coreProperties>
</file>