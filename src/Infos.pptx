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60" r:id="rId1"/>
  </p:sldMasterIdLst>
  <p:sldIdLst>
    <p:sldId id="318" r:id="rId2"/>
    <p:sldId id="320" r:id="rId3"/>
    <p:sldId id="321" r:id="rId4"/>
    <p:sldId id="324" r:id="rId5"/>
    <p:sldId id="322" r:id="rId6"/>
    <p:sldId id="325" r:id="rId7"/>
  </p:sldIdLst>
  <p:sldSz cx="12192000" cy="6858000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FF"/>
    <a:srgbClr val="F27D82"/>
    <a:srgbClr val="000000"/>
    <a:srgbClr val="0000FF"/>
    <a:srgbClr val="FF0000"/>
    <a:srgbClr val="00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996" autoAdjust="0"/>
    <p:restoredTop sz="97484" autoAdjust="0"/>
  </p:normalViewPr>
  <p:slideViewPr>
    <p:cSldViewPr snapToGrid="0">
      <p:cViewPr>
        <p:scale>
          <a:sx n="150" d="100"/>
          <a:sy n="150" d="100"/>
        </p:scale>
        <p:origin x="248" y="32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74B683-5B55-47E9-B45C-EB67E1285507}" type="datetimeFigureOut">
              <a:rPr lang="de-DE" smtClean="0"/>
              <a:t>20.02.2026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23112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74B683-5B55-47E9-B45C-EB67E1285507}" type="datetimeFigureOut">
              <a:rPr lang="de-DE" smtClean="0"/>
              <a:t>20.02.2026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808819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74B683-5B55-47E9-B45C-EB67E1285507}" type="datetimeFigureOut">
              <a:rPr lang="de-DE" smtClean="0"/>
              <a:t>20.02.2026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42458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74B683-5B55-47E9-B45C-EB67E1285507}" type="datetimeFigureOut">
              <a:rPr lang="de-DE" smtClean="0"/>
              <a:t>20.02.2026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952116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74B683-5B55-47E9-B45C-EB67E1285507}" type="datetimeFigureOut">
              <a:rPr lang="de-DE" smtClean="0"/>
              <a:t>20.02.2026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160050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74B683-5B55-47E9-B45C-EB67E1285507}" type="datetimeFigureOut">
              <a:rPr lang="de-DE" smtClean="0"/>
              <a:t>20.02.2026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846502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74B683-5B55-47E9-B45C-EB67E1285507}" type="datetimeFigureOut">
              <a:rPr lang="de-DE" smtClean="0"/>
              <a:t>20.02.2026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98812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74B683-5B55-47E9-B45C-EB67E1285507}" type="datetimeFigureOut">
              <a:rPr lang="de-DE" smtClean="0"/>
              <a:t>20.02.2026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519802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74B683-5B55-47E9-B45C-EB67E1285507}" type="datetimeFigureOut">
              <a:rPr lang="de-DE" smtClean="0"/>
              <a:t>20.02.2026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857817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74B683-5B55-47E9-B45C-EB67E1285507}" type="datetimeFigureOut">
              <a:rPr lang="de-DE" smtClean="0"/>
              <a:t>20.02.2026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44967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74B683-5B55-47E9-B45C-EB67E1285507}" type="datetimeFigureOut">
              <a:rPr lang="de-DE" smtClean="0"/>
              <a:t>20.02.2026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876364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74B683-5B55-47E9-B45C-EB67E1285507}" type="datetimeFigureOut">
              <a:rPr lang="de-DE" smtClean="0"/>
              <a:t>20.02.2026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5757472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hyperlink" Target="https://www.junioruni-essen.de/" TargetMode="External"/><Relationship Id="rId7" Type="http://schemas.openxmlformats.org/officeDocument/2006/relationships/hyperlink" Target="https://github.com/Cactusroot/Java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itch.io/jams" TargetMode="External"/><Relationship Id="rId2" Type="http://schemas.openxmlformats.org/officeDocument/2006/relationships/hyperlink" Target="https://www.uni-due.de/abz/studieninteressierte/fruehstudium.php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8C29F4-26F0-4BE9-9465-D317D167A0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257800" cy="1325563"/>
          </a:xfrm>
          <a:solidFill>
            <a:srgbClr val="000000">
              <a:alpha val="25000"/>
            </a:srgbClr>
          </a:solidFill>
        </p:spPr>
        <p:txBody>
          <a:bodyPr/>
          <a:lstStyle/>
          <a:p>
            <a:r>
              <a:rPr lang="de-DE" dirty="0"/>
              <a:t>Organisatorisches</a:t>
            </a:r>
          </a:p>
        </p:txBody>
      </p:sp>
      <p:pic>
        <p:nvPicPr>
          <p:cNvPr id="5" name="Picture 4">
            <a:hlinkClick r:id="rId3"/>
            <a:extLst>
              <a:ext uri="{FF2B5EF4-FFF2-40B4-BE49-F238E27FC236}">
                <a16:creationId xmlns:a16="http://schemas.microsoft.com/office/drawing/2014/main" id="{5542AF0F-1003-4042-BF06-D3F6158FA16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8000" y="0"/>
            <a:ext cx="1524000" cy="1524000"/>
          </a:xfrm>
          <a:prstGeom prst="rect">
            <a:avLst/>
          </a:prstGeom>
        </p:spPr>
      </p:pic>
      <p:pic>
        <p:nvPicPr>
          <p:cNvPr id="9" name="Content Placeholder 8" descr="Laptop with solid fill">
            <a:extLst>
              <a:ext uri="{FF2B5EF4-FFF2-40B4-BE49-F238E27FC236}">
                <a16:creationId xmlns:a16="http://schemas.microsoft.com/office/drawing/2014/main" id="{0B0E6039-616C-4238-8E66-FD486931A0F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896600" y="5578475"/>
            <a:ext cx="914400" cy="914400"/>
          </a:xfrm>
        </p:spPr>
      </p:pic>
      <p:pic>
        <p:nvPicPr>
          <p:cNvPr id="4" name="Picture 3">
            <a:hlinkClick r:id="rId7"/>
            <a:extLst>
              <a:ext uri="{FF2B5EF4-FFF2-40B4-BE49-F238E27FC236}">
                <a16:creationId xmlns:a16="http://schemas.microsoft.com/office/drawing/2014/main" id="{D6A60518-66E6-4120-9201-2F78A0C6B0C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557847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93677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D0B76D-BC5E-4B07-ACC0-A7E2DF606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de-DE" altLang="de-DE" sz="4400" b="0" i="0" u="none" strike="noStrike" cap="none" normalizeH="0" baseline="0" dirty="0">
                <a:ln>
                  <a:noFill/>
                </a:ln>
                <a:effectLst/>
                <a:latin typeface="Nunito" pitchFamily="2" charset="0"/>
                <a:ea typeface="Times New Roman" panose="02020603050405020304" pitchFamily="18" charset="0"/>
                <a:cs typeface="Times New Roman" panose="02020603050405020304" pitchFamily="18" charset="0"/>
              </a:rPr>
              <a:t>Kursstart</a:t>
            </a:r>
            <a:endParaRPr lang="de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29B966-6D1E-4B7D-9C37-B4227451FA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  <a:latin typeface="IBM Plex Sans" panose="020B050305020300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Hallo!</a:t>
            </a:r>
            <a:endParaRPr kumimoji="0" lang="de-DE" altLang="de-DE" sz="1800" b="0" i="0" u="none" strike="noStrike" cap="none" normalizeH="0" baseline="0" dirty="0">
              <a:ln>
                <a:noFill/>
              </a:ln>
              <a:effectLst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  <a:latin typeface="IBM Plex Sans" panose="020B050305020300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Am 22.02.2025 beginnt der Programmierkurs an der Junior Uni.</a:t>
            </a:r>
            <a:endParaRPr lang="de-DE" altLang="de-DE" sz="18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  <a:latin typeface="IBM Plex Sans" panose="020B050305020300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Standort: Gesundheitspark Altenessen (ehem. Marienhospital)</a:t>
            </a:r>
            <a:b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  <a:latin typeface="IBM Plex Sans" panose="020B050305020300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  <a:latin typeface="IBM Plex Sans" panose="020B050305020300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Hospitalstraße 24</a:t>
            </a:r>
            <a:b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  <a:latin typeface="IBM Plex Sans" panose="020B050305020300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  <a:latin typeface="IBM Plex Sans" panose="020B050305020300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45329 Essen</a:t>
            </a:r>
            <a:endParaRPr lang="de-DE" altLang="de-DE" sz="18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  <a:latin typeface="IBM Plex Sans" panose="020B050305020300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Es wäre super, wenn du zu allen Terminen kommst, da die Inhalte aufeinander aufbauen.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de-DE" altLang="de-DE" sz="1800" dirty="0">
                <a:latin typeface="IBM Plex Sans" panose="020B050305020300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Du bekommst 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  <a:latin typeface="IBM Plex Sans" panose="020B050305020300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für die Dauer des Kurses einen leistungsstarken Laptop zusammen mit einem Netzteil und einer Tasche bereitgestellt, den du für die Entwicklung des Spiels verwendest. Bring dazu bitte den </a:t>
            </a:r>
            <a:r>
              <a:rPr kumimoji="0" lang="de-DE" altLang="de-DE" sz="1800" b="1" i="0" u="none" strike="noStrike" cap="none" normalizeH="0" baseline="0" dirty="0">
                <a:ln>
                  <a:noFill/>
                </a:ln>
                <a:effectLst/>
                <a:latin typeface="IBM Plex Sans" panose="020B050305020300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Leihvertrag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  <a:latin typeface="IBM Plex Sans" panose="020B050305020300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zum ersten Kurstermin ausgefüllt und unterschrieben mit.</a:t>
            </a:r>
            <a:endParaRPr lang="de-DE" altLang="de-DE" sz="18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  <a:latin typeface="IBM Plex Sans" panose="020B050305020300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Du kannst das Spiel direkt auf einem Android-Handy testen! </a:t>
            </a:r>
            <a:b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  <a:latin typeface="IBM Plex Sans" panose="020B050305020300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  <a:latin typeface="IBM Plex Sans" panose="020B050305020300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Nimm dein </a:t>
            </a:r>
            <a:r>
              <a:rPr kumimoji="0" lang="de-DE" altLang="de-DE" sz="1800" b="1" i="0" u="none" strike="noStrike" cap="none" normalizeH="0" baseline="0" dirty="0">
                <a:ln>
                  <a:noFill/>
                </a:ln>
                <a:effectLst/>
                <a:latin typeface="IBM Plex Sans" panose="020B050305020300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Handy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  <a:latin typeface="IBM Plex Sans" panose="020B050305020300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zusammen mit einem </a:t>
            </a:r>
            <a:r>
              <a:rPr kumimoji="0" lang="de-DE" altLang="de-DE" sz="1800" b="1" i="0" u="none" strike="noStrike" cap="none" normalizeH="0" baseline="0" dirty="0">
                <a:ln>
                  <a:noFill/>
                </a:ln>
                <a:effectLst/>
                <a:latin typeface="IBM Plex Sans" panose="020B050305020300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USB-C-Kabel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  <a:latin typeface="IBM Plex Sans" panose="020B050305020300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mit.</a:t>
            </a:r>
            <a:b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  <a:latin typeface="IBM Plex Sans" panose="020B050305020300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kumimoji="0" lang="de-DE" altLang="de-DE" sz="1800" b="1" i="0" u="none" strike="noStrike" cap="none" normalizeH="0" baseline="0" dirty="0">
                <a:ln>
                  <a:noFill/>
                </a:ln>
                <a:solidFill>
                  <a:srgbClr val="F27D82"/>
                </a:solidFill>
                <a:effectLst/>
                <a:latin typeface="IBM Plex Sans" panose="020B050305020300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Auf dem Handy darf kein Family Link installiert sein.</a:t>
            </a:r>
            <a:b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  <a:latin typeface="IBM Plex Sans" panose="020B050305020300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  <a:latin typeface="IBM Plex Sans" panose="020B050305020300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Wir können das Spiel aufgrund der Restriktionen des Apple-Ökosystems leider nicht auf iOS installieren.</a:t>
            </a:r>
            <a:endParaRPr kumimoji="0" lang="de-DE" altLang="de-DE" sz="1800" b="0" i="0" u="none" strike="noStrike" cap="none" normalizeH="0" baseline="0" dirty="0">
              <a:ln>
                <a:noFill/>
              </a:ln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  <a:latin typeface="IBM Plex Sans" panose="020B050305020300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Wir freuen uns auf euch!</a:t>
            </a:r>
            <a:endParaRPr kumimoji="0" lang="de-DE" altLang="de-DE" sz="1800" b="0" i="0" u="none" strike="noStrike" cap="none" normalizeH="0" baseline="0" dirty="0">
              <a:ln>
                <a:noFill/>
              </a:ln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  <a:latin typeface="IBM Plex Sans" panose="020B050305020300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Lion und Lasse</a:t>
            </a:r>
            <a:endParaRPr kumimoji="0" lang="de-DE" altLang="de-DE" sz="1800" b="0" i="0" u="none" strike="noStrike" cap="none" normalizeH="0" baseline="0" dirty="0">
              <a:ln>
                <a:noFill/>
              </a:ln>
              <a:effectLst/>
              <a:latin typeface="IBM Plex Sans" panose="020B0503050203000203" pitchFamily="34" charset="0"/>
            </a:endParaRPr>
          </a:p>
        </p:txBody>
      </p:sp>
      <p:pic>
        <p:nvPicPr>
          <p:cNvPr id="4" name="Grafik 2">
            <a:extLst>
              <a:ext uri="{FF2B5EF4-FFF2-40B4-BE49-F238E27FC236}">
                <a16:creationId xmlns:a16="http://schemas.microsoft.com/office/drawing/2014/main" id="{4E13E666-F493-4FA2-8C13-DB671F8799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828" t="26936" b="33696"/>
          <a:stretch>
            <a:fillRect/>
          </a:stretch>
        </p:blipFill>
        <p:spPr bwMode="auto">
          <a:xfrm>
            <a:off x="10545762" y="3672151"/>
            <a:ext cx="1646238" cy="850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31183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63D464-E8A6-4F16-B231-80688280C1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Family Link Restriktionen umgehen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86047F-D17B-45AD-9B67-5524A12FF6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7893735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FDF813-EE93-425A-B044-6AAE2FADF9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Informationen recherchieren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ACB7ED-8D0E-4ED2-A0C2-4FA896016D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DE" dirty="0"/>
              <a:t>Dokumentation</a:t>
            </a:r>
          </a:p>
          <a:p>
            <a:r>
              <a:rPr lang="de-DE" dirty="0" err="1"/>
              <a:t>StackOverflow</a:t>
            </a:r>
            <a:endParaRPr lang="de-DE" dirty="0"/>
          </a:p>
          <a:p>
            <a:r>
              <a:rPr lang="de-DE" dirty="0" err="1"/>
              <a:t>ChatGPT</a:t>
            </a:r>
            <a:endParaRPr lang="de-DE" dirty="0"/>
          </a:p>
          <a:p>
            <a:pPr lvl="1">
              <a:buFont typeface="Wingdings" panose="05000000000000000000" pitchFamily="2" charset="2"/>
              <a:buChar char="ü"/>
            </a:pPr>
            <a:r>
              <a:rPr lang="de-DE" dirty="0"/>
              <a:t>Code erklären lassen („Was bedeuten die Parameter dieser Methode?“)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de-DE" dirty="0"/>
              <a:t>Syntax und </a:t>
            </a:r>
            <a:r>
              <a:rPr lang="de-DE" dirty="0">
                <a:solidFill>
                  <a:srgbClr val="FFCCFF"/>
                </a:solidFill>
              </a:rPr>
              <a:t>APIs</a:t>
            </a:r>
            <a:r>
              <a:rPr lang="de-DE" dirty="0"/>
              <a:t> verstehen („Wie spiele ich in </a:t>
            </a:r>
            <a:r>
              <a:rPr lang="de-DE" dirty="0" err="1"/>
              <a:t>libGDX</a:t>
            </a:r>
            <a:r>
              <a:rPr lang="de-DE" dirty="0"/>
              <a:t> Sounds ab?“)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de-DE" dirty="0"/>
              <a:t>Code verbessern („Wie kann ich diese Spiellogik eleganter programmieren?“)</a:t>
            </a:r>
          </a:p>
          <a:p>
            <a:pPr lvl="2"/>
            <a:r>
              <a:rPr lang="de-DE" dirty="0"/>
              <a:t>Umstrukturierung ohne semantische Änderung nennt man auch </a:t>
            </a:r>
            <a:r>
              <a:rPr lang="de-DE" dirty="0" err="1">
                <a:solidFill>
                  <a:srgbClr val="FFCCFF"/>
                </a:solidFill>
              </a:rPr>
              <a:t>Refactoring</a:t>
            </a:r>
            <a:r>
              <a:rPr lang="de-DE" dirty="0"/>
              <a:t>.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de-DE" dirty="0"/>
              <a:t>Bugs finden („Wieso kann man die Spielfigur nicht sehen?“)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de-DE" dirty="0"/>
              <a:t>Code schreiben lassen, ohne diesen nachzuvollziehen</a:t>
            </a:r>
          </a:p>
        </p:txBody>
      </p:sp>
    </p:spTree>
    <p:extLst>
      <p:ext uri="{BB962C8B-B14F-4D97-AF65-F5344CB8AC3E}">
        <p14:creationId xmlns:p14="http://schemas.microsoft.com/office/powerpoint/2010/main" val="10954416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2E89BC-A7E5-4160-B7AC-C37B5B5B62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Ablauf Sommersemester 2025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0F764F4F-A0F2-4F8D-B731-509381F16F8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10785110"/>
              </p:ext>
            </p:extLst>
          </p:nvPr>
        </p:nvGraphicFramePr>
        <p:xfrm>
          <a:off x="838204" y="1432560"/>
          <a:ext cx="10515596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6851">
                  <a:extLst>
                    <a:ext uri="{9D8B030D-6E8A-4147-A177-3AD203B41FA5}">
                      <a16:colId xmlns:a16="http://schemas.microsoft.com/office/drawing/2014/main" val="3675322223"/>
                    </a:ext>
                  </a:extLst>
                </a:gridCol>
                <a:gridCol w="1725361">
                  <a:extLst>
                    <a:ext uri="{9D8B030D-6E8A-4147-A177-3AD203B41FA5}">
                      <a16:colId xmlns:a16="http://schemas.microsoft.com/office/drawing/2014/main" val="829809223"/>
                    </a:ext>
                  </a:extLst>
                </a:gridCol>
                <a:gridCol w="1141966">
                  <a:extLst>
                    <a:ext uri="{9D8B030D-6E8A-4147-A177-3AD203B41FA5}">
                      <a16:colId xmlns:a16="http://schemas.microsoft.com/office/drawing/2014/main" val="3562242639"/>
                    </a:ext>
                  </a:extLst>
                </a:gridCol>
                <a:gridCol w="7191418">
                  <a:extLst>
                    <a:ext uri="{9D8B030D-6E8A-4147-A177-3AD203B41FA5}">
                      <a16:colId xmlns:a16="http://schemas.microsoft.com/office/drawing/2014/main" val="1629099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e-D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Datum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Uhrzeit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Inhalt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39973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Freitag, 20.2.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17 – 20 ?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IDE, Befehle</a:t>
                      </a:r>
                      <a:r>
                        <a:rPr lang="de-DE">
                          <a:solidFill>
                            <a:schemeClr val="tx1"/>
                          </a:solidFill>
                        </a:rPr>
                        <a:t>, Aussagenlogik, Variablen</a:t>
                      </a:r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, Datentypen und Operationen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91051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Samstag, 21.2.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10 – 14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Mengen und Abbildungen, Klassen und Methoden, Kontrollfluss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72326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Freitag, 27.2.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17 – 20 ?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Induktion und Rekursion, Datenstrukturen und Algorithmen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805411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Samstag, 28.2.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10 – 14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Paradigmen, </a:t>
                      </a:r>
                      <a:r>
                        <a:rPr lang="de-DE" dirty="0" err="1">
                          <a:solidFill>
                            <a:schemeClr val="tx1"/>
                          </a:solidFill>
                        </a:rPr>
                        <a:t>Generics</a:t>
                      </a:r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, Modellierung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35072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Freitag, 6.3.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17 – 20 ?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Koordinatensysteme, Vektorrechnung, Eingabe/Ausgabe, Rendering (alles 2D)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301085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Samstag, 7.3.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10 – 14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Implementation eines erweiterbaren Open World Spiels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44012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Freitag, 13.3.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17 – 20 ?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4"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Entwurf eines Entwicklungsplans</a:t>
                      </a:r>
                    </a:p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Wahl aus Kooperation, Sounds &amp; Musik, Text, UI, Android-Support, Partikel &amp; Animationen, Shader, Datenspeicherung, Metaprogression, Multiplayer, Sensoren, Physik und Kollisionen, prozedurale Generation, komplexere Spielmechaniken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46507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Samstag, 14.3.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10 – 14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de-D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77459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9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Freitag, 20.3.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17 – 20 ?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de-D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33364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Samstag, 21.3.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10 – 14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de-D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04930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38372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9C3770-C93B-4913-BE59-CF700A30DA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Weitere Vertiefungsmöglichkeiten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CAA8F3-6B2A-4286-98FA-7400AFE723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>
                <a:hlinkClick r:id="rId2"/>
              </a:rPr>
              <a:t>Frühstudium</a:t>
            </a:r>
            <a:endParaRPr lang="de-DE" dirty="0"/>
          </a:p>
          <a:p>
            <a:r>
              <a:rPr lang="de-DE" dirty="0"/>
              <a:t>Spieleentwicklung mit Game </a:t>
            </a:r>
            <a:r>
              <a:rPr lang="de-DE" dirty="0" err="1"/>
              <a:t>Engines</a:t>
            </a:r>
            <a:endParaRPr lang="de-DE" dirty="0">
              <a:hlinkClick r:id="rId3"/>
            </a:endParaRPr>
          </a:p>
          <a:p>
            <a:r>
              <a:rPr lang="de-DE" dirty="0">
                <a:hlinkClick r:id="rId3"/>
              </a:rPr>
              <a:t>Game Jams</a:t>
            </a:r>
            <a:endParaRPr lang="de-DE" dirty="0"/>
          </a:p>
          <a:p>
            <a:r>
              <a:rPr lang="de-DE" dirty="0" err="1"/>
              <a:t>Modding</a:t>
            </a:r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572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Custom 4">
      <a:dk1>
        <a:sysClr val="windowText" lastClr="000000"/>
      </a:dk1>
      <a:lt1>
        <a:srgbClr val="F2F5FA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heme Font">
      <a:majorFont>
        <a:latin typeface="Nunito"/>
        <a:ea typeface=""/>
        <a:cs typeface=""/>
      </a:majorFont>
      <a:minorFont>
        <a:latin typeface="IBM Plex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F46216B-77A9-411A-B9D3-5023FCB7020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0</TotalTime>
  <Words>407</Words>
  <Application>Microsoft Office PowerPoint</Application>
  <PresentationFormat>Widescreen</PresentationFormat>
  <Paragraphs>69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Arial</vt:lpstr>
      <vt:lpstr>IBM Plex Sans</vt:lpstr>
      <vt:lpstr>Nunito</vt:lpstr>
      <vt:lpstr>Symbol</vt:lpstr>
      <vt:lpstr>Wingdings</vt:lpstr>
      <vt:lpstr>Office</vt:lpstr>
      <vt:lpstr>Organisatorisches</vt:lpstr>
      <vt:lpstr>Kursstart</vt:lpstr>
      <vt:lpstr>Family Link Restriktionen umgehen</vt:lpstr>
      <vt:lpstr>Informationen recherchieren</vt:lpstr>
      <vt:lpstr>Ablauf Sommersemester 2025</vt:lpstr>
      <vt:lpstr>Weitere Vertiefungsmöglichkeiten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cp:lastModifiedBy/>
  <cp:revision>1</cp:revision>
  <dcterms:created xsi:type="dcterms:W3CDTF">2025-03-17T21:24:38Z</dcterms:created>
  <dcterms:modified xsi:type="dcterms:W3CDTF">2026-02-20T19:45:30Z</dcterms:modified>
</cp:coreProperties>
</file>