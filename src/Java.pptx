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Lst>
  <p:notesMasterIdLst>
    <p:notesMasterId r:id="rId105"/>
  </p:notesMasterIdLst>
  <p:handoutMasterIdLst>
    <p:handoutMasterId r:id="rId106"/>
  </p:handoutMasterIdLst>
  <p:sldIdLst>
    <p:sldId id="422" r:id="rId2"/>
    <p:sldId id="257" r:id="rId3"/>
    <p:sldId id="410" r:id="rId4"/>
    <p:sldId id="451" r:id="rId5"/>
    <p:sldId id="411" r:id="rId6"/>
    <p:sldId id="313" r:id="rId7"/>
    <p:sldId id="459" r:id="rId8"/>
    <p:sldId id="260" r:id="rId9"/>
    <p:sldId id="259" r:id="rId10"/>
    <p:sldId id="337" r:id="rId11"/>
    <p:sldId id="414" r:id="rId12"/>
    <p:sldId id="420" r:id="rId13"/>
    <p:sldId id="442" r:id="rId14"/>
    <p:sldId id="262" r:id="rId15"/>
    <p:sldId id="261" r:id="rId16"/>
    <p:sldId id="258" r:id="rId17"/>
    <p:sldId id="438" r:id="rId18"/>
    <p:sldId id="443" r:id="rId19"/>
    <p:sldId id="428" r:id="rId20"/>
    <p:sldId id="339" r:id="rId21"/>
    <p:sldId id="291" r:id="rId22"/>
    <p:sldId id="413" r:id="rId23"/>
    <p:sldId id="328" r:id="rId24"/>
    <p:sldId id="275" r:id="rId25"/>
    <p:sldId id="336" r:id="rId26"/>
    <p:sldId id="417" r:id="rId27"/>
    <p:sldId id="334" r:id="rId28"/>
    <p:sldId id="335" r:id="rId29"/>
    <p:sldId id="341" r:id="rId30"/>
    <p:sldId id="302" r:id="rId31"/>
    <p:sldId id="427" r:id="rId32"/>
    <p:sldId id="445" r:id="rId33"/>
    <p:sldId id="310" r:id="rId34"/>
    <p:sldId id="298" r:id="rId35"/>
    <p:sldId id="358" r:id="rId36"/>
    <p:sldId id="375" r:id="rId37"/>
    <p:sldId id="439" r:id="rId38"/>
    <p:sldId id="452" r:id="rId39"/>
    <p:sldId id="419" r:id="rId40"/>
    <p:sldId id="356" r:id="rId41"/>
    <p:sldId id="460" r:id="rId42"/>
    <p:sldId id="444" r:id="rId43"/>
    <p:sldId id="319" r:id="rId44"/>
    <p:sldId id="320" r:id="rId45"/>
    <p:sldId id="321" r:id="rId46"/>
    <p:sldId id="263" r:id="rId47"/>
    <p:sldId id="406" r:id="rId48"/>
    <p:sldId id="450" r:id="rId49"/>
    <p:sldId id="264" r:id="rId50"/>
    <p:sldId id="415" r:id="rId51"/>
    <p:sldId id="340" r:id="rId52"/>
    <p:sldId id="282" r:id="rId53"/>
    <p:sldId id="270" r:id="rId54"/>
    <p:sldId id="405" r:id="rId55"/>
    <p:sldId id="404" r:id="rId56"/>
    <p:sldId id="381" r:id="rId57"/>
    <p:sldId id="435" r:id="rId58"/>
    <p:sldId id="384" r:id="rId59"/>
    <p:sldId id="403" r:id="rId60"/>
    <p:sldId id="374" r:id="rId61"/>
    <p:sldId id="266" r:id="rId62"/>
    <p:sldId id="416" r:id="rId63"/>
    <p:sldId id="397" r:id="rId64"/>
    <p:sldId id="436" r:id="rId65"/>
    <p:sldId id="437" r:id="rId66"/>
    <p:sldId id="329" r:id="rId67"/>
    <p:sldId id="409" r:id="rId68"/>
    <p:sldId id="407" r:id="rId69"/>
    <p:sldId id="455" r:id="rId70"/>
    <p:sldId id="408" r:id="rId71"/>
    <p:sldId id="432" r:id="rId72"/>
    <p:sldId id="446" r:id="rId73"/>
    <p:sldId id="349" r:id="rId74"/>
    <p:sldId id="363" r:id="rId75"/>
    <p:sldId id="355" r:id="rId76"/>
    <p:sldId id="357" r:id="rId77"/>
    <p:sldId id="426" r:id="rId78"/>
    <p:sldId id="399" r:id="rId79"/>
    <p:sldId id="376" r:id="rId80"/>
    <p:sldId id="423" r:id="rId81"/>
    <p:sldId id="402" r:id="rId82"/>
    <p:sldId id="424" r:id="rId83"/>
    <p:sldId id="370" r:id="rId84"/>
    <p:sldId id="377" r:id="rId85"/>
    <p:sldId id="448" r:id="rId86"/>
    <p:sldId id="359" r:id="rId87"/>
    <p:sldId id="368" r:id="rId88"/>
    <p:sldId id="369" r:id="rId89"/>
    <p:sldId id="365" r:id="rId90"/>
    <p:sldId id="366" r:id="rId91"/>
    <p:sldId id="367" r:id="rId92"/>
    <p:sldId id="433" r:id="rId93"/>
    <p:sldId id="447" r:id="rId94"/>
    <p:sldId id="425" r:id="rId95"/>
    <p:sldId id="441" r:id="rId96"/>
    <p:sldId id="454" r:id="rId97"/>
    <p:sldId id="401" r:id="rId98"/>
    <p:sldId id="458" r:id="rId99"/>
    <p:sldId id="457" r:id="rId100"/>
    <p:sldId id="453" r:id="rId101"/>
    <p:sldId id="449" r:id="rId102"/>
    <p:sldId id="456" r:id="rId103"/>
    <p:sldId id="434" r:id="rId10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rundlagen" id="{F65EFCFE-5B87-41BB-93C4-31B23B4488F8}">
          <p14:sldIdLst>
            <p14:sldId id="422"/>
            <p14:sldId id="257"/>
            <p14:sldId id="410"/>
            <p14:sldId id="451"/>
            <p14:sldId id="411"/>
            <p14:sldId id="313"/>
            <p14:sldId id="459"/>
            <p14:sldId id="260"/>
            <p14:sldId id="259"/>
            <p14:sldId id="337"/>
            <p14:sldId id="414"/>
            <p14:sldId id="420"/>
            <p14:sldId id="442"/>
            <p14:sldId id="262"/>
            <p14:sldId id="261"/>
            <p14:sldId id="258"/>
            <p14:sldId id="438"/>
            <p14:sldId id="443"/>
            <p14:sldId id="428"/>
            <p14:sldId id="339"/>
            <p14:sldId id="291"/>
            <p14:sldId id="413"/>
            <p14:sldId id="328"/>
            <p14:sldId id="275"/>
            <p14:sldId id="336"/>
            <p14:sldId id="417"/>
            <p14:sldId id="334"/>
            <p14:sldId id="335"/>
            <p14:sldId id="341"/>
            <p14:sldId id="302"/>
            <p14:sldId id="427"/>
            <p14:sldId id="445"/>
            <p14:sldId id="310"/>
            <p14:sldId id="298"/>
            <p14:sldId id="358"/>
            <p14:sldId id="375"/>
            <p14:sldId id="439"/>
            <p14:sldId id="452"/>
            <p14:sldId id="419"/>
            <p14:sldId id="356"/>
            <p14:sldId id="460"/>
            <p14:sldId id="444"/>
            <p14:sldId id="319"/>
            <p14:sldId id="320"/>
            <p14:sldId id="321"/>
            <p14:sldId id="263"/>
            <p14:sldId id="406"/>
            <p14:sldId id="450"/>
            <p14:sldId id="264"/>
            <p14:sldId id="415"/>
            <p14:sldId id="340"/>
            <p14:sldId id="282"/>
            <p14:sldId id="270"/>
            <p14:sldId id="405"/>
            <p14:sldId id="404"/>
            <p14:sldId id="381"/>
            <p14:sldId id="435"/>
            <p14:sldId id="384"/>
            <p14:sldId id="403"/>
            <p14:sldId id="374"/>
            <p14:sldId id="266"/>
            <p14:sldId id="416"/>
            <p14:sldId id="397"/>
            <p14:sldId id="436"/>
            <p14:sldId id="437"/>
            <p14:sldId id="329"/>
            <p14:sldId id="409"/>
            <p14:sldId id="407"/>
            <p14:sldId id="455"/>
            <p14:sldId id="408"/>
            <p14:sldId id="432"/>
            <p14:sldId id="446"/>
            <p14:sldId id="349"/>
            <p14:sldId id="363"/>
            <p14:sldId id="355"/>
            <p14:sldId id="357"/>
            <p14:sldId id="426"/>
            <p14:sldId id="399"/>
            <p14:sldId id="376"/>
            <p14:sldId id="423"/>
            <p14:sldId id="402"/>
            <p14:sldId id="424"/>
            <p14:sldId id="370"/>
            <p14:sldId id="377"/>
            <p14:sldId id="448"/>
            <p14:sldId id="359"/>
            <p14:sldId id="368"/>
            <p14:sldId id="369"/>
            <p14:sldId id="365"/>
            <p14:sldId id="366"/>
            <p14:sldId id="367"/>
            <p14:sldId id="433"/>
            <p14:sldId id="447"/>
            <p14:sldId id="425"/>
            <p14:sldId id="441"/>
            <p14:sldId id="454"/>
            <p14:sldId id="401"/>
            <p14:sldId id="458"/>
          </p14:sldIdLst>
        </p14:section>
        <p14:section name="Sonstiges" id="{32724570-9858-4B44-BC55-7A569F411469}">
          <p14:sldIdLst>
            <p14:sldId id="457"/>
            <p14:sldId id="453"/>
            <p14:sldId id="449"/>
            <p14:sldId id="456"/>
            <p14:sldId id="43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2F5FA"/>
    <a:srgbClr val="FFCCFF"/>
    <a:srgbClr val="808080"/>
    <a:srgbClr val="2F528F"/>
    <a:srgbClr val="5FB1DA"/>
    <a:srgbClr val="E6E6E6"/>
    <a:srgbClr val="000000"/>
    <a:srgbClr val="E5EEFF"/>
    <a:srgbClr val="E5F6FF"/>
    <a:srgbClr val="EEF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32" autoAdjust="0"/>
    <p:restoredTop sz="96499" autoAdjust="0"/>
  </p:normalViewPr>
  <p:slideViewPr>
    <p:cSldViewPr snapToGrid="0">
      <p:cViewPr varScale="1">
        <p:scale>
          <a:sx n="158" d="100"/>
          <a:sy n="158" d="100"/>
        </p:scale>
        <p:origin x="120" y="76"/>
      </p:cViewPr>
      <p:guideLst/>
    </p:cSldViewPr>
  </p:slideViewPr>
  <p:outlineViewPr>
    <p:cViewPr>
      <p:scale>
        <a:sx n="33" d="100"/>
        <a:sy n="33" d="100"/>
      </p:scale>
      <p:origin x="0" y="-1746"/>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125" d="100"/>
          <a:sy n="125" d="100"/>
        </p:scale>
        <p:origin x="4928" y="6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commentAuthors" Target="commentAuthor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viewProps" Target="view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91097DD-3C2B-48D3-8E05-046141EAF297}"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de-DE"/>
        </a:p>
      </dgm:t>
    </dgm:pt>
    <dgm:pt modelId="{7E3C2DB0-993B-40DB-ADBC-0F872BF4F03A}">
      <dgm:prSet phldrT="[Text]"/>
      <dgm:spPr/>
      <dgm:t>
        <a:bodyPr/>
        <a:lstStyle/>
        <a:p>
          <a:r>
            <a:rPr lang="de-DE" dirty="0"/>
            <a:t>fragen</a:t>
          </a:r>
        </a:p>
      </dgm:t>
    </dgm:pt>
    <dgm:pt modelId="{C810A86C-24F8-406E-BEAD-373D95751CDF}" type="parTrans" cxnId="{0946A9C4-A663-400F-8718-2A4E8A01B93D}">
      <dgm:prSet/>
      <dgm:spPr/>
      <dgm:t>
        <a:bodyPr/>
        <a:lstStyle/>
        <a:p>
          <a:endParaRPr lang="de-DE"/>
        </a:p>
      </dgm:t>
    </dgm:pt>
    <dgm:pt modelId="{35EBE8A9-E4D5-48CB-8933-1F9F0D039EF7}" type="sibTrans" cxnId="{0946A9C4-A663-400F-8718-2A4E8A01B93D}">
      <dgm:prSet/>
      <dgm:spPr/>
      <dgm:t>
        <a:bodyPr/>
        <a:lstStyle/>
        <a:p>
          <a:endParaRPr lang="de-DE"/>
        </a:p>
      </dgm:t>
    </dgm:pt>
    <dgm:pt modelId="{3BEBF0A7-EA70-4F97-B542-28CE0D530506}">
      <dgm:prSet phldrT="[Text]"/>
      <dgm:spPr/>
      <dgm:t>
        <a:bodyPr/>
        <a:lstStyle/>
        <a:p>
          <a:r>
            <a:rPr lang="de-DE" dirty="0" err="1"/>
            <a:t>System.out.println</a:t>
          </a:r>
          <a:endParaRPr lang="de-DE" dirty="0"/>
        </a:p>
      </dgm:t>
    </dgm:pt>
    <dgm:pt modelId="{845A1A8E-0D00-4988-B4F4-7FAC19059893}" type="parTrans" cxnId="{27F16941-8351-4A52-8767-F7CC56066C29}">
      <dgm:prSet/>
      <dgm:spPr/>
      <dgm:t>
        <a:bodyPr/>
        <a:lstStyle/>
        <a:p>
          <a:endParaRPr lang="de-DE"/>
        </a:p>
      </dgm:t>
    </dgm:pt>
    <dgm:pt modelId="{B1EBB834-FE60-4018-9583-A67D1F795850}" type="sibTrans" cxnId="{27F16941-8351-4A52-8767-F7CC56066C29}">
      <dgm:prSet/>
      <dgm:spPr/>
      <dgm:t>
        <a:bodyPr/>
        <a:lstStyle/>
        <a:p>
          <a:endParaRPr lang="de-DE"/>
        </a:p>
      </dgm:t>
    </dgm:pt>
    <dgm:pt modelId="{01D8D4D2-8EBE-4D2B-96D6-63B5DA62E1EE}">
      <dgm:prSet phldrT="[Text]"/>
      <dgm:spPr/>
      <dgm:t>
        <a:bodyPr/>
        <a:lstStyle/>
        <a:p>
          <a:r>
            <a:rPr lang="de-DE" dirty="0" err="1"/>
            <a:t>nextLine</a:t>
          </a:r>
          <a:endParaRPr lang="de-DE" dirty="0"/>
        </a:p>
      </dgm:t>
    </dgm:pt>
    <dgm:pt modelId="{FB0A5261-B3C2-4191-B27A-FA3E39DE8B5E}" type="parTrans" cxnId="{145D2CEC-12E2-4C7B-8EC1-90EF3D7AD203}">
      <dgm:prSet/>
      <dgm:spPr/>
      <dgm:t>
        <a:bodyPr/>
        <a:lstStyle/>
        <a:p>
          <a:endParaRPr lang="de-DE"/>
        </a:p>
      </dgm:t>
    </dgm:pt>
    <dgm:pt modelId="{D0F9ACCA-4EC6-47E7-8CCE-F9AEDBCC7A45}" type="sibTrans" cxnId="{145D2CEC-12E2-4C7B-8EC1-90EF3D7AD203}">
      <dgm:prSet/>
      <dgm:spPr/>
      <dgm:t>
        <a:bodyPr/>
        <a:lstStyle/>
        <a:p>
          <a:endParaRPr lang="de-DE"/>
        </a:p>
      </dgm:t>
    </dgm:pt>
    <dgm:pt modelId="{13546483-C788-44CE-B3DD-F4AC843E92B0}" type="pres">
      <dgm:prSet presAssocID="{B91097DD-3C2B-48D3-8E05-046141EAF297}" presName="hierChild1" presStyleCnt="0">
        <dgm:presLayoutVars>
          <dgm:orgChart val="1"/>
          <dgm:chPref val="1"/>
          <dgm:dir/>
          <dgm:animOne val="branch"/>
          <dgm:animLvl val="lvl"/>
          <dgm:resizeHandles/>
        </dgm:presLayoutVars>
      </dgm:prSet>
      <dgm:spPr/>
    </dgm:pt>
    <dgm:pt modelId="{934CA72C-0049-4136-BF8F-9617B13BFF2A}" type="pres">
      <dgm:prSet presAssocID="{7E3C2DB0-993B-40DB-ADBC-0F872BF4F03A}" presName="hierRoot1" presStyleCnt="0">
        <dgm:presLayoutVars>
          <dgm:hierBranch val="init"/>
        </dgm:presLayoutVars>
      </dgm:prSet>
      <dgm:spPr/>
    </dgm:pt>
    <dgm:pt modelId="{B00C1E85-AB1B-4F89-955F-EE0592792D5A}" type="pres">
      <dgm:prSet presAssocID="{7E3C2DB0-993B-40DB-ADBC-0F872BF4F03A}" presName="rootComposite1" presStyleCnt="0"/>
      <dgm:spPr/>
    </dgm:pt>
    <dgm:pt modelId="{F4F6C4A2-6B11-49FD-AD03-C1D59A3E4159}" type="pres">
      <dgm:prSet presAssocID="{7E3C2DB0-993B-40DB-ADBC-0F872BF4F03A}" presName="rootText1" presStyleLbl="node0" presStyleIdx="0" presStyleCnt="1">
        <dgm:presLayoutVars>
          <dgm:chPref val="3"/>
        </dgm:presLayoutVars>
      </dgm:prSet>
      <dgm:spPr/>
    </dgm:pt>
    <dgm:pt modelId="{5EA8DA48-5DB2-450B-8126-67A66A9CBBA6}" type="pres">
      <dgm:prSet presAssocID="{7E3C2DB0-993B-40DB-ADBC-0F872BF4F03A}" presName="rootConnector1" presStyleLbl="node1" presStyleIdx="0" presStyleCnt="0"/>
      <dgm:spPr/>
    </dgm:pt>
    <dgm:pt modelId="{FDA8E193-5D7F-419D-9035-7C0F191199E0}" type="pres">
      <dgm:prSet presAssocID="{7E3C2DB0-993B-40DB-ADBC-0F872BF4F03A}" presName="hierChild2" presStyleCnt="0"/>
      <dgm:spPr/>
    </dgm:pt>
    <dgm:pt modelId="{B6BB19B8-D9DB-4EBB-BC38-367B945B0D1E}" type="pres">
      <dgm:prSet presAssocID="{845A1A8E-0D00-4988-B4F4-7FAC19059893}" presName="Name37" presStyleLbl="parChTrans1D2" presStyleIdx="0" presStyleCnt="2"/>
      <dgm:spPr/>
    </dgm:pt>
    <dgm:pt modelId="{BD881A08-5BCC-44EA-833D-5E5EA8468FF2}" type="pres">
      <dgm:prSet presAssocID="{3BEBF0A7-EA70-4F97-B542-28CE0D530506}" presName="hierRoot2" presStyleCnt="0">
        <dgm:presLayoutVars>
          <dgm:hierBranch val="init"/>
        </dgm:presLayoutVars>
      </dgm:prSet>
      <dgm:spPr/>
    </dgm:pt>
    <dgm:pt modelId="{AC5D4A92-74F9-4577-8E59-398EB6AA4027}" type="pres">
      <dgm:prSet presAssocID="{3BEBF0A7-EA70-4F97-B542-28CE0D530506}" presName="rootComposite" presStyleCnt="0"/>
      <dgm:spPr/>
    </dgm:pt>
    <dgm:pt modelId="{554E5ABE-5233-4CF5-997A-1B1B6E5318FD}" type="pres">
      <dgm:prSet presAssocID="{3BEBF0A7-EA70-4F97-B542-28CE0D530506}" presName="rootText" presStyleLbl="node2" presStyleIdx="0" presStyleCnt="2">
        <dgm:presLayoutVars>
          <dgm:chPref val="3"/>
        </dgm:presLayoutVars>
      </dgm:prSet>
      <dgm:spPr/>
    </dgm:pt>
    <dgm:pt modelId="{06E8C466-199A-461E-885D-F81AC36E615C}" type="pres">
      <dgm:prSet presAssocID="{3BEBF0A7-EA70-4F97-B542-28CE0D530506}" presName="rootConnector" presStyleLbl="node2" presStyleIdx="0" presStyleCnt="2"/>
      <dgm:spPr/>
    </dgm:pt>
    <dgm:pt modelId="{25B73932-3975-4BBD-9E15-4D84E6AB3F05}" type="pres">
      <dgm:prSet presAssocID="{3BEBF0A7-EA70-4F97-B542-28CE0D530506}" presName="hierChild4" presStyleCnt="0"/>
      <dgm:spPr/>
    </dgm:pt>
    <dgm:pt modelId="{640D23CD-3E5E-4AA7-BAF2-75618C8F931E}" type="pres">
      <dgm:prSet presAssocID="{3BEBF0A7-EA70-4F97-B542-28CE0D530506}" presName="hierChild5" presStyleCnt="0"/>
      <dgm:spPr/>
    </dgm:pt>
    <dgm:pt modelId="{2FF51255-7C38-4E41-B926-0A0D9653A548}" type="pres">
      <dgm:prSet presAssocID="{FB0A5261-B3C2-4191-B27A-FA3E39DE8B5E}" presName="Name37" presStyleLbl="parChTrans1D2" presStyleIdx="1" presStyleCnt="2"/>
      <dgm:spPr/>
    </dgm:pt>
    <dgm:pt modelId="{981EE35A-E7ED-49DE-9132-58845074B664}" type="pres">
      <dgm:prSet presAssocID="{01D8D4D2-8EBE-4D2B-96D6-63B5DA62E1EE}" presName="hierRoot2" presStyleCnt="0">
        <dgm:presLayoutVars>
          <dgm:hierBranch val="init"/>
        </dgm:presLayoutVars>
      </dgm:prSet>
      <dgm:spPr/>
    </dgm:pt>
    <dgm:pt modelId="{634E12F8-CDC7-4EF0-9FD7-CE4FE3728F54}" type="pres">
      <dgm:prSet presAssocID="{01D8D4D2-8EBE-4D2B-96D6-63B5DA62E1EE}" presName="rootComposite" presStyleCnt="0"/>
      <dgm:spPr/>
    </dgm:pt>
    <dgm:pt modelId="{C70D8E2A-35A8-4DBF-A84B-67DC7C9A311E}" type="pres">
      <dgm:prSet presAssocID="{01D8D4D2-8EBE-4D2B-96D6-63B5DA62E1EE}" presName="rootText" presStyleLbl="node2" presStyleIdx="1" presStyleCnt="2">
        <dgm:presLayoutVars>
          <dgm:chPref val="3"/>
        </dgm:presLayoutVars>
      </dgm:prSet>
      <dgm:spPr/>
    </dgm:pt>
    <dgm:pt modelId="{9DD38C58-779D-4871-828F-552A5CC93AAC}" type="pres">
      <dgm:prSet presAssocID="{01D8D4D2-8EBE-4D2B-96D6-63B5DA62E1EE}" presName="rootConnector" presStyleLbl="node2" presStyleIdx="1" presStyleCnt="2"/>
      <dgm:spPr/>
    </dgm:pt>
    <dgm:pt modelId="{54019B3C-52B0-4EB6-BDC2-A4162FF0191D}" type="pres">
      <dgm:prSet presAssocID="{01D8D4D2-8EBE-4D2B-96D6-63B5DA62E1EE}" presName="hierChild4" presStyleCnt="0"/>
      <dgm:spPr/>
    </dgm:pt>
    <dgm:pt modelId="{7DDFD7C6-2F19-43BC-B4BE-E9ECFF7D0C82}" type="pres">
      <dgm:prSet presAssocID="{01D8D4D2-8EBE-4D2B-96D6-63B5DA62E1EE}" presName="hierChild5" presStyleCnt="0"/>
      <dgm:spPr/>
    </dgm:pt>
    <dgm:pt modelId="{488FC76C-07CF-4EB5-ACE7-F20DF2A4BF28}" type="pres">
      <dgm:prSet presAssocID="{7E3C2DB0-993B-40DB-ADBC-0F872BF4F03A}" presName="hierChild3" presStyleCnt="0"/>
      <dgm:spPr/>
    </dgm:pt>
  </dgm:ptLst>
  <dgm:cxnLst>
    <dgm:cxn modelId="{99C46130-9D0E-4831-A73E-9BA403C4EB80}" type="presOf" srcId="{845A1A8E-0D00-4988-B4F4-7FAC19059893}" destId="{B6BB19B8-D9DB-4EBB-BC38-367B945B0D1E}" srcOrd="0" destOrd="0" presId="urn:microsoft.com/office/officeart/2005/8/layout/orgChart1"/>
    <dgm:cxn modelId="{7C1AB531-306E-4BEB-B2E6-D74E8E52E4D8}" type="presOf" srcId="{7E3C2DB0-993B-40DB-ADBC-0F872BF4F03A}" destId="{F4F6C4A2-6B11-49FD-AD03-C1D59A3E4159}" srcOrd="0" destOrd="0" presId="urn:microsoft.com/office/officeart/2005/8/layout/orgChart1"/>
    <dgm:cxn modelId="{27F16941-8351-4A52-8767-F7CC56066C29}" srcId="{7E3C2DB0-993B-40DB-ADBC-0F872BF4F03A}" destId="{3BEBF0A7-EA70-4F97-B542-28CE0D530506}" srcOrd="0" destOrd="0" parTransId="{845A1A8E-0D00-4988-B4F4-7FAC19059893}" sibTransId="{B1EBB834-FE60-4018-9583-A67D1F795850}"/>
    <dgm:cxn modelId="{8EE38042-1C90-4C91-A1CE-8EEEB1D905B8}" type="presOf" srcId="{3BEBF0A7-EA70-4F97-B542-28CE0D530506}" destId="{554E5ABE-5233-4CF5-997A-1B1B6E5318FD}" srcOrd="0" destOrd="0" presId="urn:microsoft.com/office/officeart/2005/8/layout/orgChart1"/>
    <dgm:cxn modelId="{A59EC06B-445B-4B9A-8058-71518DE1E856}" type="presOf" srcId="{01D8D4D2-8EBE-4D2B-96D6-63B5DA62E1EE}" destId="{C70D8E2A-35A8-4DBF-A84B-67DC7C9A311E}" srcOrd="0" destOrd="0" presId="urn:microsoft.com/office/officeart/2005/8/layout/orgChart1"/>
    <dgm:cxn modelId="{1DF4E84E-1CFB-4696-AB0C-79EFF40A6757}" type="presOf" srcId="{B91097DD-3C2B-48D3-8E05-046141EAF297}" destId="{13546483-C788-44CE-B3DD-F4AC843E92B0}" srcOrd="0" destOrd="0" presId="urn:microsoft.com/office/officeart/2005/8/layout/orgChart1"/>
    <dgm:cxn modelId="{B8FBAB98-A862-4AC3-A1BB-00D4E5F6BA0F}" type="presOf" srcId="{3BEBF0A7-EA70-4F97-B542-28CE0D530506}" destId="{06E8C466-199A-461E-885D-F81AC36E615C}" srcOrd="1" destOrd="0" presId="urn:microsoft.com/office/officeart/2005/8/layout/orgChart1"/>
    <dgm:cxn modelId="{10FDCFA1-4925-49D5-AFCC-C78FAD8648E8}" type="presOf" srcId="{FB0A5261-B3C2-4191-B27A-FA3E39DE8B5E}" destId="{2FF51255-7C38-4E41-B926-0A0D9653A548}" srcOrd="0" destOrd="0" presId="urn:microsoft.com/office/officeart/2005/8/layout/orgChart1"/>
    <dgm:cxn modelId="{2CBF08A4-5299-48D2-8AD7-B40C8F248436}" type="presOf" srcId="{01D8D4D2-8EBE-4D2B-96D6-63B5DA62E1EE}" destId="{9DD38C58-779D-4871-828F-552A5CC93AAC}" srcOrd="1" destOrd="0" presId="urn:microsoft.com/office/officeart/2005/8/layout/orgChart1"/>
    <dgm:cxn modelId="{0946A9C4-A663-400F-8718-2A4E8A01B93D}" srcId="{B91097DD-3C2B-48D3-8E05-046141EAF297}" destId="{7E3C2DB0-993B-40DB-ADBC-0F872BF4F03A}" srcOrd="0" destOrd="0" parTransId="{C810A86C-24F8-406E-BEAD-373D95751CDF}" sibTransId="{35EBE8A9-E4D5-48CB-8933-1F9F0D039EF7}"/>
    <dgm:cxn modelId="{145D2CEC-12E2-4C7B-8EC1-90EF3D7AD203}" srcId="{7E3C2DB0-993B-40DB-ADBC-0F872BF4F03A}" destId="{01D8D4D2-8EBE-4D2B-96D6-63B5DA62E1EE}" srcOrd="1" destOrd="0" parTransId="{FB0A5261-B3C2-4191-B27A-FA3E39DE8B5E}" sibTransId="{D0F9ACCA-4EC6-47E7-8CCE-F9AEDBCC7A45}"/>
    <dgm:cxn modelId="{3A6870F2-8F2D-4524-A94C-5D4C56E1BC82}" type="presOf" srcId="{7E3C2DB0-993B-40DB-ADBC-0F872BF4F03A}" destId="{5EA8DA48-5DB2-450B-8126-67A66A9CBBA6}" srcOrd="1" destOrd="0" presId="urn:microsoft.com/office/officeart/2005/8/layout/orgChart1"/>
    <dgm:cxn modelId="{9B9F24CD-7701-4B6E-B344-04ADDA047D8C}" type="presParOf" srcId="{13546483-C788-44CE-B3DD-F4AC843E92B0}" destId="{934CA72C-0049-4136-BF8F-9617B13BFF2A}" srcOrd="0" destOrd="0" presId="urn:microsoft.com/office/officeart/2005/8/layout/orgChart1"/>
    <dgm:cxn modelId="{CC6D37A3-6FAE-4C2D-B33C-EB61C3E271F2}" type="presParOf" srcId="{934CA72C-0049-4136-BF8F-9617B13BFF2A}" destId="{B00C1E85-AB1B-4F89-955F-EE0592792D5A}" srcOrd="0" destOrd="0" presId="urn:microsoft.com/office/officeart/2005/8/layout/orgChart1"/>
    <dgm:cxn modelId="{715013BF-5F3E-4506-9307-968D3FF88ACD}" type="presParOf" srcId="{B00C1E85-AB1B-4F89-955F-EE0592792D5A}" destId="{F4F6C4A2-6B11-49FD-AD03-C1D59A3E4159}" srcOrd="0" destOrd="0" presId="urn:microsoft.com/office/officeart/2005/8/layout/orgChart1"/>
    <dgm:cxn modelId="{D0A603EC-A5AF-487D-87F3-EC4C87641379}" type="presParOf" srcId="{B00C1E85-AB1B-4F89-955F-EE0592792D5A}" destId="{5EA8DA48-5DB2-450B-8126-67A66A9CBBA6}" srcOrd="1" destOrd="0" presId="urn:microsoft.com/office/officeart/2005/8/layout/orgChart1"/>
    <dgm:cxn modelId="{FC2F4E6E-7FB9-47E9-93AB-7DDC3A85B677}" type="presParOf" srcId="{934CA72C-0049-4136-BF8F-9617B13BFF2A}" destId="{FDA8E193-5D7F-419D-9035-7C0F191199E0}" srcOrd="1" destOrd="0" presId="urn:microsoft.com/office/officeart/2005/8/layout/orgChart1"/>
    <dgm:cxn modelId="{C26DF571-428B-4802-AF28-BBD7D4E16149}" type="presParOf" srcId="{FDA8E193-5D7F-419D-9035-7C0F191199E0}" destId="{B6BB19B8-D9DB-4EBB-BC38-367B945B0D1E}" srcOrd="0" destOrd="0" presId="urn:microsoft.com/office/officeart/2005/8/layout/orgChart1"/>
    <dgm:cxn modelId="{156E87C8-CF6C-4D64-80CB-7F04C074AE73}" type="presParOf" srcId="{FDA8E193-5D7F-419D-9035-7C0F191199E0}" destId="{BD881A08-5BCC-44EA-833D-5E5EA8468FF2}" srcOrd="1" destOrd="0" presId="urn:microsoft.com/office/officeart/2005/8/layout/orgChart1"/>
    <dgm:cxn modelId="{BDD87E69-713E-475B-A060-18D15BA4B000}" type="presParOf" srcId="{BD881A08-5BCC-44EA-833D-5E5EA8468FF2}" destId="{AC5D4A92-74F9-4577-8E59-398EB6AA4027}" srcOrd="0" destOrd="0" presId="urn:microsoft.com/office/officeart/2005/8/layout/orgChart1"/>
    <dgm:cxn modelId="{6A07C9DF-7861-4692-9753-1851791B4D23}" type="presParOf" srcId="{AC5D4A92-74F9-4577-8E59-398EB6AA4027}" destId="{554E5ABE-5233-4CF5-997A-1B1B6E5318FD}" srcOrd="0" destOrd="0" presId="urn:microsoft.com/office/officeart/2005/8/layout/orgChart1"/>
    <dgm:cxn modelId="{CF6BE0B1-712B-4E7C-A5DF-3E6C4AE15A37}" type="presParOf" srcId="{AC5D4A92-74F9-4577-8E59-398EB6AA4027}" destId="{06E8C466-199A-461E-885D-F81AC36E615C}" srcOrd="1" destOrd="0" presId="urn:microsoft.com/office/officeart/2005/8/layout/orgChart1"/>
    <dgm:cxn modelId="{A25CC850-2054-4D5F-ACB1-232A4EB86190}" type="presParOf" srcId="{BD881A08-5BCC-44EA-833D-5E5EA8468FF2}" destId="{25B73932-3975-4BBD-9E15-4D84E6AB3F05}" srcOrd="1" destOrd="0" presId="urn:microsoft.com/office/officeart/2005/8/layout/orgChart1"/>
    <dgm:cxn modelId="{A2874073-D345-48B7-A6D7-D676A3DB50A7}" type="presParOf" srcId="{BD881A08-5BCC-44EA-833D-5E5EA8468FF2}" destId="{640D23CD-3E5E-4AA7-BAF2-75618C8F931E}" srcOrd="2" destOrd="0" presId="urn:microsoft.com/office/officeart/2005/8/layout/orgChart1"/>
    <dgm:cxn modelId="{8ABF3004-C02A-4D2E-8B3F-EADC37C1B1FD}" type="presParOf" srcId="{FDA8E193-5D7F-419D-9035-7C0F191199E0}" destId="{2FF51255-7C38-4E41-B926-0A0D9653A548}" srcOrd="2" destOrd="0" presId="urn:microsoft.com/office/officeart/2005/8/layout/orgChart1"/>
    <dgm:cxn modelId="{B2CB42F2-39AE-4D09-854C-BBC9202BE350}" type="presParOf" srcId="{FDA8E193-5D7F-419D-9035-7C0F191199E0}" destId="{981EE35A-E7ED-49DE-9132-58845074B664}" srcOrd="3" destOrd="0" presId="urn:microsoft.com/office/officeart/2005/8/layout/orgChart1"/>
    <dgm:cxn modelId="{40633B1A-C5C1-4FD9-8B18-BCB58D4B3045}" type="presParOf" srcId="{981EE35A-E7ED-49DE-9132-58845074B664}" destId="{634E12F8-CDC7-4EF0-9FD7-CE4FE3728F54}" srcOrd="0" destOrd="0" presId="urn:microsoft.com/office/officeart/2005/8/layout/orgChart1"/>
    <dgm:cxn modelId="{16295D8D-E95C-497E-AEF6-0815C0B096BF}" type="presParOf" srcId="{634E12F8-CDC7-4EF0-9FD7-CE4FE3728F54}" destId="{C70D8E2A-35A8-4DBF-A84B-67DC7C9A311E}" srcOrd="0" destOrd="0" presId="urn:microsoft.com/office/officeart/2005/8/layout/orgChart1"/>
    <dgm:cxn modelId="{E1000E26-8257-4535-9EC9-5A0AD594EE10}" type="presParOf" srcId="{634E12F8-CDC7-4EF0-9FD7-CE4FE3728F54}" destId="{9DD38C58-779D-4871-828F-552A5CC93AAC}" srcOrd="1" destOrd="0" presId="urn:microsoft.com/office/officeart/2005/8/layout/orgChart1"/>
    <dgm:cxn modelId="{88E10855-319B-4A47-9FAD-134326661DCF}" type="presParOf" srcId="{981EE35A-E7ED-49DE-9132-58845074B664}" destId="{54019B3C-52B0-4EB6-BDC2-A4162FF0191D}" srcOrd="1" destOrd="0" presId="urn:microsoft.com/office/officeart/2005/8/layout/orgChart1"/>
    <dgm:cxn modelId="{E65A99B1-417E-40C5-8076-885835BBA422}" type="presParOf" srcId="{981EE35A-E7ED-49DE-9132-58845074B664}" destId="{7DDFD7C6-2F19-43BC-B4BE-E9ECFF7D0C82}" srcOrd="2" destOrd="0" presId="urn:microsoft.com/office/officeart/2005/8/layout/orgChart1"/>
    <dgm:cxn modelId="{339086A5-FCEA-447D-8F49-0AF6842BFAA8}" type="presParOf" srcId="{934CA72C-0049-4136-BF8F-9617B13BFF2A}" destId="{488FC76C-07CF-4EB5-ACE7-F20DF2A4BF28}" srcOrd="2" destOrd="0" presId="urn:microsoft.com/office/officeart/2005/8/layout/orgChart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F51255-7C38-4E41-B926-0A0D9653A548}">
      <dsp:nvSpPr>
        <dsp:cNvPr id="0" name=""/>
        <dsp:cNvSpPr/>
      </dsp:nvSpPr>
      <dsp:spPr>
        <a:xfrm>
          <a:off x="1447338" y="675088"/>
          <a:ext cx="792051" cy="274927"/>
        </a:xfrm>
        <a:custGeom>
          <a:avLst/>
          <a:gdLst/>
          <a:ahLst/>
          <a:cxnLst/>
          <a:rect l="0" t="0" r="0" b="0"/>
          <a:pathLst>
            <a:path>
              <a:moveTo>
                <a:pt x="0" y="0"/>
              </a:moveTo>
              <a:lnTo>
                <a:pt x="0" y="137463"/>
              </a:lnTo>
              <a:lnTo>
                <a:pt x="792051" y="137463"/>
              </a:lnTo>
              <a:lnTo>
                <a:pt x="792051"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6BB19B8-D9DB-4EBB-BC38-367B945B0D1E}">
      <dsp:nvSpPr>
        <dsp:cNvPr id="0" name=""/>
        <dsp:cNvSpPr/>
      </dsp:nvSpPr>
      <dsp:spPr>
        <a:xfrm>
          <a:off x="655286" y="675088"/>
          <a:ext cx="792051" cy="274927"/>
        </a:xfrm>
        <a:custGeom>
          <a:avLst/>
          <a:gdLst/>
          <a:ahLst/>
          <a:cxnLst/>
          <a:rect l="0" t="0" r="0" b="0"/>
          <a:pathLst>
            <a:path>
              <a:moveTo>
                <a:pt x="792051" y="0"/>
              </a:moveTo>
              <a:lnTo>
                <a:pt x="792051" y="137463"/>
              </a:lnTo>
              <a:lnTo>
                <a:pt x="0" y="137463"/>
              </a:lnTo>
              <a:lnTo>
                <a:pt x="0"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4F6C4A2-6B11-49FD-AD03-C1D59A3E4159}">
      <dsp:nvSpPr>
        <dsp:cNvPr id="0" name=""/>
        <dsp:cNvSpPr/>
      </dsp:nvSpPr>
      <dsp:spPr>
        <a:xfrm>
          <a:off x="792749" y="20500"/>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fragen</a:t>
          </a:r>
        </a:p>
      </dsp:txBody>
      <dsp:txXfrm>
        <a:off x="792749" y="20500"/>
        <a:ext cx="1309176" cy="654588"/>
      </dsp:txXfrm>
    </dsp:sp>
    <dsp:sp modelId="{554E5ABE-5233-4CF5-997A-1B1B6E5318FD}">
      <dsp:nvSpPr>
        <dsp:cNvPr id="0" name=""/>
        <dsp:cNvSpPr/>
      </dsp:nvSpPr>
      <dsp:spPr>
        <a:xfrm>
          <a:off x="697"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System.out.println</a:t>
          </a:r>
          <a:endParaRPr lang="de-DE" sz="1200" kern="1200" dirty="0"/>
        </a:p>
      </dsp:txBody>
      <dsp:txXfrm>
        <a:off x="697" y="950016"/>
        <a:ext cx="1309176" cy="654588"/>
      </dsp:txXfrm>
    </dsp:sp>
    <dsp:sp modelId="{C70D8E2A-35A8-4DBF-A84B-67DC7C9A311E}">
      <dsp:nvSpPr>
        <dsp:cNvPr id="0" name=""/>
        <dsp:cNvSpPr/>
      </dsp:nvSpPr>
      <dsp:spPr>
        <a:xfrm>
          <a:off x="1584801"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nextLine</a:t>
          </a:r>
          <a:endParaRPr lang="de-DE" sz="1200" kern="1200" dirty="0"/>
        </a:p>
      </dsp:txBody>
      <dsp:txXfrm>
        <a:off x="1584801" y="950016"/>
        <a:ext cx="1309176" cy="65458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A8DC784-3B3A-4CAC-98FD-9A1CC12ADF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dirty="0">
              <a:latin typeface="IBM Plex Sans" panose="020B0503050203000203" pitchFamily="34" charset="0"/>
            </a:endParaRPr>
          </a:p>
        </p:txBody>
      </p:sp>
      <p:sp>
        <p:nvSpPr>
          <p:cNvPr id="3" name="Date Placeholder 2">
            <a:extLst>
              <a:ext uri="{FF2B5EF4-FFF2-40B4-BE49-F238E27FC236}">
                <a16:creationId xmlns:a16="http://schemas.microsoft.com/office/drawing/2014/main" id="{14F78DDA-BE0D-4476-8468-194869BFD52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7CABDD-8B3F-45C4-A152-E69BA35442ED}" type="datetimeFigureOut">
              <a:rPr lang="de-DE" smtClean="0">
                <a:latin typeface="IBM Plex Sans" panose="020B0503050203000203" pitchFamily="34" charset="0"/>
              </a:rPr>
              <a:t>20.02.2026</a:t>
            </a:fld>
            <a:endParaRPr lang="de-DE" dirty="0">
              <a:latin typeface="IBM Plex Sans" panose="020B0503050203000203" pitchFamily="34" charset="0"/>
            </a:endParaRPr>
          </a:p>
        </p:txBody>
      </p:sp>
      <p:sp>
        <p:nvSpPr>
          <p:cNvPr id="4" name="Footer Placeholder 3">
            <a:extLst>
              <a:ext uri="{FF2B5EF4-FFF2-40B4-BE49-F238E27FC236}">
                <a16:creationId xmlns:a16="http://schemas.microsoft.com/office/drawing/2014/main" id="{AA648C7E-FB72-413C-9B77-01DB696A64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dirty="0">
              <a:latin typeface="IBM Plex Sans" panose="020B0503050203000203" pitchFamily="34" charset="0"/>
            </a:endParaRPr>
          </a:p>
        </p:txBody>
      </p:sp>
      <p:sp>
        <p:nvSpPr>
          <p:cNvPr id="5" name="Slide Number Placeholder 4">
            <a:extLst>
              <a:ext uri="{FF2B5EF4-FFF2-40B4-BE49-F238E27FC236}">
                <a16:creationId xmlns:a16="http://schemas.microsoft.com/office/drawing/2014/main" id="{E783096C-3686-4EFF-A61E-935A95BA98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FA0FEFA-C16C-4FE6-96DC-FBD2E26EB878}" type="slidenum">
              <a:rPr lang="de-DE" smtClean="0">
                <a:latin typeface="IBM Plex Sans" panose="020B0503050203000203" pitchFamily="34" charset="0"/>
              </a:rPr>
              <a:t>‹#›</a:t>
            </a:fld>
            <a:endParaRPr lang="de-DE" dirty="0">
              <a:latin typeface="IBM Plex Sans" panose="020B0503050203000203" pitchFamily="34" charset="0"/>
            </a:endParaRPr>
          </a:p>
        </p:txBody>
      </p:sp>
    </p:spTree>
    <p:extLst>
      <p:ext uri="{BB962C8B-B14F-4D97-AF65-F5344CB8AC3E}">
        <p14:creationId xmlns:p14="http://schemas.microsoft.com/office/powerpoint/2010/main" val="315117086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05T22:43:58.086"/>
    </inkml:context>
    <inkml:brush xml:id="br0">
      <inkml:brushProperty name="width" value="0.03528" units="cm"/>
      <inkml:brushProperty name="height" value="0.03528" units="cm"/>
      <inkml:brushProperty name="color" value="#FF0066"/>
      <inkml:brushProperty name="ignorePressure" value="1"/>
    </inkml:brush>
  </inkml:definitions>
  <inkml:trace contextRef="#ctx0" brushRef="#br0">9884 127,'-20'-12,"0"1,-1 0,0 2,-1 0,-32-8,0 6,0 3,0 2,-60 1,43 2,-524-11,-232 3,-559 12,1305 2,0 3,-97 22,-126 42,-22-14,-42 7,7 27,-305 144,639-223,0 1,0 1,2 1,0 1,0 2,1 0,2 2,-36 35,55-51,-143 140,126-125,-2-2,-1 0,0-1,0-2,-39 17,-4-5,16-7,1 2,1 3,-53 33,-60 42,132-83,0-1,-2-2,-57 17,6-10,-195 52,197-47,-110 50,-56 49,3-1,40-20,177-86,0 0,1 2,-39 36,-8 6,-22 21,62-51,-48 34,-105 66,35-16,74-54,44-33,1 1,2 1,-34 43,-118 144,148-179,-71 64,80-80,18-15,0 0,0 0,0 1,1 0,0 0,0 0,1 0,0 1,0 0,1 0,0 0,0 0,-1 10,-5 9,0-1,-2 1,-19 34,15-32,1 1,-13 39,-17 132,4-15,32-149,1 0,1 0,0 41,6 115,2-80,-2-62,1 2,-11 97,-1-49,5 0,7 103,1-67,1-92,1-1,17 72,-10-65,6 87,-17 151,9 124,17-266,-8-54,16 43,-23-97,-1 1,8 67,-18 327,-6-362,-27 125,-35 69,32-133,25-93,1 1,2 0,2 0,-2 66,12 439,-10-418,0 73,5-19,3 153,3-258,25 117,-22-148,8 87,-14-98,2 1,1-1,1 0,3 0,12 35,12-9,-26-50,0 1,0 1,-1-1,-1 1,5 17,0 18,-7-29,1-1,1 1,0 0,2-1,0 0,10 19,65 117,-20-23,-48-97,1-1,2 0,41 60,-24-46,34 63,-48-76,5 17,-21-42,0 1,1-1,0 0,0 0,1-1,0 1,1-1,-1-1,2 1,12 10,46 22,-13-10,19 14,2-3,2-3,1-4,2-3,108 28,-149-53,0 0,0-3,0-1,67-6,-12 2,503 2,220-1,-606-4,69-1,-18 7,282-2,-423-7,193-37,-194 23,201-10,263 33,-233 1,125-3,482 2,-455 26,-199-7,247 44,-62-3,-399-58,0-3,116-16,172-44,-220 33,589-145,-679 152,-1-4,117-60,-138 59,-2-2,-1-1,-1-3,63-60,-82 67,-1 0,-1-2,21-36,42-89,-78 140,51-83,-41 72,-1-1,-1 0,-1-1,-1-1,15-49,-19 27,-1 0,-2-1,-5-81,-1 62,0-1158,-5 1119,-27-151,-5-45,34 178,-11-122,-13 50,-11-116,34-269,9 331,-4 135,6 1,24-145,156-684,-165 843,5 2,4 0,5 2,4 2,60-110,-86 181,1 0,1 2,1 0,1 0,0 1,2 1,0 1,1 1,1 0,1 2,36-22,-5 10,-15 10,0-3,-1-1,-1-2,44-36,1-15,158-109,-220 170,-1 0,0-1,-1-1,-1 0,14-19,-3 0,34-59,-24 34,-18 32,-1-1,19-46,-25 47,-1 4,-2 1,0-1,-1 0,5-37,-5-55,-6-118,-3 95,1 113,-1 0,-2 1,0-1,-1 1,-2 0,0 0,-14-29,-6-4,-57-89,54 104,-56-62,9 13,62 71,-86-100,92 110,-23-24,0 3,-2 0,-1 2,-40-24,51 38,12 7,-1 0,-1 1,1 0,-27-8,23 10,-46-12,-105-42,-2-26,97 49,55 28,0 1,0 1,-1 1,0 1,-1 1,-19-2,-40-7,-28-14,54 11,-2 3,-82-8,84 17,-144-14,173 13,1-2,0 0,0-1,1-1,0-1,-29-17,16 6,0 0,-58-22,41 22,0-2,2-3,-76-49,79 39,2-2,-51-53,62 58,0-3,14 15,-30-25,-25-7,44 32,0-2,-31-29,54 42,1 0,-13-18,16 19,-1 1,-1 0,1 0,-1 0,0 1,-13-10,14 12,-24-15,0-2,2-1,0-1,-41-46,45 41,-1 0,-2 2,0 1,-40-28,53 44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e-DE"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D9A91217-94B1-4AFC-AE15-6FCC91A46676}" type="datetimeFigureOut">
              <a:rPr lang="de-DE" smtClean="0"/>
              <a:pPr/>
              <a:t>20.02.2026</a:t>
            </a:fld>
            <a:endParaRPr lang="de-DE"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e-DE"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8FB63564-6630-4CB2-8B73-9A9EA81947FF}" type="slidenum">
              <a:rPr lang="de-DE" smtClean="0"/>
              <a:pPr/>
              <a:t>‹#›</a:t>
            </a:fld>
            <a:endParaRPr lang="de-DE" dirty="0"/>
          </a:p>
        </p:txBody>
      </p:sp>
    </p:spTree>
    <p:extLst>
      <p:ext uri="{BB962C8B-B14F-4D97-AF65-F5344CB8AC3E}">
        <p14:creationId xmlns:p14="http://schemas.microsoft.com/office/powerpoint/2010/main" val="2628308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t>8</a:t>
            </a:fld>
            <a:endParaRPr lang="de-DE"/>
          </a:p>
        </p:txBody>
      </p:sp>
    </p:spTree>
    <p:extLst>
      <p:ext uri="{BB962C8B-B14F-4D97-AF65-F5344CB8AC3E}">
        <p14:creationId xmlns:p14="http://schemas.microsoft.com/office/powerpoint/2010/main" val="4125981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8FB63564-6630-4CB2-8B73-9A9EA81947FF}" type="slidenum">
              <a:rPr lang="de-DE" smtClean="0"/>
              <a:pPr/>
              <a:t>11</a:t>
            </a:fld>
            <a:endParaRPr lang="de-DE" dirty="0"/>
          </a:p>
        </p:txBody>
      </p:sp>
    </p:spTree>
    <p:extLst>
      <p:ext uri="{BB962C8B-B14F-4D97-AF65-F5344CB8AC3E}">
        <p14:creationId xmlns:p14="http://schemas.microsoft.com/office/powerpoint/2010/main" val="2683026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atin typeface="Nunito" pitchFamily="2" charset="0"/>
              </a:defRPr>
            </a:lvl1pPr>
          </a:lstStyle>
          <a:p>
            <a:r>
              <a:rPr lang="de-DE" dirty="0"/>
              <a:t>Mastertitelformat bearbeiten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Master-Untertitelformat bearbeiten</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20.02.2026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023112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1"/>
                </a:solidFill>
                <a:latin typeface="Nunito" pitchFamily="2" charset="0"/>
              </a:defRPr>
            </a:lvl1pPr>
          </a:lstStyle>
          <a:p>
            <a:r>
              <a:rPr lang="de-DE" dirty="0"/>
              <a:t>Mastertitelformat bearbeiten</a:t>
            </a:r>
            <a:endParaRPr lang="en-US" dirty="0"/>
          </a:p>
        </p:txBody>
      </p:sp>
      <p:sp>
        <p:nvSpPr>
          <p:cNvPr id="3" name="Content Placeholder 2"/>
          <p:cNvSpPr>
            <a:spLocks noGrp="1"/>
          </p:cNvSpPr>
          <p:nvPr>
            <p:ph idx="1"/>
          </p:nvPr>
        </p:nvSpPr>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20.02.2026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80881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Nunito" pitchFamily="2" charset="0"/>
              </a:defRPr>
            </a:lvl1pPr>
          </a:lstStyle>
          <a:p>
            <a:r>
              <a:rPr lang="de-DE" dirty="0"/>
              <a:t>Mastertitelformat bearbeiten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Mastertextformat bearbeiten</a:t>
            </a:r>
          </a:p>
        </p:txBody>
      </p:sp>
      <p:sp>
        <p:nvSpPr>
          <p:cNvPr id="4" name="Date Placeholder 3"/>
          <p:cNvSpPr>
            <a:spLocks noGrp="1"/>
          </p:cNvSpPr>
          <p:nvPr>
            <p:ph type="dt" sz="half" idx="10"/>
          </p:nvPr>
        </p:nvSpPr>
        <p:spPr/>
        <p:txBody>
          <a:bodyPr/>
          <a:lstStyle/>
          <a:p>
            <a:fld id="{7F74B683-5B55-47E9-B45C-EB67E1285507}" type="datetimeFigureOut">
              <a:rPr lang="de-DE" smtClean="0"/>
              <a:t>20.02.2026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54245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Nunito" pitchFamily="2" charset="0"/>
              </a:defRPr>
            </a:lvl1pPr>
          </a:lstStyle>
          <a:p>
            <a:r>
              <a:rPr lang="de-DE" dirty="0"/>
              <a:t>Mastertitelformat bearbeiten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5" name="Date Placeholder 4"/>
          <p:cNvSpPr>
            <a:spLocks noGrp="1"/>
          </p:cNvSpPr>
          <p:nvPr>
            <p:ph type="dt" sz="half" idx="10"/>
          </p:nvPr>
        </p:nvSpPr>
        <p:spPr/>
        <p:txBody>
          <a:bodyPr/>
          <a:lstStyle/>
          <a:p>
            <a:fld id="{7F74B683-5B55-47E9-B45C-EB67E1285507}" type="datetimeFigureOut">
              <a:rPr lang="de-DE" smtClean="0"/>
              <a:t>20.02.2026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95211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solidFill>
                  <a:schemeClr val="tx1"/>
                </a:solidFill>
                <a:latin typeface="Nunito" pitchFamily="2" charset="0"/>
              </a:defRPr>
            </a:lvl1pPr>
          </a:lstStyle>
          <a:p>
            <a:r>
              <a:rPr lang="de-DE" dirty="0"/>
              <a:t>Mastertitelformat bearbeiten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Mastertextformat bearbeiten</a:t>
            </a:r>
          </a:p>
        </p:txBody>
      </p:sp>
      <p:sp>
        <p:nvSpPr>
          <p:cNvPr id="4" name="Content Placeholder 3"/>
          <p:cNvSpPr>
            <a:spLocks noGrp="1"/>
          </p:cNvSpPr>
          <p:nvPr>
            <p:ph sz="half" idx="2"/>
          </p:nvPr>
        </p:nvSpPr>
        <p:spPr>
          <a:xfrm>
            <a:off x="839788" y="2505075"/>
            <a:ext cx="5157787" cy="368458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Mastertextformat bearbeiten</a:t>
            </a:r>
          </a:p>
        </p:txBody>
      </p:sp>
      <p:sp>
        <p:nvSpPr>
          <p:cNvPr id="6" name="Content Placeholder 5"/>
          <p:cNvSpPr>
            <a:spLocks noGrp="1"/>
          </p:cNvSpPr>
          <p:nvPr>
            <p:ph sz="quarter" idx="4"/>
          </p:nvPr>
        </p:nvSpPr>
        <p:spPr>
          <a:xfrm>
            <a:off x="6172200" y="2505075"/>
            <a:ext cx="5183188" cy="368458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7" name="Date Placeholder 6"/>
          <p:cNvSpPr>
            <a:spLocks noGrp="1"/>
          </p:cNvSpPr>
          <p:nvPr>
            <p:ph type="dt" sz="half" idx="10"/>
          </p:nvPr>
        </p:nvSpPr>
        <p:spPr/>
        <p:txBody>
          <a:bodyPr/>
          <a:lstStyle>
            <a:lvl1pPr>
              <a:defRPr>
                <a:solidFill>
                  <a:schemeClr val="tx1"/>
                </a:solidFill>
              </a:defRPr>
            </a:lvl1pPr>
          </a:lstStyle>
          <a:p>
            <a:fld id="{7F74B683-5B55-47E9-B45C-EB67E1285507}" type="datetimeFigureOut">
              <a:rPr lang="de-DE" smtClean="0"/>
              <a:pPr/>
              <a:t>20.02.2026</a:t>
            </a:fld>
            <a:endParaRPr lang="de-DE"/>
          </a:p>
        </p:txBody>
      </p:sp>
      <p:sp>
        <p:nvSpPr>
          <p:cNvPr id="8" name="Footer Placeholder 7"/>
          <p:cNvSpPr>
            <a:spLocks noGrp="1"/>
          </p:cNvSpPr>
          <p:nvPr>
            <p:ph type="ftr" sz="quarter" idx="11"/>
          </p:nvPr>
        </p:nvSpPr>
        <p:spPr/>
        <p:txBody>
          <a:bodyPr/>
          <a:lstStyle>
            <a:lvl1pPr>
              <a:defRPr>
                <a:solidFill>
                  <a:schemeClr val="tx1"/>
                </a:solidFill>
              </a:defRPr>
            </a:lvl1pPr>
          </a:lstStyle>
          <a:p>
            <a:endParaRPr lang="de-DE"/>
          </a:p>
        </p:txBody>
      </p:sp>
      <p:sp>
        <p:nvSpPr>
          <p:cNvPr id="9" name="Slide Number Placeholder 8"/>
          <p:cNvSpPr>
            <a:spLocks noGrp="1"/>
          </p:cNvSpPr>
          <p:nvPr>
            <p:ph type="sldNum" sz="quarter" idx="12"/>
          </p:nvPr>
        </p:nvSpPr>
        <p:spPr/>
        <p:txBody>
          <a:bodyPr/>
          <a:lstStyle>
            <a:lvl1pPr>
              <a:defRPr>
                <a:solidFill>
                  <a:schemeClr val="tx1"/>
                </a:solidFill>
              </a:defRPr>
            </a:lvl1pPr>
          </a:lstStyle>
          <a:p>
            <a:fld id="{78F3BE6F-4336-4318-AF2D-E80AFC66D590}" type="slidenum">
              <a:rPr lang="de-DE" smtClean="0"/>
              <a:pPr/>
              <a:t>‹#›</a:t>
            </a:fld>
            <a:endParaRPr lang="de-DE"/>
          </a:p>
        </p:txBody>
      </p:sp>
    </p:spTree>
    <p:extLst>
      <p:ext uri="{BB962C8B-B14F-4D97-AF65-F5344CB8AC3E}">
        <p14:creationId xmlns:p14="http://schemas.microsoft.com/office/powerpoint/2010/main" val="39160050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Nunito" pitchFamily="2" charset="0"/>
              </a:defRPr>
            </a:lvl1pPr>
          </a:lstStyle>
          <a:p>
            <a:r>
              <a:rPr lang="de-DE" dirty="0"/>
              <a:t>Mastertitelformat bearbeiten</a:t>
            </a:r>
            <a:endParaRPr lang="en-US" dirty="0"/>
          </a:p>
        </p:txBody>
      </p:sp>
      <p:sp>
        <p:nvSpPr>
          <p:cNvPr id="3" name="Date Placeholder 2"/>
          <p:cNvSpPr>
            <a:spLocks noGrp="1"/>
          </p:cNvSpPr>
          <p:nvPr>
            <p:ph type="dt" sz="half" idx="10"/>
          </p:nvPr>
        </p:nvSpPr>
        <p:spPr/>
        <p:txBody>
          <a:bodyPr/>
          <a:lstStyle/>
          <a:p>
            <a:fld id="{7F74B683-5B55-47E9-B45C-EB67E1285507}" type="datetimeFigureOut">
              <a:rPr lang="de-DE" smtClean="0"/>
              <a:t>20.02.2026</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84650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F74B683-5B55-47E9-B45C-EB67E1285507}" type="datetimeFigureOut">
              <a:rPr lang="de-DE" smtClean="0"/>
              <a:t>20.02.2026</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8988124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Nunito" pitchFamily="2" charset="0"/>
              </a:defRPr>
            </a:lvl1pPr>
          </a:lstStyle>
          <a:p>
            <a:r>
              <a:rPr lang="de-DE" dirty="0"/>
              <a:t>Mastertitelformat bearbeiten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20.02.2026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451980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Nunito" pitchFamily="2" charset="0"/>
              </a:defRPr>
            </a:lvl1pPr>
          </a:lstStyle>
          <a:p>
            <a:r>
              <a:rPr lang="de-DE" dirty="0"/>
              <a:t>Mastertitelformat bearbeiten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dirty="0"/>
              <a:t>Bild durch Klicken auf Symbol hinzufügen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20.02.2026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15857817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Nunito" pitchFamily="2" charset="0"/>
              </a:defRPr>
            </a:lvl1pPr>
          </a:lstStyle>
          <a:p>
            <a:r>
              <a:rPr lang="de-DE" dirty="0"/>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20.02.2026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544967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atin typeface="Nunito" pitchFamily="2" charset="0"/>
              </a:defRPr>
            </a:lvl1pPr>
          </a:lstStyle>
          <a:p>
            <a:r>
              <a:rPr lang="de-DE" dirty="0"/>
              <a:t>Mastertitelformat bearbeiten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20.02.2026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9876364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dirty="0"/>
              <a:t>Mastertitelformat bearbeiten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IBM Plex Sans" panose="020B0503050203000203" pitchFamily="34" charset="0"/>
              </a:defRPr>
            </a:lvl1pPr>
          </a:lstStyle>
          <a:p>
            <a:fld id="{7F74B683-5B55-47E9-B45C-EB67E1285507}" type="datetimeFigureOut">
              <a:rPr lang="de-DE" smtClean="0"/>
              <a:pPr/>
              <a:t>20.02.2026</a:t>
            </a:fld>
            <a:endParaRPr lang="de-DE"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IBM Plex Sans" panose="020B0503050203000203" pitchFamily="34" charset="0"/>
              </a:defRPr>
            </a:lvl1pPr>
          </a:lstStyle>
          <a:p>
            <a:endParaRPr lang="de-DE"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IBM Plex Sans" panose="020B0503050203000203" pitchFamily="34" charset="0"/>
              </a:defRPr>
            </a:lvl1pPr>
          </a:lstStyle>
          <a:p>
            <a:fld id="{78F3BE6F-4336-4318-AF2D-E80AFC66D590}" type="slidenum">
              <a:rPr lang="de-DE" smtClean="0"/>
              <a:pPr/>
              <a:t>‹#›</a:t>
            </a:fld>
            <a:endParaRPr lang="de-DE" dirty="0"/>
          </a:p>
        </p:txBody>
      </p:sp>
    </p:spTree>
    <p:extLst>
      <p:ext uri="{BB962C8B-B14F-4D97-AF65-F5344CB8AC3E}">
        <p14:creationId xmlns:p14="http://schemas.microsoft.com/office/powerpoint/2010/main" val="75757472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Nunito"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junioruni-essen.de/"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4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slide" Target="slide15.xml"/><Relationship Id="rId3" Type="http://schemas.openxmlformats.org/officeDocument/2006/relationships/slide" Target="slide43.xml"/><Relationship Id="rId7" Type="http://schemas.openxmlformats.org/officeDocument/2006/relationships/slide" Target="slide43.xml"/><Relationship Id="rId2" Type="http://schemas.openxmlformats.org/officeDocument/2006/relationships/slide" Target="slide34.xml"/><Relationship Id="rId1" Type="http://schemas.openxmlformats.org/officeDocument/2006/relationships/slideLayout" Target="../slideLayouts/slideLayout2.xml"/><Relationship Id="rId6" Type="http://schemas.openxmlformats.org/officeDocument/2006/relationships/image" Target="../media/image110.png"/><Relationship Id="rId11" Type="http://schemas.openxmlformats.org/officeDocument/2006/relationships/image" Target="../media/image7.svg"/><Relationship Id="rId5" Type="http://schemas.openxmlformats.org/officeDocument/2006/relationships/slide" Target="slide61.xml"/><Relationship Id="rId10" Type="http://schemas.openxmlformats.org/officeDocument/2006/relationships/image" Target="../media/image6.png"/><Relationship Id="rId4" Type="http://schemas.openxmlformats.org/officeDocument/2006/relationships/slide" Target="slide15.xml"/><Relationship Id="rId9" Type="http://schemas.openxmlformats.org/officeDocument/2006/relationships/slide" Target="slide61.xml"/></Relationships>
</file>

<file path=ppt/slides/_rels/slide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slide" Target="slide9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slide" Target="slide14.xml"/><Relationship Id="rId7" Type="http://schemas.openxmlformats.org/officeDocument/2006/relationships/image" Target="../media/image12.png"/><Relationship Id="rId2" Type="http://schemas.openxmlformats.org/officeDocument/2006/relationships/slide" Target="slide8.xml"/><Relationship Id="rId1" Type="http://schemas.openxmlformats.org/officeDocument/2006/relationships/slideLayout" Target="../slideLayouts/slideLayout2.xml"/><Relationship Id="rId6" Type="http://schemas.openxmlformats.org/officeDocument/2006/relationships/slide" Target="slide59.xml"/><Relationship Id="rId5" Type="http://schemas.openxmlformats.org/officeDocument/2006/relationships/slide" Target="slide15.xml"/><Relationship Id="rId4" Type="http://schemas.openxmlformats.org/officeDocument/2006/relationships/slide" Target="slide43.xml"/></Relationships>
</file>

<file path=ppt/slides/_rels/slide2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3.svg"/><Relationship Id="rId7" Type="http://schemas.openxmlformats.org/officeDocument/2006/relationships/diagramLayout" Target="../diagrams/layout1.xml"/><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15.svg"/><Relationship Id="rId10" Type="http://schemas.microsoft.com/office/2007/relationships/diagramDrawing" Target="../diagrams/drawing1.xml"/><Relationship Id="rId4" Type="http://schemas.openxmlformats.org/officeDocument/2006/relationships/image" Target="../media/image14.png"/><Relationship Id="rId9" Type="http://schemas.openxmlformats.org/officeDocument/2006/relationships/diagramColors" Target="../diagrams/colors1.xml"/></Relationships>
</file>

<file path=ppt/slides/_rels/slide2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73.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6.jpg"/><Relationship Id="rId1" Type="http://schemas.openxmlformats.org/officeDocument/2006/relationships/slideLayout" Target="../slideLayouts/slideLayout2.xml"/><Relationship Id="rId4" Type="http://schemas.openxmlformats.org/officeDocument/2006/relationships/image" Target="../media/image13.svg"/></Relationships>
</file>

<file path=ppt/slides/_rels/slide3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slide" Target="slide9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46.xml"/><Relationship Id="rId2" Type="http://schemas.openxmlformats.org/officeDocument/2006/relationships/slide" Target="slide6.xml"/><Relationship Id="rId1" Type="http://schemas.openxmlformats.org/officeDocument/2006/relationships/slideLayout" Target="../slideLayouts/slideLayout2.xml"/><Relationship Id="rId5" Type="http://schemas.openxmlformats.org/officeDocument/2006/relationships/slide" Target="slide102.xml"/><Relationship Id="rId4" Type="http://schemas.openxmlformats.org/officeDocument/2006/relationships/slide" Target="slide21.xml"/></Relationships>
</file>

<file path=ppt/slides/_rels/slide3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svg"/></Relationships>
</file>

<file path=ppt/slides/_rels/slide3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73.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slide" Target="slide94.xml"/></Relationships>
</file>

<file path=ppt/slides/_rels/slide4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slide" Target="slide31.xml"/><Relationship Id="rId7" Type="http://schemas.openxmlformats.org/officeDocument/2006/relationships/image" Target="../media/image23.png"/><Relationship Id="rId2" Type="http://schemas.openxmlformats.org/officeDocument/2006/relationships/slide" Target="slide76.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25.svg"/></Relationships>
</file>

<file path=ppt/slides/_rels/slide4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 Target="slide94.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1.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6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73.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45.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94.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81.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0.svg"/><Relationship Id="rId2" Type="http://schemas.openxmlformats.org/officeDocument/2006/relationships/slide" Target="slide45.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hyperlink" Target="https://www.youtube.com/watch?v=gJ9DYC-jswo" TargetMode="External"/><Relationship Id="rId4" Type="http://schemas.openxmlformats.org/officeDocument/2006/relationships/image" Target="../media/image5.svg"/></Relationships>
</file>

<file path=ppt/slides/_rels/slide8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hyperlink" Target="https://www.youtube.com/watch?v=wq9SJb8VeyM"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hyperlink" Target="https://www.youtube.com/watch?v=H62Jfv1DJlU"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785A916-8705-4789-91FD-B6AD62310C3E}"/>
              </a:ext>
            </a:extLst>
          </p:cNvPr>
          <p:cNvSpPr txBox="1"/>
          <p:nvPr/>
        </p:nvSpPr>
        <p:spPr>
          <a:xfrm rot="1272087">
            <a:off x="4495369" y="3406693"/>
            <a:ext cx="7854894"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Roboto Mono" panose="00000009000000000000" pitchFamily="50" charset="0"/>
              </a:rPr>
              <a:t>for</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CC7E47"/>
                </a:solidFill>
                <a:effectLst/>
                <a:latin typeface="Roboto Mono" panose="00000009000000000000" pitchFamily="50"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y = -</a:t>
            </a:r>
            <a:r>
              <a:rPr kumimoji="0" lang="de-DE" altLang="de-DE" sz="1600" b="0" i="0" u="none" strike="noStrike" cap="none" normalizeH="0" baseline="0" dirty="0">
                <a:ln>
                  <a:noFill/>
                </a:ln>
                <a:solidFill>
                  <a:srgbClr val="6897BB"/>
                </a:solidFill>
                <a:effectLst/>
                <a:latin typeface="Roboto Mono" panose="00000009000000000000" pitchFamily="50" charset="0"/>
              </a:rPr>
              <a:t>10</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y &lt;= </a:t>
            </a:r>
            <a:r>
              <a:rPr kumimoji="0" lang="de-DE" altLang="de-DE" sz="1600" b="0" i="0" u="none" strike="noStrike" cap="none" normalizeH="0" baseline="0" dirty="0">
                <a:ln>
                  <a:noFill/>
                </a:ln>
                <a:solidFill>
                  <a:srgbClr val="6897BB"/>
                </a:solidFill>
                <a:effectLst/>
                <a:latin typeface="Roboto Mono" panose="00000009000000000000" pitchFamily="50" charset="0"/>
              </a:rPr>
              <a:t>10</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y++</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for</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CC7E47"/>
                </a:solidFill>
                <a:effectLst/>
                <a:latin typeface="Roboto Mono" panose="00000009000000000000" pitchFamily="50"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x = -</a:t>
            </a:r>
            <a:r>
              <a:rPr kumimoji="0" lang="de-DE" altLang="de-DE" sz="1600" b="0" i="0" u="none" strike="noStrike" cap="none" normalizeH="0" baseline="0" dirty="0">
                <a:ln>
                  <a:noFill/>
                </a:ln>
                <a:solidFill>
                  <a:srgbClr val="6897BB"/>
                </a:solidFill>
                <a:effectLst/>
                <a:latin typeface="Roboto Mono" panose="00000009000000000000" pitchFamily="50" charset="0"/>
              </a:rPr>
              <a:t>10</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x &lt;= </a:t>
            </a:r>
            <a:r>
              <a:rPr kumimoji="0" lang="de-DE" altLang="de-DE" sz="1600" b="0" i="0" u="none" strike="noStrike" cap="none" normalizeH="0" baseline="0" dirty="0">
                <a:ln>
                  <a:noFill/>
                </a:ln>
                <a:solidFill>
                  <a:srgbClr val="6897BB"/>
                </a:solidFill>
                <a:effectLst/>
                <a:latin typeface="Roboto Mono" panose="00000009000000000000" pitchFamily="50" charset="0"/>
              </a:rPr>
              <a:t>10</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x++</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5FB1DA"/>
                </a:solidFill>
                <a:effectLst/>
                <a:latin typeface="Roboto Mono" panose="00000009000000000000" pitchFamily="50" charset="0"/>
              </a:rPr>
              <a:t>System</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rPr>
              <a:t>out</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print</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A9B7C6"/>
                </a:solidFill>
                <a:effectLst/>
                <a:latin typeface="Roboto Mono" panose="00000009000000000000" pitchFamily="50" charset="0"/>
              </a:rPr>
              <a:t>x * x + y * y &lt; </a:t>
            </a:r>
            <a:r>
              <a:rPr kumimoji="0" lang="de-DE" altLang="de-DE" sz="1600" b="0" i="0" u="none" strike="noStrike" cap="none" normalizeH="0" baseline="0" dirty="0">
                <a:ln>
                  <a:noFill/>
                </a:ln>
                <a:solidFill>
                  <a:srgbClr val="6897BB"/>
                </a:solidFill>
                <a:effectLst/>
                <a:latin typeface="Roboto Mono" panose="00000009000000000000" pitchFamily="50" charset="0"/>
              </a:rPr>
              <a:t>64 </a:t>
            </a:r>
            <a:r>
              <a:rPr kumimoji="0" lang="de-DE" altLang="de-DE" sz="1600" b="0" i="0" u="none" strike="noStrike" cap="none" normalizeH="0" baseline="0" dirty="0">
                <a:ln>
                  <a:noFill/>
                </a:ln>
                <a:solidFill>
                  <a:srgbClr val="A9B7C6"/>
                </a:solidFill>
                <a:effectLst/>
                <a:latin typeface="Roboto Mono" panose="00000009000000000000" pitchFamily="50" charset="0"/>
              </a:rPr>
              <a:t>? </a:t>
            </a:r>
            <a:r>
              <a:rPr kumimoji="0" lang="de-DE" altLang="de-DE" sz="1600" b="0" i="0" u="none" strike="noStrike" cap="none" normalizeH="0" baseline="0" dirty="0">
                <a:ln>
                  <a:noFill/>
                </a:ln>
                <a:solidFill>
                  <a:srgbClr val="6A8759"/>
                </a:solidFill>
                <a:effectLst/>
                <a:latin typeface="Roboto Mono" panose="00000009000000000000" pitchFamily="50" charset="0"/>
              </a:rPr>
              <a:t>" x " </a:t>
            </a:r>
            <a:r>
              <a:rPr kumimoji="0" lang="de-DE" altLang="de-DE" sz="1600" b="0" i="0" u="none" strike="noStrike" cap="none" normalizeH="0" baseline="0" dirty="0">
                <a:ln>
                  <a:noFill/>
                </a:ln>
                <a:solidFill>
                  <a:srgbClr val="A9B7C6"/>
                </a:solidFill>
                <a:effectLst/>
                <a:latin typeface="Roboto Mono" panose="00000009000000000000" pitchFamily="50" charset="0"/>
              </a:rPr>
              <a:t>: </a:t>
            </a:r>
            <a:r>
              <a:rPr kumimoji="0" lang="de-DE" altLang="de-DE" sz="1600" b="0" i="0" u="none" strike="noStrike" cap="none" normalizeH="0" baseline="0" dirty="0">
                <a:ln>
                  <a:noFill/>
                </a:ln>
                <a:solidFill>
                  <a:srgbClr val="6A8759"/>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5FB1DA"/>
                </a:solidFill>
                <a:effectLst/>
                <a:latin typeface="Roboto Mono" panose="00000009000000000000" pitchFamily="50" charset="0"/>
              </a:rPr>
              <a:t>System</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rPr>
              <a:t>out</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println</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sp>
        <p:nvSpPr>
          <p:cNvPr id="11" name="TextBox 10">
            <a:extLst>
              <a:ext uri="{FF2B5EF4-FFF2-40B4-BE49-F238E27FC236}">
                <a16:creationId xmlns:a16="http://schemas.microsoft.com/office/drawing/2014/main" id="{21EFB1FB-24D0-4C3C-837A-075D7435AE82}"/>
              </a:ext>
            </a:extLst>
          </p:cNvPr>
          <p:cNvSpPr txBox="1"/>
          <p:nvPr/>
        </p:nvSpPr>
        <p:spPr>
          <a:xfrm rot="684757">
            <a:off x="784678" y="5190251"/>
            <a:ext cx="8246455"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a:ln>
                  <a:noFill/>
                </a:ln>
                <a:solidFill>
                  <a:srgbClr val="CC7E47"/>
                </a:solidFill>
                <a:effectLst/>
                <a:latin typeface="Roboto Mono" panose="00000009000000000000" pitchFamily="50" charset="0"/>
              </a:rPr>
              <a:t>private </a:t>
            </a:r>
            <a:r>
              <a:rPr kumimoji="0" lang="de-DE" altLang="de-DE" sz="1600" b="0" i="0" u="none" strike="noStrike" cap="none" normalizeH="0" baseline="0" dirty="0" err="1">
                <a:ln>
                  <a:noFill/>
                </a:ln>
                <a:solidFill>
                  <a:srgbClr val="CC7E47"/>
                </a:solidFill>
                <a:effectLst/>
                <a:latin typeface="Roboto Mono" panose="00000009000000000000" pitchFamily="50" charset="0"/>
              </a:rPr>
              <a:t>void</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D6AF72"/>
                </a:solidFill>
                <a:effectLst/>
                <a:latin typeface="Roboto Mono" panose="00000009000000000000" pitchFamily="50" charset="0"/>
              </a:rPr>
              <a:t>move</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rPr>
              <a:t>Direction</a:t>
            </a:r>
            <a:r>
              <a:rPr kumimoji="0" lang="de-DE" altLang="de-DE" sz="1600" b="0" i="0" u="none" strike="noStrike" cap="none" normalizeH="0" baseline="0" dirty="0">
                <a:ln>
                  <a:noFill/>
                </a:ln>
                <a:solidFill>
                  <a:srgbClr val="5FB1DA"/>
                </a:solidFill>
                <a:effectLst/>
                <a:latin typeface="Roboto Mono" panose="00000009000000000000" pitchFamily="50" charset="0"/>
              </a:rPr>
              <a:t> </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playerPosition</a:t>
            </a:r>
            <a:r>
              <a:rPr kumimoji="0" lang="de-DE" altLang="de-DE" sz="1600" b="0" i="0" u="none" strike="noStrike" cap="none" normalizeH="0" baseline="0" dirty="0">
                <a:ln>
                  <a:noFill/>
                </a:ln>
                <a:solidFill>
                  <a:srgbClr val="9876AA"/>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playerPosition</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add</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getPosition</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points</a:t>
            </a:r>
            <a:r>
              <a:rPr kumimoji="0" lang="de-DE" altLang="de-DE" sz="1600" b="0" i="0" u="none" strike="noStrike" cap="none" normalizeH="0" baseline="0" dirty="0">
                <a:ln>
                  <a:noFill/>
                </a:ln>
                <a:solidFill>
                  <a:srgbClr val="9876AA"/>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fields</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get</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9876AA"/>
                </a:solidFill>
                <a:effectLst/>
                <a:latin typeface="Roboto Mono" panose="00000009000000000000" pitchFamily="50" charset="0"/>
              </a:rPr>
              <a:t>playerPosition</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getPoints</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fields</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put</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9876AA"/>
                </a:solidFill>
                <a:effectLst/>
                <a:latin typeface="Roboto Mono" panose="00000009000000000000" pitchFamily="50" charset="0"/>
              </a:rPr>
              <a:t>playerPosition</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5FB1DA"/>
                </a:solidFill>
                <a:effectLst/>
                <a:latin typeface="Roboto Mono" panose="00000009000000000000" pitchFamily="50" charset="0"/>
              </a:rPr>
              <a:t>Field</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rPr>
              <a:t>NEUTRAL</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sp>
        <p:nvSpPr>
          <p:cNvPr id="8" name="TextBox 7">
            <a:extLst>
              <a:ext uri="{FF2B5EF4-FFF2-40B4-BE49-F238E27FC236}">
                <a16:creationId xmlns:a16="http://schemas.microsoft.com/office/drawing/2014/main" id="{132A2713-15B6-4062-AADA-FFE41E8D5591}"/>
              </a:ext>
            </a:extLst>
          </p:cNvPr>
          <p:cNvSpPr txBox="1"/>
          <p:nvPr/>
        </p:nvSpPr>
        <p:spPr>
          <a:xfrm rot="20631408">
            <a:off x="554507" y="357691"/>
            <a:ext cx="7622919"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Roboto Mono" panose="00000009000000000000" pitchFamily="50"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void</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D6AF72"/>
                </a:solidFill>
                <a:effectLst/>
                <a:latin typeface="Roboto Mono" panose="00000009000000000000" pitchFamily="50" charset="0"/>
              </a:rPr>
              <a:t>update</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if</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A9B7C6"/>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isPlayerAlive</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return</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for</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rPr>
              <a:t>Direction</a:t>
            </a:r>
            <a:r>
              <a:rPr kumimoji="0" lang="de-DE" altLang="de-DE" sz="1600" b="0" i="0" u="none" strike="noStrike" cap="none" normalizeH="0" baseline="0" dirty="0">
                <a:ln>
                  <a:noFill/>
                </a:ln>
                <a:solidFill>
                  <a:srgbClr val="5FB1DA"/>
                </a:solidFill>
                <a:effectLst/>
                <a:latin typeface="Roboto Mono" panose="00000009000000000000" pitchFamily="50" charset="0"/>
              </a:rPr>
              <a:t> </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a:ln>
                  <a:noFill/>
                </a:ln>
                <a:solidFill>
                  <a:srgbClr val="A9B7C6"/>
                </a:solidFill>
                <a:effectLst/>
                <a:latin typeface="Roboto Mono" panose="00000009000000000000" pitchFamily="50" charset="0"/>
              </a:rPr>
              <a:t> : </a:t>
            </a:r>
            <a:r>
              <a:rPr kumimoji="0" lang="de-DE" altLang="de-DE" sz="1600" b="0" i="0" u="none" strike="noStrike" cap="none" normalizeH="0" baseline="0" dirty="0" err="1">
                <a:ln>
                  <a:noFill/>
                </a:ln>
                <a:solidFill>
                  <a:srgbClr val="5FB1DA"/>
                </a:solidFill>
                <a:effectLst/>
                <a:latin typeface="Roboto Mono" panose="00000009000000000000" pitchFamily="50" charset="0"/>
              </a:rPr>
              <a:t>Direction</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AA7876"/>
                </a:solidFill>
                <a:effectLst/>
                <a:latin typeface="Roboto Mono" panose="00000009000000000000" pitchFamily="50" charset="0"/>
              </a:rPr>
              <a:t>values</a:t>
            </a:r>
            <a:r>
              <a:rPr kumimoji="0" lang="de-DE" altLang="de-DE" sz="1600" b="0" i="0" u="none" strike="noStrike" cap="none" normalizeH="0" baseline="0" dirty="0">
                <a:ln>
                  <a:noFill/>
                </a:ln>
                <a:solidFill>
                  <a:srgbClr val="B0BA8C"/>
                </a:solidFill>
                <a:effectLst/>
                <a:latin typeface="Roboto Mono" panose="00000009000000000000" pitchFamily="50" charset="0"/>
              </a:rPr>
              <a:t>())</a:t>
            </a:r>
            <a:br>
              <a:rPr kumimoji="0" lang="de-DE" altLang="de-DE" sz="1600" b="0" i="0" u="none" strike="noStrike" cap="none" normalizeH="0" baseline="0" dirty="0">
                <a:ln>
                  <a:noFill/>
                </a:ln>
                <a:solidFill>
                  <a:srgbClr val="B0BA8C"/>
                </a:solidFill>
                <a:effectLst/>
                <a:latin typeface="Roboto Mono" panose="00000009000000000000" pitchFamily="50" charset="0"/>
              </a:rPr>
            </a:b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if</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rPr>
              <a:t>Gdx</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rPr>
              <a:t>input</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isKeyJustPressed</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getKey</a:t>
            </a:r>
            <a:r>
              <a:rPr kumimoji="0" lang="de-DE" altLang="de-DE" sz="1600" b="0" i="0" u="none" strike="noStrike" cap="none" normalizeH="0" baseline="0" dirty="0">
                <a:ln>
                  <a:noFill/>
                </a:ln>
                <a:solidFill>
                  <a:srgbClr val="B0BA8C"/>
                </a:solidFill>
                <a:effectLst/>
                <a:latin typeface="Roboto Mono" panose="00000009000000000000" pitchFamily="50" charset="0"/>
              </a:rPr>
              <a:t>()))</a:t>
            </a:r>
            <a:br>
              <a:rPr kumimoji="0" lang="de-DE" altLang="de-DE" sz="1600" b="0" i="0" u="none" strike="noStrike" cap="none" normalizeH="0" baseline="0" dirty="0">
                <a:ln>
                  <a:noFill/>
                </a:ln>
                <a:solidFill>
                  <a:srgbClr val="B0BA8C"/>
                </a:solidFill>
                <a:effectLst/>
                <a:latin typeface="Roboto Mono" panose="00000009000000000000" pitchFamily="50" charset="0"/>
              </a:rPr>
            </a:b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err="1">
                <a:ln>
                  <a:noFill/>
                </a:ln>
                <a:solidFill>
                  <a:srgbClr val="B9C7A6"/>
                </a:solidFill>
                <a:effectLst/>
                <a:latin typeface="Roboto Mono" panose="00000009000000000000" pitchFamily="50" charset="0"/>
              </a:rPr>
              <a:t>move</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1C4FE5F9-987A-4C79-96C0-D4DAF6269162}"/>
              </a:ext>
            </a:extLst>
          </p:cNvPr>
          <p:cNvSpPr>
            <a:spLocks noGrp="1"/>
          </p:cNvSpPr>
          <p:nvPr>
            <p:ph type="ctrTitle"/>
          </p:nvPr>
        </p:nvSpPr>
        <p:spPr>
          <a:xfrm>
            <a:off x="899852" y="2411465"/>
            <a:ext cx="10392295" cy="1012090"/>
          </a:xfrm>
          <a:solidFill>
            <a:schemeClr val="bg1">
              <a:alpha val="75000"/>
            </a:schemeClr>
          </a:solidFill>
        </p:spPr>
        <p:txBody>
          <a:bodyPr>
            <a:noAutofit/>
          </a:bodyPr>
          <a:lstStyle/>
          <a:p>
            <a:r>
              <a:rPr lang="de-DE" sz="4800" dirty="0">
                <a:cs typeface="Segoe UI" panose="020B0502040204020203" pitchFamily="34" charset="0"/>
              </a:rPr>
              <a:t>Eigene Projekte mit Java entwickeln</a:t>
            </a:r>
          </a:p>
        </p:txBody>
      </p:sp>
      <p:sp>
        <p:nvSpPr>
          <p:cNvPr id="3" name="Subtitle 2">
            <a:extLst>
              <a:ext uri="{FF2B5EF4-FFF2-40B4-BE49-F238E27FC236}">
                <a16:creationId xmlns:a16="http://schemas.microsoft.com/office/drawing/2014/main" id="{AF5A2686-A781-4544-B353-C9A1F758E48A}"/>
              </a:ext>
            </a:extLst>
          </p:cNvPr>
          <p:cNvSpPr>
            <a:spLocks noGrp="1"/>
          </p:cNvSpPr>
          <p:nvPr>
            <p:ph type="subTitle" idx="1"/>
          </p:nvPr>
        </p:nvSpPr>
        <p:spPr>
          <a:xfrm>
            <a:off x="4307219" y="3489191"/>
            <a:ext cx="3577559" cy="702333"/>
          </a:xfrm>
          <a:solidFill>
            <a:schemeClr val="bg1">
              <a:alpha val="75000"/>
            </a:schemeClr>
          </a:solidFill>
        </p:spPr>
        <p:txBody>
          <a:bodyPr>
            <a:normAutofit/>
          </a:bodyPr>
          <a:lstStyle/>
          <a:p>
            <a:r>
              <a:rPr lang="de-DE" dirty="0">
                <a:solidFill>
                  <a:srgbClr val="F2F5FA"/>
                </a:solidFill>
              </a:rPr>
              <a:t>Willkommen</a:t>
            </a:r>
          </a:p>
        </p:txBody>
      </p:sp>
      <p:pic>
        <p:nvPicPr>
          <p:cNvPr id="9" name="Picture 8">
            <a:hlinkClick r:id="rId2"/>
            <a:extLst>
              <a:ext uri="{FF2B5EF4-FFF2-40B4-BE49-F238E27FC236}">
                <a16:creationId xmlns:a16="http://schemas.microsoft.com/office/drawing/2014/main" id="{720EDD69-8336-4AFF-9A22-7F921024C1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68000" y="701"/>
            <a:ext cx="1524000" cy="1524000"/>
          </a:xfrm>
          <a:prstGeom prst="rect">
            <a:avLst/>
          </a:prstGeom>
        </p:spPr>
      </p:pic>
    </p:spTree>
    <p:extLst>
      <p:ext uri="{BB962C8B-B14F-4D97-AF65-F5344CB8AC3E}">
        <p14:creationId xmlns:p14="http://schemas.microsoft.com/office/powerpoint/2010/main" val="3541638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E1ABEA-8933-B02D-7D02-97577915488C}"/>
              </a:ext>
            </a:extLst>
          </p:cNvPr>
          <p:cNvSpPr>
            <a:spLocks noGrp="1"/>
          </p:cNvSpPr>
          <p:nvPr>
            <p:ph type="title"/>
          </p:nvPr>
        </p:nvSpPr>
        <p:spPr/>
        <p:txBody>
          <a:bodyPr/>
          <a:lstStyle/>
          <a:p>
            <a:r>
              <a:rPr lang="de-DE" dirty="0">
                <a:solidFill>
                  <a:schemeClr val="tx1"/>
                </a:solidFill>
              </a:rPr>
              <a:t>Codeschnipsel</a:t>
            </a:r>
          </a:p>
        </p:txBody>
      </p:sp>
      <p:sp>
        <p:nvSpPr>
          <p:cNvPr id="10" name="Textfeld 9">
            <a:extLst>
              <a:ext uri="{FF2B5EF4-FFF2-40B4-BE49-F238E27FC236}">
                <a16:creationId xmlns:a16="http://schemas.microsoft.com/office/drawing/2014/main" id="{CD0659A2-504B-2805-83FA-4F9323609A2F}"/>
              </a:ext>
            </a:extLst>
          </p:cNvPr>
          <p:cNvSpPr txBox="1"/>
          <p:nvPr/>
        </p:nvSpPr>
        <p:spPr>
          <a:xfrm>
            <a:off x="838200" y="1690688"/>
            <a:ext cx="10515600" cy="397031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1" u="none" strike="noStrike" cap="none" normalizeH="0" baseline="0" dirty="0">
                <a:ln>
                  <a:noFill/>
                </a:ln>
                <a:solidFill>
                  <a:srgbClr val="479834"/>
                </a:solidFill>
                <a:effectLst/>
                <a:latin typeface="Roboto Mono" panose="00000009000000000000" pitchFamily="50" charset="0"/>
                <a:ea typeface="Roboto Mono" panose="00000009000000000000" pitchFamily="50" charset="0"/>
                <a:cs typeface="JetBrains Mono" panose="02000009000000000000" pitchFamily="49" charset="0"/>
              </a:rPr>
              <a:t>/** Die Start-Methode */</a:t>
            </a:r>
            <a:br>
              <a:rPr kumimoji="0" lang="de-DE" altLang="de-DE" sz="1800" b="0" i="1" u="none" strike="noStrike" cap="none" normalizeH="0" baseline="0" dirty="0">
                <a:ln>
                  <a:noFill/>
                </a:ln>
                <a:solidFill>
                  <a:srgbClr val="479834"/>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ea typeface="Roboto Mono" panose="00000009000000000000" pitchFamily="50" charset="0"/>
                <a:cs typeface="JetBrains Mono" panose="02000009000000000000" pitchFamily="49"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Hier beginnt das Programm.</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 Schreibe die Befehle </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in die geschweiften Klammern der Methode</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lang="de-DE" altLang="de-DE" dirty="0">
              <a:solidFill>
                <a:srgbClr val="507874"/>
              </a:solidFill>
              <a:latin typeface="Roboto Mono" panose="00000009000000000000" pitchFamily="50" charset="0"/>
              <a:ea typeface="Roboto Mono" panose="00000009000000000000" pitchFamily="50" charset="0"/>
              <a:cs typeface="JetBrains Mono" panose="02000009000000000000"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Etwas in der </a:t>
            </a:r>
            <a:r>
              <a:rPr kumimoji="0" lang="de-DE" altLang="de-DE" sz="1800" b="0" i="0" u="none" strike="noStrike" cap="none" normalizeH="0" baseline="0" dirty="0">
                <a:ln>
                  <a:noFill/>
                </a:ln>
                <a:solidFill>
                  <a:srgbClr val="FFCCFF"/>
                </a:solidFill>
                <a:effectLst/>
                <a:latin typeface="Roboto Mono" panose="00000009000000000000" pitchFamily="50" charset="0"/>
                <a:ea typeface="Roboto Mono" panose="00000009000000000000" pitchFamily="50" charset="0"/>
                <a:cs typeface="JetBrains Mono" panose="02000009000000000000" pitchFamily="49" charset="0"/>
              </a:rPr>
              <a:t>Konsole</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ausgeben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ea typeface="Roboto Mono" panose="00000009000000000000" pitchFamily="50" charset="0"/>
                <a:cs typeface="JetBrains Mono" panose="02000009000000000000"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ea typeface="Roboto Mono" panose="00000009000000000000" pitchFamily="50" charset="0"/>
                <a:cs typeface="JetBrains Mono" panose="02000009000000000000"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lang="de-DE" altLang="de-DE" dirty="0">
                <a:solidFill>
                  <a:srgbClr val="808080"/>
                </a:solidFill>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Hier Ausdruck eingeben */</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Rechnen mit Zahlen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3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4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8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10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2</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FFCCFF"/>
                </a:solidFill>
                <a:effectLst/>
                <a:latin typeface="Roboto Mono" panose="00000009000000000000" pitchFamily="50" charset="0"/>
                <a:ea typeface="Roboto Mono" panose="00000009000000000000" pitchFamily="50" charset="0"/>
                <a:cs typeface="JetBrains Mono" panose="02000009000000000000" pitchFamily="49" charset="0"/>
              </a:rPr>
              <a:t>String</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s erstellen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6A8759"/>
                </a:solidFill>
                <a:effectLst/>
                <a:latin typeface="Roboto Mono" panose="00000009000000000000" pitchFamily="50" charset="0"/>
                <a:ea typeface="Roboto Mono" panose="00000009000000000000" pitchFamily="50" charset="0"/>
                <a:cs typeface="JetBrains Mono" panose="02000009000000000000" pitchFamily="49" charset="0"/>
              </a:rPr>
              <a:t>"Willkommen in meinem Spiel!"</a:t>
            </a:r>
            <a:endPar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endParaRPr>
          </a:p>
        </p:txBody>
      </p:sp>
      <p:pic>
        <p:nvPicPr>
          <p:cNvPr id="4" name="Graphic 3" descr="Puzzle pieces with solid fill">
            <a:extLst>
              <a:ext uri="{FF2B5EF4-FFF2-40B4-BE49-F238E27FC236}">
                <a16:creationId xmlns:a16="http://schemas.microsoft.com/office/drawing/2014/main" id="{C2313FBD-0369-487A-A48A-00333C9F9F5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621371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CD9E8-30B5-44AF-B60E-B4E2D5D481CD}"/>
              </a:ext>
            </a:extLst>
          </p:cNvPr>
          <p:cNvSpPr>
            <a:spLocks noGrp="1"/>
          </p:cNvSpPr>
          <p:nvPr>
            <p:ph type="title"/>
          </p:nvPr>
        </p:nvSpPr>
        <p:spPr/>
        <p:txBody>
          <a:bodyPr/>
          <a:lstStyle/>
          <a:p>
            <a:r>
              <a:rPr lang="de-DE" dirty="0"/>
              <a:t>Kommentare</a:t>
            </a:r>
          </a:p>
        </p:txBody>
      </p:sp>
      <p:sp>
        <p:nvSpPr>
          <p:cNvPr id="3" name="Content Placeholder 2">
            <a:extLst>
              <a:ext uri="{FF2B5EF4-FFF2-40B4-BE49-F238E27FC236}">
                <a16:creationId xmlns:a16="http://schemas.microsoft.com/office/drawing/2014/main" id="{8074B2BA-E767-4290-8CCD-0C6E00515369}"/>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Ich bin ein Kommentar. Ich werde nicht ausgeführt.</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Ich bin ein langer Kommentar, der</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sich über mehrere Zeilen erstreckt.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Ich werde auch nicht ausgeführt.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p>
        </p:txBody>
      </p:sp>
      <p:pic>
        <p:nvPicPr>
          <p:cNvPr id="10" name="Graphic 9" descr="Document with solid fill">
            <a:extLst>
              <a:ext uri="{FF2B5EF4-FFF2-40B4-BE49-F238E27FC236}">
                <a16:creationId xmlns:a16="http://schemas.microsoft.com/office/drawing/2014/main" id="{C313E765-654D-4E54-8809-962DF49A2EC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72153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D8BC0-E2AA-4270-BEDC-AFC6DE85ACF8}"/>
              </a:ext>
            </a:extLst>
          </p:cNvPr>
          <p:cNvSpPr>
            <a:spLocks noGrp="1"/>
          </p:cNvSpPr>
          <p:nvPr>
            <p:ph type="title"/>
          </p:nvPr>
        </p:nvSpPr>
        <p:spPr/>
        <p:txBody>
          <a:bodyPr/>
          <a:lstStyle/>
          <a:p>
            <a:r>
              <a:rPr lang="de-DE" dirty="0">
                <a:cs typeface="Mongolian Baiti" panose="03000500000000000000" pitchFamily="66" charset="0"/>
              </a:rPr>
              <a:t>Syntax vs. Semantik</a:t>
            </a:r>
          </a:p>
        </p:txBody>
      </p:sp>
      <p:sp>
        <p:nvSpPr>
          <p:cNvPr id="3" name="Content Placeholder 2">
            <a:extLst>
              <a:ext uri="{FF2B5EF4-FFF2-40B4-BE49-F238E27FC236}">
                <a16:creationId xmlns:a16="http://schemas.microsoft.com/office/drawing/2014/main" id="{5C35158D-7441-46F4-8A2E-FBCF92FD985B}"/>
              </a:ext>
            </a:extLst>
          </p:cNvPr>
          <p:cNvSpPr>
            <a:spLocks noGrp="1"/>
          </p:cNvSpPr>
          <p:nvPr>
            <p:ph idx="1"/>
          </p:nvPr>
        </p:nvSpPr>
        <p:spPr/>
        <p:txBody>
          <a:bodyPr/>
          <a:lstStyle/>
          <a:p>
            <a:r>
              <a:rPr lang="de-DE" dirty="0">
                <a:ea typeface="Open Sans" pitchFamily="2" charset="0"/>
                <a:cs typeface="Open Sans" pitchFamily="2" charset="0"/>
              </a:rPr>
              <a:t>Syntax</a:t>
            </a:r>
          </a:p>
          <a:p>
            <a:pPr lvl="1"/>
            <a:r>
              <a:rPr lang="de-DE" dirty="0">
                <a:ea typeface="Open Sans" pitchFamily="2" charset="0"/>
                <a:cs typeface="Open Sans" pitchFamily="2" charset="0"/>
              </a:rPr>
              <a:t>Wie ist ein Programm aufgebaut?</a:t>
            </a:r>
          </a:p>
          <a:p>
            <a:pPr lvl="1"/>
            <a:r>
              <a:rPr lang="de-DE" dirty="0">
                <a:ea typeface="Open Sans" pitchFamily="2" charset="0"/>
                <a:cs typeface="Open Sans" pitchFamily="2" charset="0"/>
              </a:rPr>
              <a:t>Wie lässt sich Code zusammensetzen?</a:t>
            </a:r>
          </a:p>
          <a:p>
            <a:r>
              <a:rPr lang="de-DE" dirty="0">
                <a:ea typeface="Open Sans" pitchFamily="2" charset="0"/>
                <a:cs typeface="Open Sans" pitchFamily="2" charset="0"/>
              </a:rPr>
              <a:t>Semantik</a:t>
            </a:r>
          </a:p>
          <a:p>
            <a:pPr lvl="1"/>
            <a:r>
              <a:rPr lang="de-DE" dirty="0">
                <a:ea typeface="Open Sans" pitchFamily="2" charset="0"/>
                <a:cs typeface="Open Sans" pitchFamily="2" charset="0"/>
              </a:rPr>
              <a:t>Was tut das Programm?</a:t>
            </a:r>
          </a:p>
          <a:p>
            <a:pPr lvl="1"/>
            <a:r>
              <a:rPr lang="de-DE" dirty="0">
                <a:ea typeface="Open Sans" pitchFamily="2" charset="0"/>
                <a:cs typeface="Open Sans" pitchFamily="2" charset="0"/>
              </a:rPr>
              <a:t>Was bedeuten die Codeteile für die Ausführung?</a:t>
            </a:r>
          </a:p>
        </p:txBody>
      </p:sp>
    </p:spTree>
    <p:extLst>
      <p:ext uri="{BB962C8B-B14F-4D97-AF65-F5344CB8AC3E}">
        <p14:creationId xmlns:p14="http://schemas.microsoft.com/office/powerpoint/2010/main" val="2042791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A6B31-5FCD-4D07-A8E6-7338067BF7B9}"/>
              </a:ext>
            </a:extLst>
          </p:cNvPr>
          <p:cNvSpPr>
            <a:spLocks noGrp="1"/>
          </p:cNvSpPr>
          <p:nvPr>
            <p:ph type="title"/>
          </p:nvPr>
        </p:nvSpPr>
        <p:spPr/>
        <p:txBody>
          <a:bodyPr/>
          <a:lstStyle/>
          <a:p>
            <a:r>
              <a:rPr lang="de-DE" dirty="0"/>
              <a:t>Start-Methode</a:t>
            </a:r>
          </a:p>
        </p:txBody>
      </p:sp>
      <p:sp>
        <p:nvSpPr>
          <p:cNvPr id="3" name="Content Placeholder 2">
            <a:extLst>
              <a:ext uri="{FF2B5EF4-FFF2-40B4-BE49-F238E27FC236}">
                <a16:creationId xmlns:a16="http://schemas.microsoft.com/office/drawing/2014/main" id="{D3756569-9C32-45CD-A2F0-3E5CA28EF9FC}"/>
              </a:ext>
            </a:extLst>
          </p:cNvPr>
          <p:cNvSpPr>
            <a:spLocks noGrp="1"/>
          </p:cNvSpPr>
          <p:nvPr>
            <p:ph idx="1"/>
          </p:nvPr>
        </p:nvSpPr>
        <p:spPr/>
        <p:txBody>
          <a:bodyPr>
            <a:normAutofit/>
          </a:bodyPr>
          <a:lstStyle/>
          <a:p>
            <a:pPr marL="0" indent="0">
              <a:buNone/>
            </a:pPr>
            <a:r>
              <a:rPr kumimoji="0" lang="de-DE" altLang="de-DE" sz="1800" b="0" i="1" u="none" strike="noStrike" cap="none" normalizeH="0" baseline="0" dirty="0">
                <a:ln>
                  <a:noFill/>
                </a:ln>
                <a:solidFill>
                  <a:srgbClr val="479834"/>
                </a:solidFill>
                <a:effectLst/>
                <a:latin typeface="Roboto Mono" panose="00000009000000000000" pitchFamily="50" charset="0"/>
              </a:rPr>
              <a: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Ich bin </a:t>
            </a:r>
            <a:r>
              <a:rPr kumimoji="0" lang="de-DE" altLang="de-DE" sz="1800" b="0" i="1" u="none" strike="noStrike" cap="none" normalizeH="0" baseline="0" dirty="0" err="1">
                <a:ln>
                  <a:noFill/>
                </a:ln>
                <a:solidFill>
                  <a:srgbClr val="FFCCFF"/>
                </a:solidFill>
                <a:effectLst/>
                <a:latin typeface="Roboto Mono" panose="00000009000000000000" pitchFamily="50" charset="0"/>
              </a:rPr>
              <a:t>JavaDoc</a:t>
            </a:r>
            <a:r>
              <a:rPr kumimoji="0" lang="de-DE" altLang="de-DE" sz="1800" b="0" i="1" u="none" strike="noStrike" cap="none" normalizeH="0" baseline="0" dirty="0">
                <a:ln>
                  <a:noFill/>
                </a:ln>
                <a:solidFill>
                  <a:srgbClr val="479834"/>
                </a:solidFill>
                <a:effectLst/>
                <a:latin typeface="Roboto Mono" panose="00000009000000000000" pitchFamily="50" charset="0"/>
              </a:rPr>
              <a:t>. Ich erkläre den Zweck von Programmbestandteilen.</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Die Start-Methode wird beim Start des Programms ausgeführt.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a:t>
            </a:r>
            <a:r>
              <a:rPr kumimoji="0" lang="de-DE" altLang="de-DE" sz="1800" b="1" i="1" u="none" strike="noStrike" cap="none" normalizeH="0" baseline="0" dirty="0">
                <a:ln>
                  <a:noFill/>
                </a:ln>
                <a:solidFill>
                  <a:srgbClr val="8B7775"/>
                </a:solidFill>
                <a:effectLst/>
                <a:latin typeface="Roboto Mono" panose="00000009000000000000" pitchFamily="50" charset="0"/>
              </a:rPr>
              <a:t>@param </a:t>
            </a:r>
            <a:r>
              <a:rPr kumimoji="0" lang="de-DE" altLang="de-DE" sz="1800" b="0" i="1" u="none" strike="noStrike" cap="none" normalizeH="0" baseline="0" dirty="0" err="1">
                <a:ln>
                  <a:noFill/>
                </a:ln>
                <a:solidFill>
                  <a:srgbClr val="8A653B"/>
                </a:solidFill>
                <a:effectLst/>
                <a:latin typeface="Roboto Mono" panose="00000009000000000000" pitchFamily="50" charset="0"/>
              </a:rPr>
              <a:t>args</a:t>
            </a:r>
            <a:r>
              <a:rPr kumimoji="0" lang="de-DE" altLang="de-DE" sz="1800" b="0" i="1" u="none" strike="noStrike" cap="none" normalizeH="0" baseline="0" dirty="0">
                <a:ln>
                  <a:noFill/>
                </a:ln>
                <a:solidFill>
                  <a:srgbClr val="8A653B"/>
                </a:solidFill>
                <a:effectLst/>
                <a:latin typeface="Roboto Mono" panose="00000009000000000000" pitchFamily="50" charset="0"/>
              </a:rPr>
              <a:t> </a:t>
            </a:r>
            <a:r>
              <a:rPr kumimoji="0" lang="de-DE" altLang="de-DE" sz="1800" b="0" i="1" u="none" strike="noStrike" cap="none" normalizeH="0" baseline="0" dirty="0">
                <a:ln>
                  <a:noFill/>
                </a:ln>
                <a:solidFill>
                  <a:srgbClr val="479834"/>
                </a:solidFill>
                <a:effectLst/>
                <a:latin typeface="Roboto Mono" panose="00000009000000000000" pitchFamily="50" charset="0"/>
              </a:rPr>
              <a:t>Kommandozeilen-Argumente für den Start des Programms.</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Wir verwenden sie nicht.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Hier stehen die Befehle, die das Programm ausführen soll.</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sz="1800" dirty="0">
              <a:latin typeface="Roboto Mono" panose="00000009000000000000" pitchFamily="50" charset="0"/>
            </a:endParaRPr>
          </a:p>
        </p:txBody>
      </p:sp>
      <p:pic>
        <p:nvPicPr>
          <p:cNvPr id="7" name="Graphic 6" descr="Document with solid fill">
            <a:extLst>
              <a:ext uri="{FF2B5EF4-FFF2-40B4-BE49-F238E27FC236}">
                <a16:creationId xmlns:a16="http://schemas.microsoft.com/office/drawing/2014/main" id="{FF2EF9BC-AF08-4EFF-A3BD-CCFB337E779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6770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00A921-FD2E-4E02-8749-350D748DA2D0}"/>
              </a:ext>
            </a:extLst>
          </p:cNvPr>
          <p:cNvSpPr>
            <a:spLocks noGrp="1"/>
          </p:cNvSpPr>
          <p:nvPr>
            <p:ph type="title"/>
          </p:nvPr>
        </p:nvSpPr>
        <p:spPr/>
        <p:txBody>
          <a:bodyPr/>
          <a:lstStyle/>
          <a:p>
            <a:r>
              <a:rPr lang="de-DE" dirty="0"/>
              <a:t>Befehle</a:t>
            </a:r>
          </a:p>
        </p:txBody>
      </p:sp>
      <p:sp>
        <p:nvSpPr>
          <p:cNvPr id="3" name="Inhaltsplatzhalter 2">
            <a:extLst>
              <a:ext uri="{FF2B5EF4-FFF2-40B4-BE49-F238E27FC236}">
                <a16:creationId xmlns:a16="http://schemas.microsoft.com/office/drawing/2014/main" id="{C0226CAA-8D44-45E5-B9BA-E2CDBE0D50D9}"/>
              </a:ext>
            </a:extLst>
          </p:cNvPr>
          <p:cNvSpPr>
            <a:spLocks noGrp="1"/>
          </p:cNvSpPr>
          <p:nvPr>
            <p:ph idx="1"/>
          </p:nvPr>
        </p:nvSpPr>
        <p:spPr/>
        <p:txBody>
          <a:bodyPr/>
          <a:lstStyle/>
          <a:p>
            <a:r>
              <a:rPr lang="de-DE" dirty="0"/>
              <a:t>Java ist </a:t>
            </a:r>
            <a:r>
              <a:rPr lang="de-DE" dirty="0">
                <a:solidFill>
                  <a:srgbClr val="FFCCFF"/>
                </a:solidFill>
              </a:rPr>
              <a:t>imperativ</a:t>
            </a:r>
            <a:r>
              <a:rPr lang="de-DE" dirty="0"/>
              <a:t>, besteht also aus Befehlen.</a:t>
            </a:r>
          </a:p>
          <a:p>
            <a:r>
              <a:rPr lang="de-DE" dirty="0"/>
              <a:t>Befehle enden immer mit einem </a:t>
            </a:r>
            <a:r>
              <a:rPr lang="de-DE" dirty="0">
                <a:solidFill>
                  <a:srgbClr val="FFCCFF"/>
                </a:solidFill>
              </a:rPr>
              <a:t>Semikolon</a:t>
            </a:r>
            <a:r>
              <a:rPr lang="de-DE" dirty="0"/>
              <a:t> (</a:t>
            </a:r>
            <a:r>
              <a:rPr kumimoji="0" lang="de-DE" altLang="de-DE" sz="2800" b="0" i="0" u="none" strike="noStrike" cap="none" normalizeH="0" baseline="0" dirty="0">
                <a:ln>
                  <a:noFill/>
                </a:ln>
                <a:solidFill>
                  <a:srgbClr val="CC7E47"/>
                </a:solidFill>
                <a:effectLst/>
                <a:latin typeface="Roboto Mono" panose="00000009000000000000" pitchFamily="50" charset="0"/>
              </a:rPr>
              <a:t>;</a:t>
            </a:r>
            <a:r>
              <a:rPr lang="de-DE" dirty="0"/>
              <a:t>).</a:t>
            </a:r>
          </a:p>
          <a:p>
            <a:r>
              <a:rPr lang="de-DE" dirty="0">
                <a:solidFill>
                  <a:srgbClr val="E6E6E6"/>
                </a:solidFill>
              </a:rPr>
              <a:t>Befehle</a:t>
            </a:r>
            <a:r>
              <a:rPr lang="de-DE" dirty="0"/>
              <a:t> werden von oben nach unten und von links nach rechts ausgeführt.</a:t>
            </a:r>
          </a:p>
          <a:p>
            <a:pPr lvl="1"/>
            <a:r>
              <a:rPr lang="de-DE" dirty="0"/>
              <a:t>So, wie wir auch Text lesen.</a:t>
            </a:r>
          </a:p>
          <a:p>
            <a:pPr lvl="1"/>
            <a:r>
              <a:rPr lang="de-DE" dirty="0">
                <a:hlinkClick r:id="rId2" action="ppaction://hlinksldjump"/>
              </a:rPr>
              <a:t>Ausnahmen</a:t>
            </a:r>
            <a:r>
              <a:rPr lang="de-DE" dirty="0"/>
              <a:t> besprechen wir später</a:t>
            </a:r>
          </a:p>
        </p:txBody>
      </p:sp>
      <p:cxnSp>
        <p:nvCxnSpPr>
          <p:cNvPr id="5" name="Straight Arrow Connector 4">
            <a:extLst>
              <a:ext uri="{FF2B5EF4-FFF2-40B4-BE49-F238E27FC236}">
                <a16:creationId xmlns:a16="http://schemas.microsoft.com/office/drawing/2014/main" id="{8B738B5E-CD93-48F5-82EA-B80E27F1A97F}"/>
              </a:ext>
            </a:extLst>
          </p:cNvPr>
          <p:cNvCxnSpPr>
            <a:cxnSpLocks/>
          </p:cNvCxnSpPr>
          <p:nvPr/>
        </p:nvCxnSpPr>
        <p:spPr>
          <a:xfrm>
            <a:off x="8229600" y="40233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27FB8E3-30BB-4723-8657-2894BFE0A8AA}"/>
              </a:ext>
            </a:extLst>
          </p:cNvPr>
          <p:cNvCxnSpPr>
            <a:cxnSpLocks/>
          </p:cNvCxnSpPr>
          <p:nvPr/>
        </p:nvCxnSpPr>
        <p:spPr>
          <a:xfrm>
            <a:off x="8229600" y="42062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DDF1088-21F6-401F-8CDC-03B7B98B0583}"/>
              </a:ext>
            </a:extLst>
          </p:cNvPr>
          <p:cNvCxnSpPr>
            <a:cxnSpLocks/>
          </p:cNvCxnSpPr>
          <p:nvPr/>
        </p:nvCxnSpPr>
        <p:spPr>
          <a:xfrm>
            <a:off x="8229600" y="43891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73F42C7-4BBF-4EA9-96D2-4D11A640314F}"/>
              </a:ext>
            </a:extLst>
          </p:cNvPr>
          <p:cNvCxnSpPr>
            <a:cxnSpLocks/>
          </p:cNvCxnSpPr>
          <p:nvPr/>
        </p:nvCxnSpPr>
        <p:spPr>
          <a:xfrm>
            <a:off x="8229600" y="45720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E383BE6-20BE-41DF-9406-EA62C7C18B29}"/>
              </a:ext>
            </a:extLst>
          </p:cNvPr>
          <p:cNvCxnSpPr>
            <a:cxnSpLocks/>
          </p:cNvCxnSpPr>
          <p:nvPr/>
        </p:nvCxnSpPr>
        <p:spPr>
          <a:xfrm>
            <a:off x="8229600" y="47548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D74CF1F-390A-4ACE-9062-46229BE1B7AD}"/>
              </a:ext>
            </a:extLst>
          </p:cNvPr>
          <p:cNvCxnSpPr>
            <a:cxnSpLocks/>
          </p:cNvCxnSpPr>
          <p:nvPr/>
        </p:nvCxnSpPr>
        <p:spPr>
          <a:xfrm>
            <a:off x="8229600" y="49377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29642B1-B3CF-460B-A6B7-FFB3FD8D10D3}"/>
              </a:ext>
            </a:extLst>
          </p:cNvPr>
          <p:cNvCxnSpPr>
            <a:cxnSpLocks/>
          </p:cNvCxnSpPr>
          <p:nvPr/>
        </p:nvCxnSpPr>
        <p:spPr>
          <a:xfrm>
            <a:off x="8229600" y="51206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F1F04949-FE98-49DA-81CC-D617831C594C}"/>
              </a:ext>
            </a:extLst>
          </p:cNvPr>
          <p:cNvCxnSpPr>
            <a:cxnSpLocks/>
          </p:cNvCxnSpPr>
          <p:nvPr/>
        </p:nvCxnSpPr>
        <p:spPr>
          <a:xfrm>
            <a:off x="8229600" y="53035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EE3F85F-EED7-4580-A571-A222856C6284}"/>
              </a:ext>
            </a:extLst>
          </p:cNvPr>
          <p:cNvCxnSpPr>
            <a:cxnSpLocks/>
          </p:cNvCxnSpPr>
          <p:nvPr/>
        </p:nvCxnSpPr>
        <p:spPr>
          <a:xfrm>
            <a:off x="8229600" y="54864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A594C409-9D1A-4374-A850-D1A0B8DCB11E}"/>
              </a:ext>
            </a:extLst>
          </p:cNvPr>
          <p:cNvCxnSpPr>
            <a:cxnSpLocks/>
          </p:cNvCxnSpPr>
          <p:nvPr/>
        </p:nvCxnSpPr>
        <p:spPr>
          <a:xfrm>
            <a:off x="8229600" y="56692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6D42A39-02C2-4180-9525-AD92DB3E208A}"/>
              </a:ext>
            </a:extLst>
          </p:cNvPr>
          <p:cNvCxnSpPr>
            <a:cxnSpLocks/>
          </p:cNvCxnSpPr>
          <p:nvPr/>
        </p:nvCxnSpPr>
        <p:spPr>
          <a:xfrm>
            <a:off x="8229600" y="58521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F3FEDB3-F5FB-49CB-A9BB-73A377B38548}"/>
              </a:ext>
            </a:extLst>
          </p:cNvPr>
          <p:cNvCxnSpPr>
            <a:cxnSpLocks/>
          </p:cNvCxnSpPr>
          <p:nvPr/>
        </p:nvCxnSpPr>
        <p:spPr>
          <a:xfrm rot="5400000">
            <a:off x="7086600" y="4983480"/>
            <a:ext cx="210312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descr="Books with solid fill">
            <a:extLst>
              <a:ext uri="{FF2B5EF4-FFF2-40B4-BE49-F238E27FC236}">
                <a16:creationId xmlns:a16="http://schemas.microsoft.com/office/drawing/2014/main" id="{CFEBB7B5-8F75-41F3-A865-614B4890F34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0499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3EC60-2D92-47DC-A8C6-E8EA7E9C96D7}"/>
              </a:ext>
            </a:extLst>
          </p:cNvPr>
          <p:cNvSpPr>
            <a:spLocks noGrp="1"/>
          </p:cNvSpPr>
          <p:nvPr>
            <p:ph type="title"/>
          </p:nvPr>
        </p:nvSpPr>
        <p:spPr/>
        <p:txBody>
          <a:bodyPr/>
          <a:lstStyle/>
          <a:p>
            <a:r>
              <a:rPr lang="de-DE" dirty="0"/>
              <a:t>Binärdarstellung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DDC21BB-483C-4ADA-81FA-F3A04BDA6C1F}"/>
                  </a:ext>
                </a:extLst>
              </p:cNvPr>
              <p:cNvSpPr>
                <a:spLocks noGrp="1"/>
              </p:cNvSpPr>
              <p:nvPr>
                <p:ph idx="1"/>
              </p:nvPr>
            </p:nvSpPr>
            <p:spPr/>
            <p:txBody>
              <a:bodyPr>
                <a:normAutofit/>
              </a:bodyPr>
              <a:lstStyle/>
              <a:p>
                <a:r>
                  <a:rPr lang="de-DE" dirty="0"/>
                  <a:t>Repräsentation von Daten als Binärzahlen („Zweiersystem“)</a:t>
                </a:r>
              </a:p>
              <a:p>
                <a:pPr lvl="1"/>
                <a:r>
                  <a:rPr lang="de-DE" sz="2400" dirty="0"/>
                  <a:t>Mit </a:t>
                </a:r>
                <a14:m>
                  <m:oMath xmlns:m="http://schemas.openxmlformats.org/officeDocument/2006/math">
                    <m:r>
                      <a:rPr lang="de-DE" sz="2400" i="1" dirty="0" smtClean="0">
                        <a:latin typeface="Cambria Math" panose="02040503050406030204" pitchFamily="18" charset="0"/>
                      </a:rPr>
                      <m:t>𝑛</m:t>
                    </m:r>
                  </m:oMath>
                </a14:m>
                <a:r>
                  <a:rPr lang="de-DE" sz="2400" dirty="0"/>
                  <a:t> </a:t>
                </a:r>
                <a:r>
                  <a:rPr lang="de-DE" sz="2400" dirty="0">
                    <a:solidFill>
                      <a:srgbClr val="FFCCFF"/>
                    </a:solidFill>
                  </a:rPr>
                  <a:t>Bits</a:t>
                </a:r>
                <a:r>
                  <a:rPr lang="de-DE" sz="2400" dirty="0"/>
                  <a:t> lassen sich </a:t>
                </a:r>
                <a14:m>
                  <m:oMath xmlns:m="http://schemas.openxmlformats.org/officeDocument/2006/math">
                    <m:sSup>
                      <m:sSupPr>
                        <m:ctrlPr>
                          <a:rPr lang="de-DE" sz="240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𝑛</m:t>
                        </m:r>
                      </m:sup>
                    </m:sSup>
                  </m:oMath>
                </a14:m>
                <a:r>
                  <a:rPr lang="de-DE" sz="2400" dirty="0"/>
                  <a:t> verschiedene Zustände repräsentieren. </a:t>
                </a:r>
                <a:endParaRPr lang="de-DE" dirty="0"/>
              </a:p>
              <a:p>
                <a:pPr lvl="1"/>
                <a:r>
                  <a:rPr lang="de-DE" dirty="0"/>
                  <a:t>Beispiel: Ganze Zahlen</a:t>
                </a:r>
                <a:br>
                  <a:rPr lang="de-DE" dirty="0"/>
                </a:br>
                <a:endParaRPr lang="de-DE" dirty="0"/>
              </a:p>
              <a:p>
                <a:pPr marL="0" indent="0" algn="ctr">
                  <a:buNone/>
                </a:pPr>
                <a14:m>
                  <m:oMath xmlns:m="http://schemas.openxmlformats.org/officeDocument/2006/math">
                    <m:sSub>
                      <m:sSubPr>
                        <m:ctrlPr>
                          <a:rPr lang="de-DE" i="1" smtClean="0">
                            <a:latin typeface="Cambria Math" panose="02040503050406030204" pitchFamily="18" charset="0"/>
                          </a:rPr>
                        </m:ctrlPr>
                      </m:sSubPr>
                      <m:e>
                        <m:r>
                          <a:rPr lang="en-US" b="0" i="1" smtClean="0">
                            <a:latin typeface="Cambria Math" panose="02040503050406030204" pitchFamily="18" charset="0"/>
                          </a:rPr>
                          <m:t>(21)</m:t>
                        </m:r>
                      </m:e>
                      <m:sub>
                        <m:r>
                          <a:rPr lang="en-US" b="0" i="1" smtClean="0">
                            <a:solidFill>
                              <a:srgbClr val="FFCCFF"/>
                            </a:solidFill>
                            <a:latin typeface="Cambria Math" panose="02040503050406030204" pitchFamily="18" charset="0"/>
                          </a:rPr>
                          <m:t>10</m:t>
                        </m:r>
                      </m:sub>
                    </m:sSub>
                    <m:r>
                      <m:rPr>
                        <m:aln/>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(00010101)</m:t>
                        </m:r>
                      </m:e>
                      <m:sub>
                        <m:r>
                          <a:rPr lang="en-US" b="0" i="1" smtClean="0">
                            <a:solidFill>
                              <a:srgbClr val="FFCCFF"/>
                            </a:solidFill>
                            <a:latin typeface="Cambria Math" panose="02040503050406030204" pitchFamily="18" charset="0"/>
                          </a:rPr>
                          <m:t>2</m:t>
                        </m:r>
                      </m:sub>
                    </m:sSub>
                  </m:oMath>
                </a14:m>
                <a:r>
                  <a:rPr lang="en-US" b="0" dirty="0"/>
                  <a:t> (</a:t>
                </a:r>
                <a:r>
                  <a:rPr lang="en-US" b="0" dirty="0" err="1"/>
                  <a:t>ein</a:t>
                </a:r>
                <a:r>
                  <a:rPr lang="en-US" b="0" dirty="0"/>
                  <a:t> </a:t>
                </a:r>
                <a:r>
                  <a:rPr lang="en-US" b="0" dirty="0">
                    <a:solidFill>
                      <a:srgbClr val="FFCCFF"/>
                    </a:solidFill>
                  </a:rPr>
                  <a:t>Byte</a:t>
                </a:r>
                <a:r>
                  <a:rPr lang="en-US" b="0" dirty="0"/>
                  <a:t>)</a:t>
                </a:r>
              </a:p>
              <a:p>
                <a:pPr marL="0" indent="0">
                  <a:buNone/>
                </a:pPr>
                <a:endParaRPr lang="de-DE" sz="2400" dirty="0"/>
              </a:p>
              <a:p>
                <a:pPr lvl="1"/>
                <a:r>
                  <a:rPr lang="de-DE" dirty="0"/>
                  <a:t>Beispiel: Zeichen durch ASCII</a:t>
                </a:r>
                <a:br>
                  <a:rPr lang="de-DE" dirty="0"/>
                </a:br>
                <a:endParaRPr lang="de-DE" dirty="0"/>
              </a:p>
              <a:p>
                <a:pPr marL="457200" lvl="1"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𝐾</m:t>
                      </m:r>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(1001011)</m:t>
                          </m:r>
                        </m:e>
                        <m:sub>
                          <m:r>
                            <a:rPr lang="en-US" sz="2800" b="0" i="1" smtClean="0">
                              <a:solidFill>
                                <a:srgbClr val="FFCCFF"/>
                              </a:solidFill>
                              <a:latin typeface="Cambria Math" panose="02040503050406030204" pitchFamily="18" charset="0"/>
                            </a:rPr>
                            <m:t>2</m:t>
                          </m:r>
                        </m:sub>
                      </m:sSub>
                    </m:oMath>
                  </m:oMathPara>
                </a14:m>
                <a:endParaRPr lang="de-DE" sz="2800" dirty="0"/>
              </a:p>
            </p:txBody>
          </p:sp>
        </mc:Choice>
        <mc:Fallback xmlns="">
          <p:sp>
            <p:nvSpPr>
              <p:cNvPr id="3" name="Content Placeholder 2">
                <a:extLst>
                  <a:ext uri="{FF2B5EF4-FFF2-40B4-BE49-F238E27FC236}">
                    <a16:creationId xmlns:a16="http://schemas.microsoft.com/office/drawing/2014/main" id="{FDDC21BB-483C-4ADA-81FA-F3A04BDA6C1F}"/>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de-DE">
                    <a:noFill/>
                  </a:rPr>
                  <a:t> </a:t>
                </a:r>
              </a:p>
            </p:txBody>
          </p:sp>
        </mc:Fallback>
      </mc:AlternateContent>
      <p:pic>
        <p:nvPicPr>
          <p:cNvPr id="6" name="Picture 5">
            <a:extLst>
              <a:ext uri="{FF2B5EF4-FFF2-40B4-BE49-F238E27FC236}">
                <a16:creationId xmlns:a16="http://schemas.microsoft.com/office/drawing/2014/main" id="{5B82DEE4-5065-475D-A980-E87C1011ED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94196" y="3996267"/>
            <a:ext cx="3659604" cy="2496608"/>
          </a:xfrm>
          <a:prstGeom prst="rect">
            <a:avLst/>
          </a:prstGeom>
        </p:spPr>
      </p:pic>
    </p:spTree>
    <p:extLst>
      <p:ext uri="{BB962C8B-B14F-4D97-AF65-F5344CB8AC3E}">
        <p14:creationId xmlns:p14="http://schemas.microsoft.com/office/powerpoint/2010/main" val="4179435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1C9AA5-7892-48F0-B8F0-7BB296DA45B4}"/>
              </a:ext>
            </a:extLst>
          </p:cNvPr>
          <p:cNvSpPr>
            <a:spLocks noGrp="1"/>
          </p:cNvSpPr>
          <p:nvPr>
            <p:ph type="title"/>
          </p:nvPr>
        </p:nvSpPr>
        <p:spPr/>
        <p:txBody>
          <a:bodyPr/>
          <a:lstStyle/>
          <a:p>
            <a:r>
              <a:rPr lang="de-DE" dirty="0"/>
              <a:t>Primitive Datentypen</a:t>
            </a:r>
          </a:p>
        </p:txBody>
      </p:sp>
      <mc:AlternateContent xmlns:mc="http://schemas.openxmlformats.org/markup-compatibility/2006" xmlns:a14="http://schemas.microsoft.com/office/drawing/2010/main">
        <mc:Choice Requires="a14">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346278550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1698103">
                      <a:extLst>
                        <a:ext uri="{9D8B030D-6E8A-4147-A177-3AD203B41FA5}">
                          <a16:colId xmlns:a16="http://schemas.microsoft.com/office/drawing/2014/main" val="2317810761"/>
                        </a:ext>
                      </a:extLst>
                    </a:gridCol>
                    <a:gridCol w="3045527">
                      <a:extLst>
                        <a:ext uri="{9D8B030D-6E8A-4147-A177-3AD203B41FA5}">
                          <a16:colId xmlns:a16="http://schemas.microsoft.com/office/drawing/2014/main" val="3760803087"/>
                        </a:ext>
                      </a:extLst>
                    </a:gridCol>
                    <a:gridCol w="4781370">
                      <a:extLst>
                        <a:ext uri="{9D8B030D-6E8A-4147-A177-3AD203B41FA5}">
                          <a16:colId xmlns:a16="http://schemas.microsoft.com/office/drawing/2014/main" val="2063619127"/>
                        </a:ext>
                      </a:extLst>
                    </a:gridCol>
                    <a:gridCol w="990600">
                      <a:extLst>
                        <a:ext uri="{9D8B030D-6E8A-4147-A177-3AD203B41FA5}">
                          <a16:colId xmlns:a16="http://schemas.microsoft.com/office/drawing/2014/main" val="2279181594"/>
                        </a:ext>
                      </a:extLst>
                    </a:gridCol>
                  </a:tblGrid>
                  <a:tr h="436563">
                    <a:tc>
                      <a:txBody>
                        <a:bodyPr/>
                        <a:lstStyle/>
                        <a:p>
                          <a:r>
                            <a:rPr lang="de-DE" dirty="0">
                              <a:solidFill>
                                <a:schemeClr val="tx1"/>
                              </a:solidFill>
                              <a:latin typeface="IBM Plex Sans" panose="020B0503050203000203" pitchFamily="34" charset="0"/>
                              <a:cs typeface="Calibri" panose="020F0502020204030204"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Anzahl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byte</a:t>
                          </a:r>
                          <a:endParaRPr lang="de-D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r>
                            <a:rPr lang="de-DE" dirty="0">
                              <a:solidFill>
                                <a:schemeClr val="tx1"/>
                              </a:solidFill>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128</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127</a:t>
                          </a:r>
                          <a:r>
                            <a:rPr lang="de-DE" dirty="0">
                              <a:solidFill>
                                <a:schemeClr val="tx1"/>
                              </a:solidFill>
                              <a:latin typeface="IBM Plex Sans" panose="020B0503050203000203" pitchFamily="34" charset="0"/>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a14:m>
                          <a:r>
                            <a:rPr lang="de-DE" dirty="0">
                              <a:solidFill>
                                <a:schemeClr val="tx1"/>
                              </a:solidFill>
                              <a:latin typeface="IBM Plex Sans" panose="020B0503050203000203" pitchFamily="34" charset="0"/>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short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r>
                            <a:rPr lang="de-DE" dirty="0">
                              <a:solidFill>
                                <a:schemeClr val="tx1"/>
                              </a:solidFill>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32768</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32767</a:t>
                          </a:r>
                          <a:r>
                            <a:rPr lang="de-DE" dirty="0">
                              <a:solidFill>
                                <a:schemeClr val="tx1"/>
                              </a:solidFill>
                              <a:latin typeface="IBM Plex Sans" panose="020B0503050203000203" pitchFamily="34" charset="0"/>
                            </a:rPr>
                            <a:t>] (insgesamt</a:t>
                          </a:r>
                          <a:r>
                            <a:rPr lang="de-DE" baseline="0" dirty="0">
                              <a:solidFill>
                                <a:schemeClr val="tx1"/>
                              </a:solidFill>
                              <a:latin typeface="IBM Plex Sans" panose="020B0503050203000203" pitchFamily="34" charset="0"/>
                            </a:rPr>
                            <a: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int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 2 Milliarden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long</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 9 Trillionen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float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double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boolean</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dirty="0">
                              <a:solidFill>
                                <a:schemeClr val="tx1"/>
                              </a:solidFill>
                              <a:latin typeface="IBM Plex Sans" panose="020B0503050203000203" pitchFamily="34" charset="0"/>
                            </a:rPr>
                            <a:t> (wahr) oder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dirty="0">
                              <a:solidFill>
                                <a:schemeClr val="tx1"/>
                              </a:solidFill>
                              <a:latin typeface="IBM Plex Sans" panose="020B0503050203000203" pitchFamily="34" charset="0"/>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rPr>
                                  <m:t>2</m:t>
                                </m:r>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z.B. </a:t>
                          </a:r>
                          <a:r>
                            <a:rPr kumimoji="0" lang="de-DE" altLang="de-DE" sz="1800" b="0" i="0" u="none" strike="noStrike" cap="none" normalizeH="0" baseline="0" dirty="0">
                              <a:ln>
                                <a:noFill/>
                              </a:ln>
                              <a:solidFill>
                                <a:srgbClr val="6A8759"/>
                              </a:solidFill>
                              <a:effectLst/>
                              <a:latin typeface="Roboto Mono" panose="00000009000000000000" pitchFamily="50" charset="0"/>
                            </a:rPr>
                            <a:t>'a'</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'7'</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'N'</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Choice>
        <mc:Fallback xmlns="">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346278550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1698103">
                      <a:extLst>
                        <a:ext uri="{9D8B030D-6E8A-4147-A177-3AD203B41FA5}">
                          <a16:colId xmlns:a16="http://schemas.microsoft.com/office/drawing/2014/main" val="2317810761"/>
                        </a:ext>
                      </a:extLst>
                    </a:gridCol>
                    <a:gridCol w="3045527">
                      <a:extLst>
                        <a:ext uri="{9D8B030D-6E8A-4147-A177-3AD203B41FA5}">
                          <a16:colId xmlns:a16="http://schemas.microsoft.com/office/drawing/2014/main" val="3760803087"/>
                        </a:ext>
                      </a:extLst>
                    </a:gridCol>
                    <a:gridCol w="4781370">
                      <a:extLst>
                        <a:ext uri="{9D8B030D-6E8A-4147-A177-3AD203B41FA5}">
                          <a16:colId xmlns:a16="http://schemas.microsoft.com/office/drawing/2014/main" val="2063619127"/>
                        </a:ext>
                      </a:extLst>
                    </a:gridCol>
                    <a:gridCol w="990600">
                      <a:extLst>
                        <a:ext uri="{9D8B030D-6E8A-4147-A177-3AD203B41FA5}">
                          <a16:colId xmlns:a16="http://schemas.microsoft.com/office/drawing/2014/main" val="2279181594"/>
                        </a:ext>
                      </a:extLst>
                    </a:gridCol>
                  </a:tblGrid>
                  <a:tr h="436563">
                    <a:tc>
                      <a:txBody>
                        <a:bodyPr/>
                        <a:lstStyle/>
                        <a:p>
                          <a:r>
                            <a:rPr lang="de-DE" dirty="0">
                              <a:solidFill>
                                <a:schemeClr val="tx1"/>
                              </a:solidFill>
                              <a:latin typeface="IBM Plex Sans" panose="020B0503050203000203" pitchFamily="34" charset="0"/>
                              <a:cs typeface="Calibri" panose="020F0502020204030204"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Anzahl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byte</a:t>
                          </a:r>
                          <a:endParaRPr lang="de-D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99362" t="-109859" r="-20791" b="-712676"/>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958896" t="-109859" b="-712676"/>
                          </a:stretch>
                        </a:blip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short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206944" r="-20791" b="-602778"/>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206944" b="-602778"/>
                          </a:stretch>
                        </a:blip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int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306944" r="-20791" b="-502778"/>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306944" b="-502778"/>
                          </a:stretch>
                        </a:blip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long</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412676" r="-20791" b="-409859"/>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412676" b="-409859"/>
                          </a:stretch>
                        </a:blip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float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505556" b="-304167"/>
                          </a:stretch>
                        </a:blip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double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605556" b="-204167"/>
                          </a:stretch>
                        </a:blip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boolean</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dirty="0">
                              <a:solidFill>
                                <a:schemeClr val="tx1"/>
                              </a:solidFill>
                              <a:latin typeface="IBM Plex Sans" panose="020B0503050203000203" pitchFamily="34" charset="0"/>
                            </a:rPr>
                            <a:t> (wahr) oder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dirty="0">
                              <a:solidFill>
                                <a:schemeClr val="tx1"/>
                              </a:solidFill>
                              <a:latin typeface="IBM Plex Sans" panose="020B0503050203000203" pitchFamily="34" charset="0"/>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715493" b="-107042"/>
                          </a:stretch>
                        </a:blip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z.B. </a:t>
                          </a:r>
                          <a:r>
                            <a:rPr kumimoji="0" lang="de-DE" altLang="de-DE" sz="1800" b="0" i="0" u="none" strike="noStrike" cap="none" normalizeH="0" baseline="0" dirty="0">
                              <a:ln>
                                <a:noFill/>
                              </a:ln>
                              <a:solidFill>
                                <a:srgbClr val="6A8759"/>
                              </a:solidFill>
                              <a:effectLst/>
                              <a:latin typeface="Roboto Mono" panose="00000009000000000000" pitchFamily="50" charset="0"/>
                            </a:rPr>
                            <a:t>'a'</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'7'</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'N'</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804167" b="-5556"/>
                          </a:stretch>
                        </a:blipFill>
                      </a:tcPr>
                    </a:tc>
                    <a:extLst>
                      <a:ext uri="{0D108BD9-81ED-4DB2-BD59-A6C34878D82A}">
                        <a16:rowId xmlns:a16="http://schemas.microsoft.com/office/drawing/2014/main" val="4008067369"/>
                      </a:ext>
                    </a:extLst>
                  </a:tr>
                </a:tbl>
              </a:graphicData>
            </a:graphic>
          </p:graphicFrame>
        </mc:Fallback>
      </mc:AlternateContent>
      <p:pic>
        <p:nvPicPr>
          <p:cNvPr id="5" name="Graphic 4" descr="Books with solid fill">
            <a:extLst>
              <a:ext uri="{FF2B5EF4-FFF2-40B4-BE49-F238E27FC236}">
                <a16:creationId xmlns:a16="http://schemas.microsoft.com/office/drawing/2014/main" id="{C43DF4B7-7675-4ECD-BBB0-0C6DFA2AECE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7973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FB919-1A1E-4370-B4CA-FEAE4CB3F12A}"/>
              </a:ext>
            </a:extLst>
          </p:cNvPr>
          <p:cNvSpPr>
            <a:spLocks noGrp="1"/>
          </p:cNvSpPr>
          <p:nvPr>
            <p:ph type="title"/>
          </p:nvPr>
        </p:nvSpPr>
        <p:spPr/>
        <p:txBody>
          <a:bodyPr/>
          <a:lstStyle/>
          <a:p>
            <a:r>
              <a:rPr lang="de-DE" dirty="0"/>
              <a:t>Variablen</a:t>
            </a:r>
          </a:p>
        </p:txBody>
      </p:sp>
      <p:sp>
        <p:nvSpPr>
          <p:cNvPr id="5" name="Textfeld 4">
            <a:extLst>
              <a:ext uri="{FF2B5EF4-FFF2-40B4-BE49-F238E27FC236}">
                <a16:creationId xmlns:a16="http://schemas.microsoft.com/office/drawing/2014/main" id="{8FF67C96-054F-B98E-66FD-0C1BF1E4EB94}"/>
              </a:ext>
            </a:extLst>
          </p:cNvPr>
          <p:cNvSpPr txBox="1"/>
          <p:nvPr/>
        </p:nvSpPr>
        <p:spPr>
          <a:xfrm>
            <a:off x="838200" y="1690688"/>
            <a:ext cx="10515600" cy="34163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Variablen deklarieren: &lt;Datentyp&gt; &lt;Name&gt;( = &lt;Wert&gt;);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897BB"/>
                </a:solidFill>
                <a:effectLst/>
                <a:latin typeface="Roboto Mono" panose="00000009000000000000" pitchFamily="50" charset="0"/>
              </a:rPr>
              <a:t>9095</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sterneLeuchten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char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zweiterBuchstabe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'B'</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temperaturInGradCelsius</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897BB"/>
                </a:solidFill>
                <a:effectLst/>
                <a:latin typeface="Roboto Mono" panose="00000009000000000000" pitchFamily="50" charset="0"/>
              </a:rPr>
              <a:t>20.21f</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Variablen verwenden: &lt;Name&gt;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9095</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Variablen setzen: &lt;Name&gt; = &lt;Neuer Wert&gt;;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897BB"/>
                </a:solidFill>
                <a:effectLst/>
                <a:latin typeface="Roboto Mono" panose="00000009000000000000" pitchFamily="50"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9096</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graphicFrame>
        <p:nvGraphicFramePr>
          <p:cNvPr id="3" name="Table 3">
            <a:extLst>
              <a:ext uri="{FF2B5EF4-FFF2-40B4-BE49-F238E27FC236}">
                <a16:creationId xmlns:a16="http://schemas.microsoft.com/office/drawing/2014/main" id="{18870359-C709-489C-AA53-A38E28C68C49}"/>
              </a:ext>
            </a:extLst>
          </p:cNvPr>
          <p:cNvGraphicFramePr>
            <a:graphicFrameLocks noGrp="1"/>
          </p:cNvGraphicFramePr>
          <p:nvPr>
            <p:extLst>
              <p:ext uri="{D42A27DB-BD31-4B8C-83A1-F6EECF244321}">
                <p14:modId xmlns:p14="http://schemas.microsoft.com/office/powerpoint/2010/main" val="2171780877"/>
              </p:ext>
            </p:extLst>
          </p:nvPr>
        </p:nvGraphicFramePr>
        <p:xfrm>
          <a:off x="7980680" y="4902200"/>
          <a:ext cx="4109720" cy="2123440"/>
        </p:xfrm>
        <a:graphic>
          <a:graphicData uri="http://schemas.openxmlformats.org/drawingml/2006/table">
            <a:tbl>
              <a:tblPr firstRow="1" bandRow="1">
                <a:tableStyleId>{5C22544A-7EE6-4342-B048-85BDC9FD1C3A}</a:tableStyleId>
              </a:tblPr>
              <a:tblGrid>
                <a:gridCol w="2692400">
                  <a:extLst>
                    <a:ext uri="{9D8B030D-6E8A-4147-A177-3AD203B41FA5}">
                      <a16:colId xmlns:a16="http://schemas.microsoft.com/office/drawing/2014/main" val="2195427083"/>
                    </a:ext>
                  </a:extLst>
                </a:gridCol>
                <a:gridCol w="1417320">
                  <a:extLst>
                    <a:ext uri="{9D8B030D-6E8A-4147-A177-3AD203B41FA5}">
                      <a16:colId xmlns:a16="http://schemas.microsoft.com/office/drawing/2014/main" val="769526545"/>
                    </a:ext>
                  </a:extLst>
                </a:gridCol>
              </a:tblGrid>
              <a:tr h="370840">
                <a:tc>
                  <a:txBody>
                    <a:bodyPr/>
                    <a:lstStyle/>
                    <a:p>
                      <a:r>
                        <a:rPr lang="de-DE" b="1" dirty="0">
                          <a:solidFill>
                            <a:schemeClr val="tx1"/>
                          </a:solidFill>
                          <a:latin typeface="IBM Plex Sans" panose="020B0503050203000203" pitchFamily="34" charset="0"/>
                        </a:rPr>
                        <a:t>Variable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Wert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9222498"/>
                  </a:ext>
                </a:extLst>
              </a:tr>
              <a:tr h="370840">
                <a:tc>
                  <a:txBody>
                    <a:bodyPr/>
                    <a:lstStyle/>
                    <a:p>
                      <a:r>
                        <a:rPr lang="de-DE" b="0" dirty="0" err="1">
                          <a:solidFill>
                            <a:schemeClr val="tx1"/>
                          </a:solidFill>
                          <a:latin typeface="IBM Plex Sans" panose="020B0503050203000203" pitchFamily="34" charset="0"/>
                        </a:rPr>
                        <a:t>sterneAmHimmel</a:t>
                      </a:r>
                      <a:endParaRPr lang="de-DE" b="0"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Roboto Mono" panose="00000009000000000000" pitchFamily="50" charset="0"/>
                          <a:cs typeface="Courier New" panose="02070309020205020404" pitchFamily="49" charset="0"/>
                        </a:rPr>
                        <a:t>9095</a:t>
                      </a:r>
                      <a:endParaRPr lang="de-DE" b="0"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2276844"/>
                  </a:ext>
                </a:extLst>
              </a:tr>
              <a:tr h="370840">
                <a:tc>
                  <a:txBody>
                    <a:bodyPr/>
                    <a:lstStyle/>
                    <a:p>
                      <a:r>
                        <a:rPr lang="de-DE" b="0" dirty="0" err="1">
                          <a:solidFill>
                            <a:schemeClr val="tx1"/>
                          </a:solidFill>
                          <a:latin typeface="IBM Plex Sans" panose="020B0503050203000203" pitchFamily="34" charset="0"/>
                        </a:rPr>
                        <a:t>sterneLeuchten</a:t>
                      </a:r>
                      <a:endParaRPr lang="de-DE" b="0"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err="1">
                          <a:solidFill>
                            <a:srgbClr val="CF8E6D"/>
                          </a:solidFill>
                          <a:latin typeface="Roboto Mono" panose="00000009000000000000" pitchFamily="50" charset="0"/>
                          <a:cs typeface="Courier New" panose="02070309020205020404" pitchFamily="49" charset="0"/>
                        </a:rPr>
                        <a:t>true</a:t>
                      </a:r>
                      <a:endParaRPr lang="de-DE" b="0"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4332594"/>
                  </a:ext>
                </a:extLst>
              </a:tr>
              <a:tr h="370840">
                <a:tc>
                  <a:txBody>
                    <a:bodyPr/>
                    <a:lstStyle/>
                    <a:p>
                      <a:r>
                        <a:rPr lang="de-DE" b="0" dirty="0" err="1">
                          <a:solidFill>
                            <a:schemeClr val="tx1"/>
                          </a:solidFill>
                          <a:latin typeface="IBM Plex Sans" panose="020B0503050203000203" pitchFamily="34" charset="0"/>
                        </a:rPr>
                        <a:t>zweiterBuchstabe</a:t>
                      </a:r>
                      <a:endParaRPr lang="de-DE" b="0"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6AAB73"/>
                          </a:solidFill>
                          <a:latin typeface="Roboto Mono" panose="00000009000000000000" pitchFamily="50" charset="0"/>
                          <a:cs typeface="Courier New" panose="02070309020205020404" pitchFamily="49" charset="0"/>
                        </a:rPr>
                        <a:t>'B'</a:t>
                      </a:r>
                      <a:endParaRPr lang="de-DE" b="0"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6116202"/>
                  </a:ext>
                </a:extLst>
              </a:tr>
              <a:tr h="370840">
                <a:tc>
                  <a:txBody>
                    <a:bodyPr/>
                    <a:lstStyle/>
                    <a:p>
                      <a:r>
                        <a:rPr lang="de-DE" b="0" dirty="0" err="1">
                          <a:solidFill>
                            <a:schemeClr val="tx1"/>
                          </a:solidFill>
                          <a:latin typeface="IBM Plex Sans" panose="020B0503050203000203" pitchFamily="34" charset="0"/>
                        </a:rPr>
                        <a:t>temperaturInGradCelsius</a:t>
                      </a:r>
                      <a:endParaRPr lang="de-DE" b="0"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Roboto Mono" panose="00000009000000000000" pitchFamily="50" charset="0"/>
                          <a:cs typeface="Courier New" panose="02070309020205020404" pitchFamily="49" charset="0"/>
                        </a:rPr>
                        <a:t>20.21f</a:t>
                      </a:r>
                      <a:endParaRPr lang="de-DE" b="0"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921566"/>
                  </a:ext>
                </a:extLst>
              </a:tr>
            </a:tbl>
          </a:graphicData>
        </a:graphic>
      </p:graphicFrame>
      <p:cxnSp>
        <p:nvCxnSpPr>
          <p:cNvPr id="11" name="Straight Arrow Connector 10">
            <a:extLst>
              <a:ext uri="{FF2B5EF4-FFF2-40B4-BE49-F238E27FC236}">
                <a16:creationId xmlns:a16="http://schemas.microsoft.com/office/drawing/2014/main" id="{EB68B7BB-1328-4046-86B8-BC4485073F7E}"/>
              </a:ext>
            </a:extLst>
          </p:cNvPr>
          <p:cNvCxnSpPr/>
          <p:nvPr/>
        </p:nvCxnSpPr>
        <p:spPr>
          <a:xfrm flipH="1" flipV="1">
            <a:off x="9667240" y="3215640"/>
            <a:ext cx="1056640" cy="21183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C7F864B-A08E-4B77-A784-FEE2A0488CD1}"/>
              </a:ext>
            </a:extLst>
          </p:cNvPr>
          <p:cNvSpPr txBox="1"/>
          <p:nvPr/>
        </p:nvSpPr>
        <p:spPr>
          <a:xfrm>
            <a:off x="9163050" y="2606477"/>
            <a:ext cx="2065020" cy="923330"/>
          </a:xfrm>
          <a:prstGeom prst="rect">
            <a:avLst/>
          </a:prstGeom>
          <a:noFill/>
        </p:spPr>
        <p:txBody>
          <a:bodyPr wrap="square">
            <a:spAutoFit/>
          </a:bodyPr>
          <a:lstStyle/>
          <a:p>
            <a:r>
              <a:rPr lang="de-DE" dirty="0">
                <a:latin typeface="IBM Plex Sans" panose="020B0503050203000203" pitchFamily="34" charset="0"/>
              </a:rPr>
              <a:t>Berechne:</a:t>
            </a:r>
          </a:p>
          <a:p>
            <a:r>
              <a:rPr lang="de-DE" sz="1800" b="0" i="0" dirty="0">
                <a:solidFill>
                  <a:srgbClr val="2AACB8"/>
                </a:solidFill>
                <a:latin typeface="Roboto Mono" panose="00000009000000000000" pitchFamily="50" charset="0"/>
                <a:cs typeface="Courier New" panose="02070309020205020404" pitchFamily="49" charset="0"/>
              </a:rPr>
              <a:t>9095</a:t>
            </a:r>
            <a:r>
              <a:rPr lang="de-DE" sz="1800" b="0" i="0" dirty="0">
                <a:solidFill>
                  <a:srgbClr val="BCBEC4"/>
                </a:solidFill>
                <a:latin typeface="Roboto Mono" panose="00000009000000000000" pitchFamily="50" charset="0"/>
                <a:cs typeface="Courier New" panose="02070309020205020404" pitchFamily="49" charset="0"/>
              </a:rPr>
              <a:t> + </a:t>
            </a:r>
            <a:r>
              <a:rPr lang="de-DE" sz="1800" b="0" i="0" dirty="0">
                <a:solidFill>
                  <a:srgbClr val="2AACB8"/>
                </a:solidFill>
                <a:latin typeface="Roboto Mono" panose="00000009000000000000" pitchFamily="50" charset="0"/>
                <a:cs typeface="Courier New" panose="02070309020205020404" pitchFamily="49" charset="0"/>
              </a:rPr>
              <a:t>1 </a:t>
            </a: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2AACB8"/>
                </a:solidFill>
                <a:latin typeface="Roboto Mono" panose="00000009000000000000" pitchFamily="50" charset="0"/>
                <a:cs typeface="Courier New" panose="02070309020205020404" pitchFamily="49" charset="0"/>
              </a:rPr>
              <a:t>9096</a:t>
            </a:r>
            <a:endParaRPr lang="de-DE" dirty="0">
              <a:latin typeface="IBM Plex Sans" panose="020B0503050203000203" pitchFamily="34" charset="0"/>
            </a:endParaRPr>
          </a:p>
        </p:txBody>
      </p:sp>
      <p:cxnSp>
        <p:nvCxnSpPr>
          <p:cNvPr id="14" name="Straight Arrow Connector 13">
            <a:extLst>
              <a:ext uri="{FF2B5EF4-FFF2-40B4-BE49-F238E27FC236}">
                <a16:creationId xmlns:a16="http://schemas.microsoft.com/office/drawing/2014/main" id="{87536019-CC91-4B79-A933-595613D77E05}"/>
              </a:ext>
            </a:extLst>
          </p:cNvPr>
          <p:cNvCxnSpPr>
            <a:cxnSpLocks/>
          </p:cNvCxnSpPr>
          <p:nvPr/>
        </p:nvCxnSpPr>
        <p:spPr>
          <a:xfrm rot="10800000" flipH="1" flipV="1">
            <a:off x="10769600" y="3215640"/>
            <a:ext cx="1056640" cy="21183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2" name="Graphic 11" descr="Document with solid fill">
            <a:extLst>
              <a:ext uri="{FF2B5EF4-FFF2-40B4-BE49-F238E27FC236}">
                <a16:creationId xmlns:a16="http://schemas.microsoft.com/office/drawing/2014/main" id="{C233AC7B-20D0-485D-A88F-8232322DE4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66928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Variablen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3564820882"/>
              </p:ext>
            </p:extLst>
          </p:nvPr>
        </p:nvGraphicFramePr>
        <p:xfrm>
          <a:off x="838200" y="1690688"/>
          <a:ext cx="10515600" cy="2822895"/>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59914015"/>
                    </a:ext>
                  </a:extLst>
                </a:gridCol>
              </a:tblGrid>
              <a:tr h="436563">
                <a:tc>
                  <a:txBody>
                    <a:bodyPr/>
                    <a:lstStyle/>
                    <a:p>
                      <a:r>
                        <a:rPr lang="de-DE" sz="1800" b="1" u="none" dirty="0">
                          <a:solidFill>
                            <a:schemeClr val="tx1"/>
                          </a:solidFill>
                          <a:latin typeface="IBM Plex Sans" panose="020B0503050203000203" pitchFamily="34" charset="0"/>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sz="1800" u="none" dirty="0">
                          <a:solidFill>
                            <a:schemeClr val="tx1"/>
                          </a:solidFill>
                          <a:latin typeface="IBM Plex Sans" panose="020B0503050203000203" pitchFamily="34" charset="0"/>
                        </a:rPr>
                        <a:t>deklarieren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im Code anlegen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Datentyp</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lang="de-DE" sz="1800" u="none" dirty="0">
                          <a:solidFill>
                            <a:schemeClr val="tx1"/>
                          </a:solidFill>
                          <a:latin typeface="IBM Plex Sans" panose="020B0503050203000203" pitchFamily="34" charset="0"/>
                        </a:rPr>
                        <a:t>setzen / Werte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verändern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7A7A7A"/>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6897BB"/>
                          </a:solidFill>
                          <a:effectLst/>
                          <a:latin typeface="Roboto Mono" panose="00000009000000000000" pitchFamily="50" charset="0"/>
                        </a:rPr>
                        <a:t>Neuer Wert</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lang="de-DE" sz="1800" u="none" dirty="0">
                          <a:solidFill>
                            <a:schemeClr val="tx1"/>
                          </a:solidFill>
                          <a:latin typeface="IBM Plex Sans" panose="020B0503050203000203" pitchFamily="34" charset="0"/>
                        </a:rPr>
                        <a:t>initialisieren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erstmalig einen Wert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0787946"/>
                  </a:ext>
                </a:extLst>
              </a:tr>
              <a:tr h="436563">
                <a:tc>
                  <a:txBody>
                    <a:bodyPr/>
                    <a:lstStyle/>
                    <a:p>
                      <a:r>
                        <a:rPr lang="de-DE" sz="1800" u="none" dirty="0">
                          <a:solidFill>
                            <a:schemeClr val="tx1"/>
                          </a:solidFill>
                          <a:latin typeface="IBM Plex Sans" panose="020B0503050203000203" pitchFamily="34" charset="0"/>
                        </a:rPr>
                        <a:t>inkrementieren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Wert um 1 erhöhen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356959"/>
                  </a:ext>
                </a:extLst>
              </a:tr>
              <a:tr h="436563">
                <a:tc>
                  <a:txBody>
                    <a:bodyPr/>
                    <a:lstStyle/>
                    <a:p>
                      <a:r>
                        <a:rPr lang="de-DE" sz="1800" u="none" dirty="0">
                          <a:solidFill>
                            <a:schemeClr val="tx1"/>
                          </a:solidFill>
                          <a:latin typeface="IBM Plex Sans" panose="020B0503050203000203" pitchFamily="34" charset="0"/>
                        </a:rPr>
                        <a:t>dekrementieren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Wert um 1 verringern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402629"/>
                  </a:ext>
                </a:extLst>
              </a:tr>
            </a:tbl>
          </a:graphicData>
        </a:graphic>
      </p:graphicFrame>
      <p:sp>
        <p:nvSpPr>
          <p:cNvPr id="3" name="Textfeld 2">
            <a:extLst>
              <a:ext uri="{FF2B5EF4-FFF2-40B4-BE49-F238E27FC236}">
                <a16:creationId xmlns:a16="http://schemas.microsoft.com/office/drawing/2014/main" id="{B5C49FDC-0F75-4996-B151-974E08A3ECCF}"/>
              </a:ext>
            </a:extLst>
          </p:cNvPr>
          <p:cNvSpPr txBox="1"/>
          <p:nvPr/>
        </p:nvSpPr>
        <p:spPr>
          <a:xfrm>
            <a:off x="838200" y="5569545"/>
            <a:ext cx="5808000" cy="923330"/>
          </a:xfrm>
          <a:prstGeom prst="rect">
            <a:avLst/>
          </a:prstGeom>
          <a:noFill/>
        </p:spPr>
        <p:txBody>
          <a:bodyPr wrap="none" rtlCol="0">
            <a:spAutoFit/>
          </a:bodyPr>
          <a:lstStyle/>
          <a:p>
            <a:r>
              <a:rPr lang="de-DE" dirty="0">
                <a:latin typeface="IBM Plex Sans" panose="020B0503050203000203" pitchFamily="34" charset="0"/>
              </a:rPr>
              <a:t>Man kann Deklaration und Initialisierung kombinieren:</a:t>
            </a:r>
          </a:p>
          <a:p>
            <a:endParaRPr lang="de-DE" dirty="0">
              <a:latin typeface="IBM Plex Sans" panose="020B050305020300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Datentyp</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lang="de-DE" altLang="de-DE" dirty="0">
                <a:solidFill>
                  <a:srgbClr val="6897BB"/>
                </a:solidFill>
                <a:latin typeface="Roboto Mono" panose="00000009000000000000" pitchFamily="50" charset="0"/>
              </a:rPr>
              <a:t>Initialer</a:t>
            </a:r>
            <a:r>
              <a:rPr kumimoji="0" lang="de-DE" altLang="de-DE" sz="1800" b="0" i="0" u="none" strike="noStrike" cap="none" normalizeH="0" baseline="0" dirty="0">
                <a:ln>
                  <a:noFill/>
                </a:ln>
                <a:solidFill>
                  <a:srgbClr val="6897BB"/>
                </a:solidFill>
                <a:effectLst/>
                <a:latin typeface="Roboto Mono" panose="00000009000000000000" pitchFamily="50" charset="0"/>
              </a:rPr>
              <a:t> Wert</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6" name="Graphic 5" descr="Books with solid fill">
            <a:extLst>
              <a:ext uri="{FF2B5EF4-FFF2-40B4-BE49-F238E27FC236}">
                <a16:creationId xmlns:a16="http://schemas.microsoft.com/office/drawing/2014/main" id="{1E103F8F-5182-41CB-850A-AF36ED7205D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281627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FE00A-A67F-48B1-BD3D-31136BA52A80}"/>
              </a:ext>
            </a:extLst>
          </p:cNvPr>
          <p:cNvSpPr>
            <a:spLocks noGrp="1"/>
          </p:cNvSpPr>
          <p:nvPr>
            <p:ph type="title"/>
          </p:nvPr>
        </p:nvSpPr>
        <p:spPr/>
        <p:txBody>
          <a:bodyPr/>
          <a:lstStyle/>
          <a:p>
            <a:r>
              <a:rPr lang="de-DE" dirty="0"/>
              <a:t>Operatoren und Ausdrücke</a:t>
            </a:r>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2635510214"/>
                  </p:ext>
                </p:extLst>
              </p:nvPr>
            </p:nvGraphicFramePr>
            <p:xfrm>
              <a:off x="838200" y="1690688"/>
              <a:ext cx="10515598" cy="445008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4651433">
                      <a:extLst>
                        <a:ext uri="{9D8B030D-6E8A-4147-A177-3AD203B41FA5}">
                          <a16:colId xmlns:a16="http://schemas.microsoft.com/office/drawing/2014/main" val="2697668192"/>
                        </a:ext>
                      </a:extLst>
                    </a:gridCol>
                    <a:gridCol w="1054100">
                      <a:extLst>
                        <a:ext uri="{9D8B030D-6E8A-4147-A177-3AD203B41FA5}">
                          <a16:colId xmlns:a16="http://schemas.microsoft.com/office/drawing/2014/main" val="3283285367"/>
                        </a:ext>
                      </a:extLst>
                    </a:gridCol>
                    <a:gridCol w="3416298">
                      <a:extLst>
                        <a:ext uri="{9D8B030D-6E8A-4147-A177-3AD203B41FA5}">
                          <a16:colId xmlns:a16="http://schemas.microsoft.com/office/drawing/2014/main" val="2005870110"/>
                        </a:ext>
                      </a:extLst>
                    </a:gridCol>
                  </a:tblGrid>
                  <a:tr h="370840">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latin typeface="IBM Plex Sans" panose="020B0503050203000203" pitchFamily="34" charset="0"/>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Roboto Mono" panose="00000009000000000000" pitchFamily="50" charset="0"/>
                            </a:rPr>
                            <a:t>a + b</a:t>
                          </a:r>
                          <a:endParaRPr lang="de-DE" sz="1800" kern="1200" dirty="0">
                            <a:solidFill>
                              <a:srgbClr val="A9B7C6"/>
                            </a:solidFill>
                            <a:effectLst/>
                            <a:latin typeface="Roboto Mono" panose="00000009000000000000" pitchFamily="50"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rowSpan="4">
                      <a:txBody>
                        <a:bodyPr/>
                        <a:lstStyle/>
                        <a:p>
                          <a:pPr/>
                          <a14:m>
                            <m:oMathPara xmlns:m="http://schemas.openxmlformats.org/officeDocument/2006/math">
                              <m:oMathParaPr>
                                <m:jc m:val="centerGroup"/>
                              </m:oMathParaPr>
                              <m:oMath xmlns:m="http://schemas.openxmlformats.org/officeDocument/2006/math">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oMath>
                            </m:oMathPara>
                          </a14:m>
                          <a:endParaRPr lang="de-DE" u="none" dirty="0">
                            <a:solidFill>
                              <a:schemeClr val="tx1"/>
                            </a:solidFill>
                            <a:latin typeface="IBM Plex Sans" panose="020B0503050203000203" pitchFamily="34" charset="0"/>
                          </a:endParaRPr>
                        </a:p>
                        <a:p>
                          <a:r>
                            <a:rPr lang="de-DE" u="none" dirty="0">
                              <a:solidFill>
                                <a:schemeClr val="tx1"/>
                              </a:solidFill>
                              <a:latin typeface="IBM Plex Sans" panose="020B0503050203000203" pitchFamily="34" charset="0"/>
                            </a:rPr>
                            <a:t>Der genaue Return-Typ ist der mit der höchsten Priorität </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49786396"/>
                      </a:ext>
                    </a:extLst>
                  </a:tr>
                  <a:tr h="370840">
                    <a:tc>
                      <a:txBody>
                        <a:bodyPr/>
                        <a:lstStyle/>
                        <a:p>
                          <a:r>
                            <a:rPr lang="de-DE" u="none" dirty="0">
                              <a:solidFill>
                                <a:schemeClr val="tx1"/>
                              </a:solidFill>
                              <a:latin typeface="IBM Plex Sans" panose="020B0503050203000203" pitchFamily="34" charset="0"/>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Zahl</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latin typeface="IBM Plex Sans" panose="020B0503050203000203" pitchFamily="34" charset="0"/>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Zahl</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latin typeface="IBM Plex Sans" panose="020B0503050203000203" pitchFamily="34" charset="0"/>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Zahl</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latin typeface="IBM Plex Sans" panose="020B0503050203000203" pitchFamily="34" charset="0"/>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sz="1800" kern="1200" dirty="0">
                            <a:solidFill>
                              <a:schemeClr val="dk1"/>
                            </a:solidFill>
                            <a:effectLst/>
                            <a:latin typeface="Roboto Mono" panose="00000009000000000000" pitchFamily="50" charset="0"/>
                            <a:ea typeface="+mn-ea"/>
                            <a:cs typeface="+mn-cs"/>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latin typeface="IBM Plex Sans" panose="020B0503050203000203" pitchFamily="34" charset="0"/>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latin typeface="IBM Plex Sans" panose="020B0503050203000203" pitchFamily="34" charset="0"/>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prüfen, ob zwei Werte </a:t>
                          </a:r>
                          <a:r>
                            <a:rPr lang="de-DE" u="sng" dirty="0">
                              <a:solidFill>
                                <a:srgbClr val="FFCCFF"/>
                              </a:solidFill>
                              <a:latin typeface="IBM Plex Sans" panose="020B0503050203000203" pitchFamily="34" charset="0"/>
                            </a:rPr>
                            <a:t>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latin typeface="IBM Plex Sans" panose="020B0503050203000203" pitchFamily="34" charset="0"/>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prüfen, ob zwei Werte </a:t>
                          </a:r>
                          <a:r>
                            <a:rPr lang="de-DE" u="sng" dirty="0">
                              <a:solidFill>
                                <a:srgbClr val="FFCCFF"/>
                              </a:solidFill>
                              <a:latin typeface="IBM Plex Sans" panose="020B0503050203000203" pitchFamily="34" charset="0"/>
                            </a:rPr>
                            <a:t>nicht 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kumimoji="0" lang="de-DE" altLang="de-DE" sz="1800" b="0" i="0" u="none" strike="noStrike" cap="none" normalizeH="0" baseline="0" dirty="0">
                            <a:ln>
                              <a:noFill/>
                            </a:ln>
                            <a:solidFill>
                              <a:srgbClr val="CC7E47"/>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latin typeface="IBM Plex Sans" panose="020B0503050203000203" pitchFamily="34" charset="0"/>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prüfen, ob zwei Dinge gelten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lang="de-DE" u="none" dirty="0">
                              <a:solidFill>
                                <a:schemeClr val="tx1"/>
                              </a:solidFill>
                              <a:latin typeface="IBM Plex Sans" panose="020B0503050203000203" pitchFamily="34" charset="0"/>
                            </a:rPr>
                            <a: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495953"/>
                      </a:ext>
                    </a:extLst>
                  </a:tr>
                  <a:tr h="370840">
                    <a:tc>
                      <a:txBody>
                        <a:bodyPr/>
                        <a:lstStyle/>
                        <a:p>
                          <a:r>
                            <a:rPr lang="de-DE" u="none" dirty="0">
                              <a:solidFill>
                                <a:schemeClr val="tx1"/>
                              </a:solidFill>
                              <a:latin typeface="IBM Plex Sans" panose="020B0503050203000203" pitchFamily="34" charset="0"/>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prüfen, ob mindestens eins von beiden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48642192"/>
                      </a:ext>
                    </a:extLst>
                  </a:tr>
                  <a:tr h="370840">
                    <a:tc>
                      <a:txBody>
                        <a:bodyPr/>
                        <a:lstStyle/>
                        <a:p>
                          <a:r>
                            <a:rPr lang="de-DE" u="none" dirty="0">
                              <a:solidFill>
                                <a:schemeClr val="tx1"/>
                              </a:solidFill>
                              <a:latin typeface="IBM Plex Sans" panose="020B0503050203000203" pitchFamily="34" charset="0"/>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einen Boolean verneinen (</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u="none" dirty="0">
                              <a:solidFill>
                                <a:schemeClr val="tx1"/>
                              </a:solidFill>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1851007"/>
                      </a:ext>
                    </a:extLst>
                  </a:tr>
                </a:tbl>
              </a:graphicData>
            </a:graphic>
          </p:graphicFrame>
        </mc:Choice>
        <mc:Fallback xmlns="">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2635510214"/>
                  </p:ext>
                </p:extLst>
              </p:nvPr>
            </p:nvGraphicFramePr>
            <p:xfrm>
              <a:off x="838200" y="1690688"/>
              <a:ext cx="10515598" cy="445008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4651433">
                      <a:extLst>
                        <a:ext uri="{9D8B030D-6E8A-4147-A177-3AD203B41FA5}">
                          <a16:colId xmlns:a16="http://schemas.microsoft.com/office/drawing/2014/main" val="2697668192"/>
                        </a:ext>
                      </a:extLst>
                    </a:gridCol>
                    <a:gridCol w="1054100">
                      <a:extLst>
                        <a:ext uri="{9D8B030D-6E8A-4147-A177-3AD203B41FA5}">
                          <a16:colId xmlns:a16="http://schemas.microsoft.com/office/drawing/2014/main" val="3283285367"/>
                        </a:ext>
                      </a:extLst>
                    </a:gridCol>
                    <a:gridCol w="3416298">
                      <a:extLst>
                        <a:ext uri="{9D8B030D-6E8A-4147-A177-3AD203B41FA5}">
                          <a16:colId xmlns:a16="http://schemas.microsoft.com/office/drawing/2014/main" val="2005870110"/>
                        </a:ext>
                      </a:extLst>
                    </a:gridCol>
                  </a:tblGrid>
                  <a:tr h="370840">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latin typeface="IBM Plex Sans" panose="020B0503050203000203" pitchFamily="34" charset="0"/>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Roboto Mono" panose="00000009000000000000" pitchFamily="50" charset="0"/>
                            </a:rPr>
                            <a:t>a + b</a:t>
                          </a:r>
                          <a:endParaRPr lang="de-DE" sz="1800" kern="1200" dirty="0">
                            <a:solidFill>
                              <a:srgbClr val="A9B7C6"/>
                            </a:solidFill>
                            <a:effectLst/>
                            <a:latin typeface="Roboto Mono" panose="00000009000000000000" pitchFamily="50"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rowSpan="4">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207665" t="-27459" b="-180738"/>
                          </a:stretch>
                        </a:blipFill>
                      </a:tcPr>
                    </a:tc>
                    <a:extLst>
                      <a:ext uri="{0D108BD9-81ED-4DB2-BD59-A6C34878D82A}">
                        <a16:rowId xmlns:a16="http://schemas.microsoft.com/office/drawing/2014/main" val="2449786396"/>
                      </a:ext>
                    </a:extLst>
                  </a:tr>
                  <a:tr h="370840">
                    <a:tc>
                      <a:txBody>
                        <a:bodyPr/>
                        <a:lstStyle/>
                        <a:p>
                          <a:r>
                            <a:rPr lang="de-DE" u="none" dirty="0">
                              <a:solidFill>
                                <a:schemeClr val="tx1"/>
                              </a:solidFill>
                              <a:latin typeface="IBM Plex Sans" panose="020B0503050203000203" pitchFamily="34" charset="0"/>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Zahl</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latin typeface="IBM Plex Sans" panose="020B0503050203000203" pitchFamily="34" charset="0"/>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Zahl</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latin typeface="IBM Plex Sans" panose="020B0503050203000203" pitchFamily="34" charset="0"/>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Zahl</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latin typeface="IBM Plex Sans" panose="020B0503050203000203" pitchFamily="34" charset="0"/>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sz="1800" kern="1200" dirty="0">
                            <a:solidFill>
                              <a:schemeClr val="dk1"/>
                            </a:solidFill>
                            <a:effectLst/>
                            <a:latin typeface="Roboto Mono" panose="00000009000000000000" pitchFamily="50" charset="0"/>
                            <a:ea typeface="+mn-ea"/>
                            <a:cs typeface="+mn-cs"/>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latin typeface="IBM Plex Sans" panose="020B0503050203000203" pitchFamily="34" charset="0"/>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latin typeface="IBM Plex Sans" panose="020B0503050203000203" pitchFamily="34" charset="0"/>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prüfen, ob zwei Werte </a:t>
                          </a:r>
                          <a:r>
                            <a:rPr lang="de-DE" u="sng" dirty="0">
                              <a:solidFill>
                                <a:srgbClr val="FFCCFF"/>
                              </a:solidFill>
                              <a:latin typeface="IBM Plex Sans" panose="020B0503050203000203" pitchFamily="34" charset="0"/>
                            </a:rPr>
                            <a:t>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latin typeface="IBM Plex Sans" panose="020B0503050203000203" pitchFamily="34" charset="0"/>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prüfen, ob zwei Werte </a:t>
                          </a:r>
                          <a:r>
                            <a:rPr lang="de-DE" u="sng" dirty="0">
                              <a:solidFill>
                                <a:srgbClr val="FFCCFF"/>
                              </a:solidFill>
                              <a:latin typeface="IBM Plex Sans" panose="020B0503050203000203" pitchFamily="34" charset="0"/>
                            </a:rPr>
                            <a:t>nicht dieselben</a:t>
                          </a:r>
                          <a:r>
                            <a:rPr lang="de-DE" u="none" dirty="0">
                              <a:solidFill>
                                <a:schemeClr val="tx1"/>
                              </a:solidFill>
                            </a:rPr>
                            <a:t> sind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kumimoji="0" lang="de-DE" altLang="de-DE" sz="1800" b="0" i="0" u="none" strike="noStrike" cap="none" normalizeH="0" baseline="0" dirty="0">
                            <a:ln>
                              <a:noFill/>
                            </a:ln>
                            <a:solidFill>
                              <a:srgbClr val="CC7E47"/>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latin typeface="IBM Plex Sans" panose="020B0503050203000203" pitchFamily="34" charset="0"/>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prüfen, ob zwei Dinge gelten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lang="de-DE" u="none" dirty="0">
                              <a:solidFill>
                                <a:schemeClr val="tx1"/>
                              </a:solidFill>
                              <a:latin typeface="IBM Plex Sans" panose="020B0503050203000203" pitchFamily="34" charset="0"/>
                            </a:rPr>
                            <a: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495953"/>
                      </a:ext>
                    </a:extLst>
                  </a:tr>
                  <a:tr h="370840">
                    <a:tc>
                      <a:txBody>
                        <a:bodyPr/>
                        <a:lstStyle/>
                        <a:p>
                          <a:r>
                            <a:rPr lang="de-DE" u="none" dirty="0">
                              <a:solidFill>
                                <a:schemeClr val="tx1"/>
                              </a:solidFill>
                              <a:latin typeface="IBM Plex Sans" panose="020B0503050203000203" pitchFamily="34" charset="0"/>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prüfen, ob mindestens eins von beiden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48642192"/>
                      </a:ext>
                    </a:extLst>
                  </a:tr>
                  <a:tr h="370840">
                    <a:tc>
                      <a:txBody>
                        <a:bodyPr/>
                        <a:lstStyle/>
                        <a:p>
                          <a:r>
                            <a:rPr lang="de-DE" u="none" dirty="0">
                              <a:solidFill>
                                <a:schemeClr val="tx1"/>
                              </a:solidFill>
                              <a:latin typeface="IBM Plex Sans" panose="020B0503050203000203" pitchFamily="34" charset="0"/>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einen Boolean verneinen (</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u="none" dirty="0">
                              <a:solidFill>
                                <a:schemeClr val="tx1"/>
                              </a:solidFill>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1851007"/>
                      </a:ext>
                    </a:extLst>
                  </a:tr>
                </a:tbl>
              </a:graphicData>
            </a:graphic>
          </p:graphicFrame>
        </mc:Fallback>
      </mc:AlternateContent>
      <p:pic>
        <p:nvPicPr>
          <p:cNvPr id="6" name="Graphic 5" descr="Books with solid fill">
            <a:extLst>
              <a:ext uri="{FF2B5EF4-FFF2-40B4-BE49-F238E27FC236}">
                <a16:creationId xmlns:a16="http://schemas.microsoft.com/office/drawing/2014/main" id="{31303001-4744-4E0C-A896-DE342AB328F2}"/>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974314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B3464-5240-4F26-BE61-69C76ABAFAB4}"/>
              </a:ext>
            </a:extLst>
          </p:cNvPr>
          <p:cNvSpPr>
            <a:spLocks noGrp="1"/>
          </p:cNvSpPr>
          <p:nvPr>
            <p:ph type="title"/>
          </p:nvPr>
        </p:nvSpPr>
        <p:spPr/>
        <p:txBody>
          <a:bodyPr/>
          <a:lstStyle/>
          <a:p>
            <a:r>
              <a:rPr lang="de-DE" dirty="0"/>
              <a:t>primitive type </a:t>
            </a:r>
            <a:r>
              <a:rPr lang="de-DE" dirty="0" err="1"/>
              <a:t>casting</a:t>
            </a:r>
            <a:endParaRPr lang="de-DE" dirty="0"/>
          </a:p>
        </p:txBody>
      </p:sp>
      <p:sp>
        <p:nvSpPr>
          <p:cNvPr id="3" name="Content Placeholder 2">
            <a:extLst>
              <a:ext uri="{FF2B5EF4-FFF2-40B4-BE49-F238E27FC236}">
                <a16:creationId xmlns:a16="http://schemas.microsoft.com/office/drawing/2014/main" id="{EBCF74BA-DEC9-4894-9FEE-78C37CA61331}"/>
              </a:ext>
            </a:extLst>
          </p:cNvPr>
          <p:cNvSpPr>
            <a:spLocks noGrp="1"/>
          </p:cNvSpPr>
          <p:nvPr>
            <p:ph idx="1"/>
          </p:nvPr>
        </p:nvSpPr>
        <p:spPr>
          <a:xfrm>
            <a:off x="838200" y="1823522"/>
            <a:ext cx="10515600" cy="4790772"/>
          </a:xfrm>
          <a:noFill/>
        </p:spPr>
        <p:txBody>
          <a:bodyPr/>
          <a:lstStyle/>
          <a:p>
            <a:r>
              <a:rPr lang="de-DE" dirty="0"/>
              <a:t>Automatisch</a:t>
            </a:r>
            <a:endParaRPr lang="de-DE" dirty="0">
              <a:sym typeface="Wingdings" panose="05000000000000000000" pitchFamily="2" charset="2"/>
            </a:endParaRPr>
          </a:p>
          <a:p>
            <a:pPr marL="457200" lvl="1" indent="0">
              <a:buNone/>
            </a:pPr>
            <a:br>
              <a:rPr lang="de-DE" dirty="0"/>
            </a:br>
            <a:br>
              <a:rPr lang="de-DE" dirty="0"/>
            </a:br>
            <a:endParaRPr lang="de-DE" dirty="0"/>
          </a:p>
          <a:p>
            <a:r>
              <a:rPr lang="de-DE" dirty="0"/>
              <a:t>Manuell</a:t>
            </a:r>
          </a:p>
          <a:p>
            <a:pPr marL="457200" lvl="1"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a = </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1.73f</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a:t>
            </a:r>
            <a:endParaRPr lang="de-DE" sz="1800" dirty="0">
              <a:latin typeface="Roboto Mono" panose="00000009000000000000" pitchFamily="50" charset="0"/>
              <a:ea typeface="Roboto Mono" panose="00000009000000000000" pitchFamily="50" charset="0"/>
            </a:endParaRPr>
          </a:p>
          <a:p>
            <a:pPr lvl="1"/>
            <a:r>
              <a:rPr lang="de-DE" dirty="0"/>
              <a:t>Die Nachkommastellen fallen weg.</a:t>
            </a:r>
          </a:p>
        </p:txBody>
      </p:sp>
      <p:sp>
        <p:nvSpPr>
          <p:cNvPr id="13" name="Rectangle 12">
            <a:extLst>
              <a:ext uri="{FF2B5EF4-FFF2-40B4-BE49-F238E27FC236}">
                <a16:creationId xmlns:a16="http://schemas.microsoft.com/office/drawing/2014/main" id="{CDE9508C-76C0-41DA-8C50-3AA99A86C0F0}"/>
              </a:ext>
            </a:extLst>
          </p:cNvPr>
          <p:cNvSpPr/>
          <p:nvPr/>
        </p:nvSpPr>
        <p:spPr>
          <a:xfrm>
            <a:off x="1105358"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byte</a:t>
            </a:r>
            <a:endParaRPr lang="de-DE" dirty="0">
              <a:latin typeface="IBM Plex Sans" panose="020B0503050203000203" pitchFamily="34" charset="0"/>
            </a:endParaRPr>
          </a:p>
        </p:txBody>
      </p:sp>
      <p:sp>
        <p:nvSpPr>
          <p:cNvPr id="14" name="Rectangle 13">
            <a:extLst>
              <a:ext uri="{FF2B5EF4-FFF2-40B4-BE49-F238E27FC236}">
                <a16:creationId xmlns:a16="http://schemas.microsoft.com/office/drawing/2014/main" id="{05BF629A-83F8-432A-896B-4BB1733C3F2D}"/>
              </a:ext>
            </a:extLst>
          </p:cNvPr>
          <p:cNvSpPr/>
          <p:nvPr/>
        </p:nvSpPr>
        <p:spPr>
          <a:xfrm>
            <a:off x="2841657" y="2279230"/>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short</a:t>
            </a:r>
            <a:endParaRPr lang="de-DE" dirty="0">
              <a:latin typeface="IBM Plex Sans" panose="020B0503050203000203" pitchFamily="34" charset="0"/>
            </a:endParaRPr>
          </a:p>
        </p:txBody>
      </p:sp>
      <p:sp>
        <p:nvSpPr>
          <p:cNvPr id="15" name="Rectangle 14">
            <a:extLst>
              <a:ext uri="{FF2B5EF4-FFF2-40B4-BE49-F238E27FC236}">
                <a16:creationId xmlns:a16="http://schemas.microsoft.com/office/drawing/2014/main" id="{DCEA7164-0540-4349-BBE0-6340BEF33234}"/>
              </a:ext>
            </a:extLst>
          </p:cNvPr>
          <p:cNvSpPr/>
          <p:nvPr/>
        </p:nvSpPr>
        <p:spPr>
          <a:xfrm>
            <a:off x="2841656" y="2921988"/>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char</a:t>
            </a:r>
            <a:endParaRPr lang="de-DE" dirty="0">
              <a:latin typeface="IBM Plex Sans" panose="020B0503050203000203" pitchFamily="34" charset="0"/>
            </a:endParaRPr>
          </a:p>
        </p:txBody>
      </p:sp>
      <p:sp>
        <p:nvSpPr>
          <p:cNvPr id="16" name="Rectangle 15">
            <a:extLst>
              <a:ext uri="{FF2B5EF4-FFF2-40B4-BE49-F238E27FC236}">
                <a16:creationId xmlns:a16="http://schemas.microsoft.com/office/drawing/2014/main" id="{E713E2A4-27BA-4974-8AEE-9454D1989564}"/>
              </a:ext>
            </a:extLst>
          </p:cNvPr>
          <p:cNvSpPr/>
          <p:nvPr/>
        </p:nvSpPr>
        <p:spPr>
          <a:xfrm>
            <a:off x="4577956" y="2606104"/>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dirty="0">
              <a:latin typeface="IBM Plex Sans" panose="020B0503050203000203" pitchFamily="34" charset="0"/>
            </a:endParaRPr>
          </a:p>
        </p:txBody>
      </p:sp>
      <p:sp>
        <p:nvSpPr>
          <p:cNvPr id="17" name="Rectangle 16">
            <a:extLst>
              <a:ext uri="{FF2B5EF4-FFF2-40B4-BE49-F238E27FC236}">
                <a16:creationId xmlns:a16="http://schemas.microsoft.com/office/drawing/2014/main" id="{674FFE64-6305-48D8-9C5B-6839B789E921}"/>
              </a:ext>
            </a:extLst>
          </p:cNvPr>
          <p:cNvSpPr/>
          <p:nvPr/>
        </p:nvSpPr>
        <p:spPr>
          <a:xfrm>
            <a:off x="6314254"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long</a:t>
            </a:r>
            <a:endParaRPr lang="de-DE" dirty="0">
              <a:latin typeface="IBM Plex Sans" panose="020B0503050203000203" pitchFamily="34" charset="0"/>
            </a:endParaRPr>
          </a:p>
        </p:txBody>
      </p:sp>
      <p:sp>
        <p:nvSpPr>
          <p:cNvPr id="18" name="Rectangle 17">
            <a:extLst>
              <a:ext uri="{FF2B5EF4-FFF2-40B4-BE49-F238E27FC236}">
                <a16:creationId xmlns:a16="http://schemas.microsoft.com/office/drawing/2014/main" id="{03EC5B58-3710-4A3E-9837-5C65FE6CD6D4}"/>
              </a:ext>
            </a:extLst>
          </p:cNvPr>
          <p:cNvSpPr/>
          <p:nvPr/>
        </p:nvSpPr>
        <p:spPr>
          <a:xfrm>
            <a:off x="8050552"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float</a:t>
            </a:r>
            <a:endParaRPr lang="de-DE" dirty="0">
              <a:latin typeface="IBM Plex Sans" panose="020B0503050203000203" pitchFamily="34" charset="0"/>
            </a:endParaRPr>
          </a:p>
        </p:txBody>
      </p:sp>
      <p:sp>
        <p:nvSpPr>
          <p:cNvPr id="19" name="Rectangle 18">
            <a:extLst>
              <a:ext uri="{FF2B5EF4-FFF2-40B4-BE49-F238E27FC236}">
                <a16:creationId xmlns:a16="http://schemas.microsoft.com/office/drawing/2014/main" id="{91BC2EAD-1A8C-4BA2-91C9-331950C9C84D}"/>
              </a:ext>
            </a:extLst>
          </p:cNvPr>
          <p:cNvSpPr/>
          <p:nvPr/>
        </p:nvSpPr>
        <p:spPr>
          <a:xfrm>
            <a:off x="9786850" y="2601018"/>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rgbClr val="CC7E47"/>
                </a:solidFill>
                <a:latin typeface="Roboto Mono" panose="00000009000000000000" pitchFamily="50" charset="0"/>
              </a:rPr>
              <a:t>double</a:t>
            </a:r>
            <a:endParaRPr lang="de-DE" dirty="0">
              <a:latin typeface="IBM Plex Sans" panose="020B0503050203000203" pitchFamily="34" charset="0"/>
            </a:endParaRPr>
          </a:p>
        </p:txBody>
      </p:sp>
      <p:cxnSp>
        <p:nvCxnSpPr>
          <p:cNvPr id="30" name="Straight Arrow Connector 29">
            <a:extLst>
              <a:ext uri="{FF2B5EF4-FFF2-40B4-BE49-F238E27FC236}">
                <a16:creationId xmlns:a16="http://schemas.microsoft.com/office/drawing/2014/main" id="{196EC7F3-B4DB-4853-8E6B-53CEBC3D6AC5}"/>
              </a:ext>
            </a:extLst>
          </p:cNvPr>
          <p:cNvCxnSpPr>
            <a:cxnSpLocks/>
            <a:stCxn id="16" idx="3"/>
            <a:endCxn id="17" idx="1"/>
          </p:cNvCxnSpPr>
          <p:nvPr/>
        </p:nvCxnSpPr>
        <p:spPr>
          <a:xfrm flipV="1">
            <a:off x="5966081" y="2833103"/>
            <a:ext cx="348173" cy="43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6247F6B-46EA-47A4-9B57-9A958FCA30AB}"/>
              </a:ext>
            </a:extLst>
          </p:cNvPr>
          <p:cNvCxnSpPr>
            <a:cxnSpLocks/>
            <a:stCxn id="17" idx="3"/>
            <a:endCxn id="18" idx="1"/>
          </p:cNvCxnSpPr>
          <p:nvPr/>
        </p:nvCxnSpPr>
        <p:spPr>
          <a:xfrm>
            <a:off x="7702379" y="2833103"/>
            <a:ext cx="348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3F28501-388E-4845-A577-3DFB6D8E78B9}"/>
              </a:ext>
            </a:extLst>
          </p:cNvPr>
          <p:cNvCxnSpPr>
            <a:cxnSpLocks/>
            <a:stCxn id="18" idx="3"/>
            <a:endCxn id="19" idx="1"/>
          </p:cNvCxnSpPr>
          <p:nvPr/>
        </p:nvCxnSpPr>
        <p:spPr>
          <a:xfrm flipV="1">
            <a:off x="9438677" y="2832372"/>
            <a:ext cx="348173" cy="7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3" name="Graphic 22" descr="Document with solid fill">
            <a:extLst>
              <a:ext uri="{FF2B5EF4-FFF2-40B4-BE49-F238E27FC236}">
                <a16:creationId xmlns:a16="http://schemas.microsoft.com/office/drawing/2014/main" id="{A7DF0C79-4A1E-455E-8536-F7D0BB6EF4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cxnSp>
        <p:nvCxnSpPr>
          <p:cNvPr id="5" name="Straight Arrow Connector 4">
            <a:extLst>
              <a:ext uri="{FF2B5EF4-FFF2-40B4-BE49-F238E27FC236}">
                <a16:creationId xmlns:a16="http://schemas.microsoft.com/office/drawing/2014/main" id="{92B7E4E8-1E23-45AF-B36B-D4B328797405}"/>
              </a:ext>
            </a:extLst>
          </p:cNvPr>
          <p:cNvCxnSpPr>
            <a:cxnSpLocks/>
            <a:stCxn id="14" idx="3"/>
            <a:endCxn id="16" idx="1"/>
          </p:cNvCxnSpPr>
          <p:nvPr/>
        </p:nvCxnSpPr>
        <p:spPr>
          <a:xfrm>
            <a:off x="4229782" y="2510584"/>
            <a:ext cx="348174" cy="326874"/>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CBA9D887-9F3C-4994-92FE-1ECDC6D1B055}"/>
              </a:ext>
            </a:extLst>
          </p:cNvPr>
          <p:cNvCxnSpPr>
            <a:cxnSpLocks/>
            <a:stCxn id="15" idx="3"/>
            <a:endCxn id="16" idx="1"/>
          </p:cNvCxnSpPr>
          <p:nvPr/>
        </p:nvCxnSpPr>
        <p:spPr>
          <a:xfrm flipV="1">
            <a:off x="4229781" y="2837458"/>
            <a:ext cx="348175" cy="315884"/>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023FFE8-8445-48AF-BA1B-63C37C6ECD67}"/>
              </a:ext>
            </a:extLst>
          </p:cNvPr>
          <p:cNvCxnSpPr>
            <a:cxnSpLocks/>
            <a:stCxn id="13" idx="3"/>
            <a:endCxn id="14" idx="1"/>
          </p:cNvCxnSpPr>
          <p:nvPr/>
        </p:nvCxnSpPr>
        <p:spPr>
          <a:xfrm flipV="1">
            <a:off x="2493483" y="2510584"/>
            <a:ext cx="348174" cy="322519"/>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88408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004B2-3584-4A38-BFC4-AA5D45CD2B12}"/>
              </a:ext>
            </a:extLst>
          </p:cNvPr>
          <p:cNvSpPr>
            <a:spLocks noGrp="1"/>
          </p:cNvSpPr>
          <p:nvPr>
            <p:ph type="title"/>
          </p:nvPr>
        </p:nvSpPr>
        <p:spPr/>
        <p:txBody>
          <a:bodyPr/>
          <a:lstStyle/>
          <a:p>
            <a:r>
              <a:rPr lang="de-DE" dirty="0" err="1"/>
              <a:t>Compilezeit</a:t>
            </a:r>
            <a:r>
              <a:rPr lang="de-DE" dirty="0"/>
              <a:t> vs. Laufzeit</a:t>
            </a:r>
          </a:p>
        </p:txBody>
      </p:sp>
      <p:sp>
        <p:nvSpPr>
          <p:cNvPr id="3" name="Content Placeholder 2">
            <a:extLst>
              <a:ext uri="{FF2B5EF4-FFF2-40B4-BE49-F238E27FC236}">
                <a16:creationId xmlns:a16="http://schemas.microsoft.com/office/drawing/2014/main" id="{A32887D1-9C2A-4F5F-AC7C-F6876946A86E}"/>
              </a:ext>
            </a:extLst>
          </p:cNvPr>
          <p:cNvSpPr>
            <a:spLocks noGrp="1"/>
          </p:cNvSpPr>
          <p:nvPr>
            <p:ph idx="1"/>
          </p:nvPr>
        </p:nvSpPr>
        <p:spPr/>
        <p:txBody>
          <a:bodyPr/>
          <a:lstStyle/>
          <a:p>
            <a:r>
              <a:rPr lang="de-DE" dirty="0" err="1"/>
              <a:t>Compilezeit</a:t>
            </a:r>
            <a:r>
              <a:rPr lang="de-DE" dirty="0"/>
              <a:t> </a:t>
            </a:r>
            <a:r>
              <a:rPr lang="de-DE" i="1" dirty="0"/>
              <a:t>(eng. </a:t>
            </a:r>
            <a:r>
              <a:rPr lang="de-DE" i="1" dirty="0" err="1"/>
              <a:t>compile</a:t>
            </a:r>
            <a:r>
              <a:rPr lang="de-DE" i="1" dirty="0"/>
              <a:t> time)</a:t>
            </a:r>
          </a:p>
          <a:p>
            <a:pPr lvl="1"/>
            <a:r>
              <a:rPr lang="de-DE" dirty="0"/>
              <a:t>Zeit, in der das Programm in Maschinencode übersetzt wird</a:t>
            </a:r>
          </a:p>
          <a:p>
            <a:pPr lvl="1"/>
            <a:r>
              <a:rPr lang="de-DE" dirty="0"/>
              <a:t>Hier können Syntaxfehler auftreten.</a:t>
            </a:r>
          </a:p>
          <a:p>
            <a:r>
              <a:rPr lang="de-DE" dirty="0"/>
              <a:t>Laufzeit </a:t>
            </a:r>
            <a:r>
              <a:rPr lang="de-DE" i="1" dirty="0"/>
              <a:t>(eng. </a:t>
            </a:r>
            <a:r>
              <a:rPr lang="de-DE" i="1" dirty="0" err="1"/>
              <a:t>runtime</a:t>
            </a:r>
            <a:r>
              <a:rPr lang="de-DE" i="1" dirty="0"/>
              <a:t>)</a:t>
            </a:r>
          </a:p>
          <a:p>
            <a:pPr lvl="1"/>
            <a:r>
              <a:rPr lang="de-DE" dirty="0"/>
              <a:t>Zeit, in der das Programm ausgeführt wird</a:t>
            </a:r>
          </a:p>
          <a:p>
            <a:pPr lvl="1"/>
            <a:r>
              <a:rPr lang="de-DE" dirty="0"/>
              <a:t>Hier können semantische Fehler auftreten.</a:t>
            </a:r>
          </a:p>
          <a:p>
            <a:r>
              <a:rPr lang="de-DE" dirty="0"/>
              <a:t>Es ist besser, wenn Fehler zur </a:t>
            </a:r>
            <a:r>
              <a:rPr lang="de-DE" dirty="0" err="1"/>
              <a:t>Compilezeit</a:t>
            </a:r>
            <a:r>
              <a:rPr lang="de-DE" dirty="0"/>
              <a:t> auftreten.</a:t>
            </a:r>
          </a:p>
        </p:txBody>
      </p:sp>
    </p:spTree>
    <p:extLst>
      <p:ext uri="{BB962C8B-B14F-4D97-AF65-F5344CB8AC3E}">
        <p14:creationId xmlns:p14="http://schemas.microsoft.com/office/powerpoint/2010/main" val="16954694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EF3DF8-3F53-4D3F-BBB7-B1982752CFCF}"/>
              </a:ext>
            </a:extLst>
          </p:cNvPr>
          <p:cNvSpPr>
            <a:spLocks noGrp="1"/>
          </p:cNvSpPr>
          <p:nvPr>
            <p:ph type="title"/>
          </p:nvPr>
        </p:nvSpPr>
        <p:spPr/>
        <p:txBody>
          <a:bodyPr/>
          <a:lstStyle/>
          <a:p>
            <a:r>
              <a:rPr lang="de-DE" dirty="0"/>
              <a:t>Objekte</a:t>
            </a:r>
          </a:p>
        </p:txBody>
      </p:sp>
      <mc:AlternateContent xmlns:mc="http://schemas.openxmlformats.org/markup-compatibility/2006" xmlns:a14="http://schemas.microsoft.com/office/drawing/2010/main">
        <mc:Choice Requires="a14">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2539323037"/>
                  </p:ext>
                </p:extLst>
              </p:nvPr>
            </p:nvGraphicFramePr>
            <p:xfrm>
              <a:off x="838199" y="1825625"/>
              <a:ext cx="10892368" cy="4976181"/>
            </p:xfrm>
            <a:graphic>
              <a:graphicData uri="http://schemas.openxmlformats.org/drawingml/2006/table">
                <a:tbl>
                  <a:tblPr firstRow="1" bandRow="1">
                    <a:tableStyleId>{5C22544A-7EE6-4342-B048-85BDC9FD1C3A}</a:tableStyleId>
                  </a:tblPr>
                  <a:tblGrid>
                    <a:gridCol w="1131333">
                      <a:extLst>
                        <a:ext uri="{9D8B030D-6E8A-4147-A177-3AD203B41FA5}">
                          <a16:colId xmlns:a16="http://schemas.microsoft.com/office/drawing/2014/main" val="1314229418"/>
                        </a:ext>
                      </a:extLst>
                    </a:gridCol>
                    <a:gridCol w="2012720">
                      <a:extLst>
                        <a:ext uri="{9D8B030D-6E8A-4147-A177-3AD203B41FA5}">
                          <a16:colId xmlns:a16="http://schemas.microsoft.com/office/drawing/2014/main" val="2534246192"/>
                        </a:ext>
                      </a:extLst>
                    </a:gridCol>
                    <a:gridCol w="2803781">
                      <a:extLst>
                        <a:ext uri="{9D8B030D-6E8A-4147-A177-3AD203B41FA5}">
                          <a16:colId xmlns:a16="http://schemas.microsoft.com/office/drawing/2014/main" val="3563354033"/>
                        </a:ext>
                      </a:extLst>
                    </a:gridCol>
                    <a:gridCol w="4944534">
                      <a:extLst>
                        <a:ext uri="{9D8B030D-6E8A-4147-A177-3AD203B41FA5}">
                          <a16:colId xmlns:a16="http://schemas.microsoft.com/office/drawing/2014/main" val="1499601393"/>
                        </a:ext>
                      </a:extLst>
                    </a:gridCol>
                  </a:tblGrid>
                  <a:tr h="436563">
                    <a:tc gridSpan="4">
                      <a:txBody>
                        <a:bodyPr/>
                        <a:lstStyle/>
                        <a:p>
                          <a:pPr marL="0" indent="0">
                            <a:buNone/>
                          </a:pPr>
                          <a:r>
                            <a:rPr lang="de-DE" b="0" dirty="0">
                              <a:latin typeface="IBM Plex Sans" panose="020B0503050203000203" pitchFamily="34" charset="0"/>
                            </a:rPr>
                            <a:t>… repräsentieren eine Einheit im Programm</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marL="0" indent="0">
                            <a:buNone/>
                          </a:pPr>
                          <a:endParaRPr lang="de-DE" b="0"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0342850"/>
                      </a:ext>
                    </a:extLst>
                  </a:tr>
                  <a:tr h="436563">
                    <a:tc gridSpan="4">
                      <a:txBody>
                        <a:bodyPr/>
                        <a:lstStyle/>
                        <a:p>
                          <a:pPr marL="0" indent="0">
                            <a:buNone/>
                          </a:pPr>
                          <a:r>
                            <a:rPr lang="de-DE" b="0" dirty="0">
                              <a:solidFill>
                                <a:schemeClr val="tx1"/>
                              </a:solidFill>
                              <a:latin typeface="IBM Plex Sans" panose="020B0503050203000203" pitchFamily="34" charset="0"/>
                            </a:rPr>
                            <a:t>… liegen irgendwo im Speicher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a:p>
                      </a:txBody>
                      <a:tcPr/>
                    </a:tc>
                    <a:tc hMerge="1">
                      <a:txBody>
                        <a:bodyPr/>
                        <a:lstStyle/>
                        <a:p>
                          <a:pPr marL="0" indent="0">
                            <a:buNone/>
                          </a:pPr>
                          <a:endParaRPr lang="de-DE" b="0"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549875"/>
                      </a:ext>
                    </a:extLst>
                  </a:tr>
                  <a:tr h="436563">
                    <a:tc gridSpan="4">
                      <a:txBody>
                        <a:bodyPr/>
                        <a:lstStyle/>
                        <a:p>
                          <a:r>
                            <a:rPr lang="de-DE" dirty="0">
                              <a:solidFill>
                                <a:schemeClr val="tx1"/>
                              </a:solidFill>
                              <a:latin typeface="IBM Plex Sans" panose="020B0503050203000203" pitchFamily="34" charset="0"/>
                            </a:rPr>
                            <a:t>… sind Tupel </a:t>
                          </a:r>
                          <a14:m>
                            <m:oMath xmlns:m="http://schemas.openxmlformats.org/officeDocument/2006/math">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𝑘</m:t>
                                  </m:r>
                                  <m:r>
                                    <a:rPr lang="en-US" b="0" i="1"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2</m:t>
                                      </m:r>
                                    </m:sub>
                                  </m:sSub>
                                  <m:r>
                                    <a:rPr lang="en-US" b="0" i="1" smtClean="0">
                                      <a:solidFill>
                                        <a:schemeClr val="tx1"/>
                                      </a:solidFill>
                                      <a:latin typeface="Cambria Math" panose="02040503050406030204" pitchFamily="18" charset="0"/>
                                    </a:rPr>
                                    <m:t>,  …,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𝑛</m:t>
                                      </m:r>
                                    </m:sub>
                                  </m:sSub>
                                </m:e>
                              </m:d>
                              <m:r>
                                <a:rPr lang="en-US" b="0" i="0"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𝑘</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𝐾𝑙𝑎𝑠𝑠𝑒𝑛</m:t>
                              </m:r>
                              <m:r>
                                <a:rPr lang="en-US" b="0" i="0" smtClean="0">
                                  <a:solidFill>
                                    <a:schemeClr val="tx1"/>
                                  </a:solidFill>
                                  <a:latin typeface="Cambria Math" panose="02040503050406030204" pitchFamily="18" charset="0"/>
                                </a:rPr>
                                <m:t>,</m:t>
                              </m:r>
                              <m:r>
                                <m:rPr>
                                  <m:nor/>
                                </m:rPr>
                                <a:rPr lang="en-US" b="0" i="0"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𝐴𝑡𝑡𝑟𝑖𝑏𝑢𝑡𝑒</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𝑛</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𝐴𝑛𝑧𝑎h𝑙</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𝑑𝑒𝑟</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𝐴𝑡𝑡𝑟𝑖𝑏𝑢𝑡𝑒</m:t>
                              </m:r>
                            </m:oMath>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1254833"/>
                      </a:ext>
                    </a:extLst>
                  </a:tr>
                  <a:tr h="436563">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 sind immer </a:t>
                          </a:r>
                          <a:r>
                            <a:rPr lang="de-DE" dirty="0">
                              <a:solidFill>
                                <a:srgbClr val="FFCCFF"/>
                              </a:solidFill>
                              <a:latin typeface="IBM Plex Sans" panose="020B0503050203000203" pitchFamily="34" charset="0"/>
                            </a:rPr>
                            <a:t>Instanzen</a:t>
                          </a:r>
                          <a:r>
                            <a:rPr lang="de-DE" dirty="0">
                              <a:solidFill>
                                <a:schemeClr val="tx1"/>
                              </a:solidFill>
                              <a:latin typeface="IBM Plex Sans" panose="020B0503050203000203" pitchFamily="34" charset="0"/>
                            </a:rPr>
                            <a:t> von ihrer Klasse </a:t>
                          </a:r>
                          <a14:m>
                            <m:oMath xmlns:m="http://schemas.openxmlformats.org/officeDocument/2006/math">
                              <m:r>
                                <a:rPr lang="en-US" b="0" i="1" smtClean="0">
                                  <a:solidFill>
                                    <a:schemeClr val="tx1"/>
                                  </a:solidFill>
                                  <a:latin typeface="Cambria Math" panose="02040503050406030204" pitchFamily="18" charset="0"/>
                                </a:rPr>
                                <m:t>𝑘</m:t>
                              </m:r>
                            </m:oMath>
                          </a14:m>
                          <a:r>
                            <a:rPr lang="de-DE" dirty="0">
                              <a:solidFill>
                                <a:schemeClr val="tx1"/>
                              </a:solidFill>
                              <a:latin typeface="IBM Plex Sans" panose="020B0503050203000203" pitchFamily="34" charset="0"/>
                            </a:rPr>
                            <a:t> (siehe </a:t>
                          </a:r>
                          <a:r>
                            <a:rPr lang="de-DE" baseline="0" dirty="0">
                              <a:solidFill>
                                <a:schemeClr val="tx1"/>
                              </a:solidFill>
                              <a:latin typeface="IBM Plex Sans" panose="020B0503050203000203" pitchFamily="34" charset="0"/>
                              <a:hlinkClick r:id="rId2" action="ppaction://hlinksldjump"/>
                            </a:rPr>
                            <a:t>Objektorientierung</a:t>
                          </a:r>
                          <a:r>
                            <a:rPr lang="de-DE" baseline="0" dirty="0">
                              <a:solidFill>
                                <a:schemeClr val="tx1"/>
                              </a:solidFill>
                              <a:latin typeface="IBM Plex Sans" panose="020B0503050203000203" pitchFamily="34"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33816595"/>
                      </a:ext>
                    </a:extLst>
                  </a:tr>
                  <a:tr h="436563">
                    <a:tc>
                      <a:txBody>
                        <a:bodyPr/>
                        <a:lstStyle/>
                        <a:p>
                          <a:r>
                            <a:rPr lang="de-DE" b="1"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Speichert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0376625"/>
                      </a:ext>
                    </a:extLst>
                  </a:tr>
                  <a:tr h="436563">
                    <a:tc>
                      <a:txBody>
                        <a:bodyPr/>
                        <a:lstStyle/>
                        <a:p>
                          <a:r>
                            <a:rPr lang="de-DE" u="sng" dirty="0">
                              <a:solidFill>
                                <a:schemeClr val="tx1"/>
                              </a:solidFill>
                              <a:latin typeface="IBM Plex Sans" panose="020B0503050203000203" pitchFamily="34" charset="0"/>
                              <a:hlinkClick r:id="rId3" action="ppaction://hlinksldjump"/>
                            </a:rPr>
                            <a:t>String</a:t>
                          </a:r>
                          <a:endParaRPr lang="de-DE" u="sng"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Zeichenkette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Beliebig viele Zeichen (Text)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"Hallo"</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dirty="0">
                              <a:solidFill>
                                <a:schemeClr val="tx1"/>
                              </a:solidFill>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String</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'a'</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'o'</a:t>
                          </a:r>
                          <a:r>
                            <a:rPr lang="de-DE" sz="1400" dirty="0">
                              <a:solidFill>
                                <a:schemeClr val="tx1"/>
                              </a:solidFill>
                              <a:latin typeface="Roboto Mono" panose="00000009000000000000" pitchFamily="50" charset="0"/>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836855"/>
                      </a:ext>
                    </a:extLst>
                  </a:tr>
                  <a:tr h="436563">
                    <a:tc>
                      <a:txBody>
                        <a:bodyPr/>
                        <a:lstStyle/>
                        <a:p>
                          <a:r>
                            <a:rPr lang="de-DE" u="sng" dirty="0">
                              <a:solidFill>
                                <a:schemeClr val="tx1"/>
                              </a:solidFill>
                              <a:latin typeface="IBM Plex Sans" panose="020B0503050203000203" pitchFamily="34" charset="0"/>
                              <a:hlinkClick r:id="rId4" action="ppaction://hlinksldjump"/>
                            </a:rPr>
                            <a:t>Scanner</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Eingaben-Leser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Infos zum Einlesen von Text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sz="1400"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33939627"/>
                      </a:ext>
                    </a:extLst>
                  </a:tr>
                  <a:tr h="436563">
                    <a:tc>
                      <a:txBody>
                        <a:bodyPr/>
                        <a:lstStyle/>
                        <a:p>
                          <a:r>
                            <a:rPr lang="de-DE" u="none" dirty="0">
                              <a:solidFill>
                                <a:schemeClr val="tx1"/>
                              </a:solidFill>
                              <a:latin typeface="IBM Plex Sans" panose="020B0503050203000203" pitchFamily="34" charset="0"/>
                              <a:hlinkClick r:id="rId5" action="ppaction://hlinksldjump"/>
                            </a:rPr>
                            <a:t>Array</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Datenfeld / Reihe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Beliebig viele Variablen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u="none" dirty="0">
                              <a:solidFill>
                                <a:schemeClr val="tx1"/>
                              </a:solidFill>
                              <a:latin typeface="Roboto Mono" panose="00000009000000000000" pitchFamily="50" charset="0"/>
                            </a:rPr>
                            <a:t>(</a:t>
                          </a:r>
                          <a:r>
                            <a:rPr kumimoji="0" lang="de-DE" altLang="de-DE" sz="14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400" b="0" i="0" u="none" strike="noStrike" cap="none" normalizeH="0" baseline="0" dirty="0">
                              <a:ln>
                                <a:noFill/>
                              </a:ln>
                              <a:solidFill>
                                <a:srgbClr val="8552D3"/>
                              </a:solidFill>
                              <a:effectLst/>
                              <a:latin typeface="Roboto Mono" panose="00000009000000000000" pitchFamily="50" charset="0"/>
                              <a:cs typeface="JetBrains Mono" panose="02000009000000000000" pitchFamily="49" charset="0"/>
                            </a:rPr>
                            <a:t>[]</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lang="de-DE" sz="14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193656"/>
                      </a:ext>
                    </a:extLst>
                  </a:tr>
                  <a:tr h="436563">
                    <a:tc gridSpan="2">
                      <a:txBody>
                        <a:bodyPr/>
                        <a:lstStyle/>
                        <a:p>
                          <a:r>
                            <a:rPr lang="de-DE" u="none" dirty="0">
                              <a:solidFill>
                                <a:schemeClr val="tx1"/>
                              </a:solidFill>
                              <a:latin typeface="IBM Plex Sans" panose="020B0503050203000203" pitchFamily="34" charset="0"/>
                            </a:rPr>
                            <a:t>Gegenstand in einem Spiel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latin typeface="Calibri" panose="020F050202020403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Eigenschaften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4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497063"/>
                      </a:ext>
                    </a:extLst>
                  </a:tr>
                  <a:tr h="436563">
                    <a:tc gridSpan="3">
                      <a:txBody>
                        <a:bodyPr/>
                        <a:lstStyle/>
                        <a:p>
                          <a:r>
                            <a:rPr lang="de-DE" u="none" dirty="0">
                              <a:solidFill>
                                <a:schemeClr val="tx1"/>
                              </a:solidFill>
                              <a:latin typeface="IBM Plex Sans" panose="020B0503050203000203" pitchFamily="34" charset="0"/>
                            </a:rPr>
                            <a:t>… weitere (z.B. selbst definierte)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8383703"/>
                      </a:ext>
                    </a:extLst>
                  </a:tr>
                </a:tbl>
              </a:graphicData>
            </a:graphic>
          </p:graphicFrame>
        </mc:Choice>
        <mc:Fallback xmlns="">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2539323037"/>
                  </p:ext>
                </p:extLst>
              </p:nvPr>
            </p:nvGraphicFramePr>
            <p:xfrm>
              <a:off x="838199" y="1825625"/>
              <a:ext cx="10892368" cy="4976181"/>
            </p:xfrm>
            <a:graphic>
              <a:graphicData uri="http://schemas.openxmlformats.org/drawingml/2006/table">
                <a:tbl>
                  <a:tblPr firstRow="1" bandRow="1">
                    <a:tableStyleId>{5C22544A-7EE6-4342-B048-85BDC9FD1C3A}</a:tableStyleId>
                  </a:tblPr>
                  <a:tblGrid>
                    <a:gridCol w="1131333">
                      <a:extLst>
                        <a:ext uri="{9D8B030D-6E8A-4147-A177-3AD203B41FA5}">
                          <a16:colId xmlns:a16="http://schemas.microsoft.com/office/drawing/2014/main" val="1314229418"/>
                        </a:ext>
                      </a:extLst>
                    </a:gridCol>
                    <a:gridCol w="2012720">
                      <a:extLst>
                        <a:ext uri="{9D8B030D-6E8A-4147-A177-3AD203B41FA5}">
                          <a16:colId xmlns:a16="http://schemas.microsoft.com/office/drawing/2014/main" val="2534246192"/>
                        </a:ext>
                      </a:extLst>
                    </a:gridCol>
                    <a:gridCol w="2803781">
                      <a:extLst>
                        <a:ext uri="{9D8B030D-6E8A-4147-A177-3AD203B41FA5}">
                          <a16:colId xmlns:a16="http://schemas.microsoft.com/office/drawing/2014/main" val="3563354033"/>
                        </a:ext>
                      </a:extLst>
                    </a:gridCol>
                    <a:gridCol w="4944534">
                      <a:extLst>
                        <a:ext uri="{9D8B030D-6E8A-4147-A177-3AD203B41FA5}">
                          <a16:colId xmlns:a16="http://schemas.microsoft.com/office/drawing/2014/main" val="1499601393"/>
                        </a:ext>
                      </a:extLst>
                    </a:gridCol>
                  </a:tblGrid>
                  <a:tr h="436563">
                    <a:tc gridSpan="4">
                      <a:txBody>
                        <a:bodyPr/>
                        <a:lstStyle/>
                        <a:p>
                          <a:pPr marL="0" indent="0">
                            <a:buNone/>
                          </a:pPr>
                          <a:r>
                            <a:rPr lang="de-DE" b="0" dirty="0">
                              <a:latin typeface="IBM Plex Sans" panose="020B0503050203000203" pitchFamily="34" charset="0"/>
                            </a:rPr>
                            <a:t>… repräsentieren eine Einheit im Programm</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marL="0" indent="0">
                            <a:buNone/>
                          </a:pPr>
                          <a:endParaRPr lang="de-DE" b="0"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0342850"/>
                      </a:ext>
                    </a:extLst>
                  </a:tr>
                  <a:tr h="436563">
                    <a:tc gridSpan="4">
                      <a:txBody>
                        <a:bodyPr/>
                        <a:lstStyle/>
                        <a:p>
                          <a:pPr marL="0" indent="0">
                            <a:buNone/>
                          </a:pPr>
                          <a:r>
                            <a:rPr lang="de-DE" b="0" dirty="0">
                              <a:solidFill>
                                <a:schemeClr val="tx1"/>
                              </a:solidFill>
                              <a:latin typeface="IBM Plex Sans" panose="020B0503050203000203" pitchFamily="34" charset="0"/>
                            </a:rPr>
                            <a:t>… liegen irgendwo im Speicher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a:p>
                      </a:txBody>
                      <a:tcPr/>
                    </a:tc>
                    <a:tc hMerge="1">
                      <a:txBody>
                        <a:bodyPr/>
                        <a:lstStyle/>
                        <a:p>
                          <a:pPr marL="0" indent="0">
                            <a:buNone/>
                          </a:pPr>
                          <a:endParaRPr lang="de-DE" b="0"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549875"/>
                      </a:ext>
                    </a:extLst>
                  </a:tr>
                  <a:tr h="436563">
                    <a:tc gridSpan="4">
                      <a:txBody>
                        <a:bodyPr/>
                        <a:lstStyle/>
                        <a:p>
                          <a:endParaRPr lang="de-DE"/>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6"/>
                          <a:stretch>
                            <a:fillRect t="-206944" b="-840278"/>
                          </a:stretch>
                        </a:blip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1254833"/>
                      </a:ext>
                    </a:extLst>
                  </a:tr>
                  <a:tr h="640080">
                    <a:tc gridSpan="4">
                      <a:txBody>
                        <a:bodyPr/>
                        <a:lstStyle/>
                        <a:p>
                          <a:endParaRPr lang="de-DE"/>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6"/>
                          <a:stretch>
                            <a:fillRect t="-210476" b="-476190"/>
                          </a:stretch>
                        </a:blipFill>
                      </a:tcPr>
                    </a:tc>
                    <a:tc hMerge="1">
                      <a:txBody>
                        <a:bodyPr/>
                        <a:lstStyle/>
                        <a:p>
                          <a:endParaRPr lang="de-DE"/>
                        </a:p>
                      </a:txBody>
                      <a:tcPr/>
                    </a:tc>
                    <a:tc hMerge="1">
                      <a:txBody>
                        <a:bodyPr/>
                        <a:lstStyle/>
                        <a:p>
                          <a:endParaRPr lang="de-DE"/>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33816595"/>
                      </a:ext>
                    </a:extLst>
                  </a:tr>
                  <a:tr h="436563">
                    <a:tc>
                      <a:txBody>
                        <a:bodyPr/>
                        <a:lstStyle/>
                        <a:p>
                          <a:r>
                            <a:rPr lang="de-DE" b="1"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Speichert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0376625"/>
                      </a:ext>
                    </a:extLst>
                  </a:tr>
                  <a:tr h="640080">
                    <a:tc>
                      <a:txBody>
                        <a:bodyPr/>
                        <a:lstStyle/>
                        <a:p>
                          <a:r>
                            <a:rPr lang="de-DE" u="sng" dirty="0">
                              <a:solidFill>
                                <a:schemeClr val="tx1"/>
                              </a:solidFill>
                              <a:latin typeface="IBM Plex Sans" panose="020B0503050203000203" pitchFamily="34" charset="0"/>
                              <a:hlinkClick r:id="rId7" action="ppaction://hlinksldjump"/>
                            </a:rPr>
                            <a:t>String</a:t>
                          </a:r>
                          <a:endParaRPr lang="de-DE" u="sng"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Zeichenkette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Beliebig viele Zeichen (Text)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"Hallo"</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dirty="0">
                              <a:solidFill>
                                <a:schemeClr val="tx1"/>
                              </a:solidFill>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String</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'a'</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'o'</a:t>
                          </a:r>
                          <a:r>
                            <a:rPr lang="de-DE" sz="1400" dirty="0">
                              <a:solidFill>
                                <a:schemeClr val="tx1"/>
                              </a:solidFill>
                              <a:latin typeface="Roboto Mono" panose="00000009000000000000" pitchFamily="50" charset="0"/>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836855"/>
                      </a:ext>
                    </a:extLst>
                  </a:tr>
                  <a:tr h="640080">
                    <a:tc>
                      <a:txBody>
                        <a:bodyPr/>
                        <a:lstStyle/>
                        <a:p>
                          <a:r>
                            <a:rPr lang="de-DE" u="sng" dirty="0">
                              <a:solidFill>
                                <a:schemeClr val="tx1"/>
                              </a:solidFill>
                              <a:latin typeface="IBM Plex Sans" panose="020B0503050203000203" pitchFamily="34" charset="0"/>
                              <a:hlinkClick r:id="rId8" action="ppaction://hlinksldjump"/>
                            </a:rPr>
                            <a:t>Scanner</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Eingaben-Leser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Infos zum Einlesen von Text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sz="1400"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33939627"/>
                      </a:ext>
                    </a:extLst>
                  </a:tr>
                  <a:tr h="436563">
                    <a:tc>
                      <a:txBody>
                        <a:bodyPr/>
                        <a:lstStyle/>
                        <a:p>
                          <a:r>
                            <a:rPr lang="de-DE" u="none" dirty="0">
                              <a:solidFill>
                                <a:schemeClr val="tx1"/>
                              </a:solidFill>
                              <a:latin typeface="IBM Plex Sans" panose="020B0503050203000203" pitchFamily="34" charset="0"/>
                              <a:hlinkClick r:id="rId9" action="ppaction://hlinksldjump"/>
                            </a:rPr>
                            <a:t>Array</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Datenfeld / Reihe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Beliebig viele Variablen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u="none" dirty="0">
                              <a:solidFill>
                                <a:schemeClr val="tx1"/>
                              </a:solidFill>
                              <a:latin typeface="Roboto Mono" panose="00000009000000000000" pitchFamily="50" charset="0"/>
                            </a:rPr>
                            <a:t>(</a:t>
                          </a:r>
                          <a:r>
                            <a:rPr kumimoji="0" lang="de-DE" altLang="de-DE" sz="14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400" b="0" i="0" u="none" strike="noStrike" cap="none" normalizeH="0" baseline="0" dirty="0">
                              <a:ln>
                                <a:noFill/>
                              </a:ln>
                              <a:solidFill>
                                <a:srgbClr val="8552D3"/>
                              </a:solidFill>
                              <a:effectLst/>
                              <a:latin typeface="Roboto Mono" panose="00000009000000000000" pitchFamily="50" charset="0"/>
                              <a:cs typeface="JetBrains Mono" panose="02000009000000000000" pitchFamily="49" charset="0"/>
                            </a:rPr>
                            <a:t>[]</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lang="de-DE" sz="14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193656"/>
                      </a:ext>
                    </a:extLst>
                  </a:tr>
                  <a:tr h="436563">
                    <a:tc gridSpan="2">
                      <a:txBody>
                        <a:bodyPr/>
                        <a:lstStyle/>
                        <a:p>
                          <a:r>
                            <a:rPr lang="de-DE" u="none" dirty="0">
                              <a:solidFill>
                                <a:schemeClr val="tx1"/>
                              </a:solidFill>
                              <a:latin typeface="IBM Plex Sans" panose="020B0503050203000203" pitchFamily="34" charset="0"/>
                            </a:rPr>
                            <a:t>Gegenstand in einem Spiel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latin typeface="Calibri" panose="020F050202020403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Eigenschaften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4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497063"/>
                      </a:ext>
                    </a:extLst>
                  </a:tr>
                  <a:tr h="436563">
                    <a:tc gridSpan="3">
                      <a:txBody>
                        <a:bodyPr/>
                        <a:lstStyle/>
                        <a:p>
                          <a:r>
                            <a:rPr lang="de-DE" u="none" dirty="0">
                              <a:solidFill>
                                <a:schemeClr val="tx1"/>
                              </a:solidFill>
                              <a:latin typeface="IBM Plex Sans" panose="020B0503050203000203" pitchFamily="34" charset="0"/>
                            </a:rPr>
                            <a:t>… weitere (z.B. selbst definierte)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8383703"/>
                      </a:ext>
                    </a:extLst>
                  </a:tr>
                </a:tbl>
              </a:graphicData>
            </a:graphic>
          </p:graphicFrame>
        </mc:Fallback>
      </mc:AlternateContent>
      <p:pic>
        <p:nvPicPr>
          <p:cNvPr id="6" name="Graphic 5" descr="Books with solid fill">
            <a:extLst>
              <a:ext uri="{FF2B5EF4-FFF2-40B4-BE49-F238E27FC236}">
                <a16:creationId xmlns:a16="http://schemas.microsoft.com/office/drawing/2014/main" id="{D5DEC594-E728-49AF-9E03-3459A3BE066B}"/>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757107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784433-D79D-44AF-B59D-E8E6F853A2AF}"/>
              </a:ext>
            </a:extLst>
          </p:cNvPr>
          <p:cNvSpPr>
            <a:spLocks noGrp="1"/>
          </p:cNvSpPr>
          <p:nvPr>
            <p:ph type="title"/>
          </p:nvPr>
        </p:nvSpPr>
        <p:spPr/>
        <p:txBody>
          <a:bodyPr/>
          <a:lstStyle/>
          <a:p>
            <a:r>
              <a:rPr lang="de-DE" dirty="0"/>
              <a:t>Scanner</a:t>
            </a:r>
          </a:p>
        </p:txBody>
      </p:sp>
      <p:sp>
        <p:nvSpPr>
          <p:cNvPr id="3" name="Inhaltsplatzhalter 2">
            <a:extLst>
              <a:ext uri="{FF2B5EF4-FFF2-40B4-BE49-F238E27FC236}">
                <a16:creationId xmlns:a16="http://schemas.microsoft.com/office/drawing/2014/main" id="{A8BCBE00-FD15-411B-BBB7-24FCDFFCF585}"/>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Erstelle einen Scanner. Er soll aus der </a:t>
            </a:r>
            <a:r>
              <a:rPr kumimoji="0" lang="de-DE" altLang="de-DE" sz="1800" b="0" i="0" u="none" strike="noStrike" cap="none" normalizeH="0" baseline="0" dirty="0">
                <a:ln>
                  <a:noFill/>
                </a:ln>
                <a:solidFill>
                  <a:srgbClr val="FFCCFF"/>
                </a:solidFill>
                <a:effectLst/>
                <a:latin typeface="Roboto Mono" panose="00000009000000000000" pitchFamily="50" charset="0"/>
              </a:rPr>
              <a:t>Konsole</a:t>
            </a:r>
            <a:r>
              <a:rPr kumimoji="0" lang="de-DE" altLang="de-DE" sz="1800" b="0" i="0" u="none" strike="noStrike" cap="none" normalizeH="0" baseline="0" dirty="0">
                <a:ln>
                  <a:noFill/>
                </a:ln>
                <a:solidFill>
                  <a:srgbClr val="808080"/>
                </a:solidFill>
                <a:effectLst/>
                <a:latin typeface="Roboto Mono" panose="00000009000000000000" pitchFamily="50" charset="0"/>
              </a:rPr>
              <a:t> (System.in) lesen.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Eingaben einlesen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7" name="Graphic 6" descr="Document with solid fill">
            <a:extLst>
              <a:ext uri="{FF2B5EF4-FFF2-40B4-BE49-F238E27FC236}">
                <a16:creationId xmlns:a16="http://schemas.microsoft.com/office/drawing/2014/main" id="{CB2B3E50-B565-4097-88D3-59331B574F1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362113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D48838-6A70-6046-BE9B-C2E69248128F}"/>
              </a:ext>
            </a:extLst>
          </p:cNvPr>
          <p:cNvSpPr>
            <a:spLocks noGrp="1"/>
          </p:cNvSpPr>
          <p:nvPr>
            <p:ph type="title"/>
          </p:nvPr>
        </p:nvSpPr>
        <p:spPr/>
        <p:txBody>
          <a:bodyPr/>
          <a:lstStyle/>
          <a:p>
            <a:r>
              <a:rPr lang="de-DE" dirty="0"/>
              <a:t>Objektvariablen</a:t>
            </a:r>
          </a:p>
        </p:txBody>
      </p:sp>
      <p:sp>
        <p:nvSpPr>
          <p:cNvPr id="5" name="Textfeld 4">
            <a:extLst>
              <a:ext uri="{FF2B5EF4-FFF2-40B4-BE49-F238E27FC236}">
                <a16:creationId xmlns:a16="http://schemas.microsoft.com/office/drawing/2014/main" id="{9806393A-274E-25A2-C77A-FB360BA107AE}"/>
              </a:ext>
            </a:extLst>
          </p:cNvPr>
          <p:cNvSpPr txBox="1"/>
          <p:nvPr/>
        </p:nvSpPr>
        <p:spPr>
          <a:xfrm>
            <a:off x="838200" y="1690688"/>
            <a:ext cx="10515600" cy="1908215"/>
          </a:xfrm>
          <a:prstGeom prst="rect">
            <a:avLst/>
          </a:prstGeom>
          <a:noFill/>
        </p:spPr>
        <p:txBody>
          <a:bodyPr wrap="square">
            <a:spAutoFit/>
          </a:bodyPr>
          <a:lstStyle/>
          <a:p>
            <a:r>
              <a:rPr lang="de-DE" sz="1800" b="0" i="0" dirty="0">
                <a:solidFill>
                  <a:srgbClr val="7A7E85"/>
                </a:solidFill>
                <a:latin typeface="Roboto Mono" panose="00000009000000000000" pitchFamily="50" charset="0"/>
                <a:cs typeface="Courier New" panose="02070309020205020404" pitchFamily="49" charset="0"/>
              </a:rPr>
              <a:t>// Variablen deklarieren: &lt;Datentyp&gt; &lt;Name&gt; = &lt;Wert&gt;;</a:t>
            </a:r>
            <a:endParaRPr lang="de-DE" sz="1800" b="0" i="0" dirty="0">
              <a:solidFill>
                <a:srgbClr val="BCBEC4"/>
              </a:solidFill>
              <a:latin typeface="Roboto Mono" panose="00000009000000000000" pitchFamily="50"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dirty="0">
                <a:ln>
                  <a:noFill/>
                </a:ln>
                <a:solidFill>
                  <a:srgbClr val="5FB1DA"/>
                </a:solidFill>
                <a:effectLst/>
                <a:latin typeface="Roboto Mono" panose="00000009000000000000" pitchFamily="50" charset="0"/>
              </a:rPr>
              <a:t>String </a:t>
            </a:r>
            <a:r>
              <a:rPr kumimoji="0" lang="de-DE" altLang="de-DE" b="0" i="0" u="none" strike="noStrike" cap="none" normalizeH="0" baseline="0" dirty="0" err="1">
                <a:ln>
                  <a:noFill/>
                </a:ln>
                <a:solidFill>
                  <a:srgbClr val="A9B7C6"/>
                </a:solidFill>
                <a:effectLst/>
                <a:latin typeface="Roboto Mono" panose="00000009000000000000" pitchFamily="50" charset="0"/>
              </a:rPr>
              <a:t>nameDesHellstenSterns</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a:ln>
                  <a:noFill/>
                </a:ln>
                <a:solidFill>
                  <a:srgbClr val="6A8759"/>
                </a:solidFill>
                <a:effectLst/>
                <a:latin typeface="Roboto Mono" panose="00000009000000000000" pitchFamily="50" charset="0"/>
              </a:rPr>
              <a:t>"Sirius"</a:t>
            </a:r>
            <a:r>
              <a:rPr kumimoji="0" lang="de-DE" altLang="de-DE" b="0" i="0" u="none" strike="noStrike" cap="none" normalizeH="0" baseline="0" dirty="0">
                <a:ln>
                  <a:noFill/>
                </a:ln>
                <a:solidFill>
                  <a:srgbClr val="CC7E47"/>
                </a:solidFill>
                <a:effectLst/>
                <a:latin typeface="Roboto Mono" panose="00000009000000000000" pitchFamily="50" charset="0"/>
              </a:rPr>
              <a:t>;</a:t>
            </a:r>
            <a:br>
              <a:rPr kumimoji="0" lang="de-DE" altLang="de-DE" b="0" i="0" u="none" strike="noStrike" cap="none" normalizeH="0" baseline="0" dirty="0">
                <a:ln>
                  <a:noFill/>
                </a:ln>
                <a:solidFill>
                  <a:srgbClr val="CC7E47"/>
                </a:solidFill>
                <a:effectLst/>
                <a:latin typeface="Roboto Mono" panose="00000009000000000000" pitchFamily="50" charset="0"/>
              </a:rPr>
            </a:br>
            <a:r>
              <a:rPr kumimoji="0" lang="de-DE" altLang="de-DE" b="0" i="0" u="none" strike="noStrike" cap="none" normalizeH="0" baseline="0" dirty="0">
                <a:ln>
                  <a:noFill/>
                </a:ln>
                <a:solidFill>
                  <a:srgbClr val="5FB1DA"/>
                </a:solidFill>
                <a:effectLst/>
                <a:latin typeface="Roboto Mono" panose="00000009000000000000" pitchFamily="50" charset="0"/>
              </a:rPr>
              <a:t>Scanner </a:t>
            </a:r>
            <a:r>
              <a:rPr kumimoji="0" lang="de-DE" altLang="de-DE" b="0" i="0" u="none" strike="noStrike" cap="none" normalizeH="0" baseline="0" dirty="0" err="1">
                <a:ln>
                  <a:noFill/>
                </a:ln>
                <a:solidFill>
                  <a:srgbClr val="A9B7C6"/>
                </a:solidFill>
                <a:effectLst/>
                <a:latin typeface="Roboto Mono" panose="00000009000000000000" pitchFamily="50" charset="0"/>
              </a:rPr>
              <a:t>scanner</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err="1">
                <a:ln>
                  <a:noFill/>
                </a:ln>
                <a:solidFill>
                  <a:srgbClr val="CC7E47"/>
                </a:solidFill>
                <a:effectLst/>
                <a:latin typeface="Roboto Mono" panose="00000009000000000000" pitchFamily="50" charset="0"/>
              </a:rPr>
              <a:t>new</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ADD8E6"/>
                </a:solidFill>
                <a:effectLst/>
                <a:latin typeface="Roboto Mono" panose="00000009000000000000" pitchFamily="50" charset="0"/>
              </a:rPr>
              <a:t>Scanner</a:t>
            </a:r>
            <a:r>
              <a:rPr kumimoji="0" lang="de-DE" altLang="de-DE" b="0" i="0" u="none" strike="noStrike" cap="none" normalizeH="0" baseline="0" dirty="0">
                <a:ln>
                  <a:noFill/>
                </a:ln>
                <a:solidFill>
                  <a:srgbClr val="B0BA8C"/>
                </a:solidFill>
                <a:effectLst/>
                <a:latin typeface="Roboto Mono" panose="00000009000000000000" pitchFamily="50" charset="0"/>
              </a:rPr>
              <a:t>(</a:t>
            </a:r>
            <a:r>
              <a:rPr kumimoji="0" lang="de-DE" altLang="de-DE" b="0" i="0" u="none" strike="noStrike" cap="none" normalizeH="0" baseline="0" dirty="0">
                <a:ln>
                  <a:noFill/>
                </a:ln>
                <a:solidFill>
                  <a:srgbClr val="5FB1DA"/>
                </a:solidFill>
                <a:effectLst/>
                <a:latin typeface="Roboto Mono" panose="00000009000000000000" pitchFamily="50" charset="0"/>
              </a:rPr>
              <a:t>System</a:t>
            </a:r>
            <a:r>
              <a:rPr kumimoji="0" lang="de-DE" altLang="de-DE" b="0" i="0" u="none" strike="noStrike" cap="none" normalizeH="0" baseline="0" dirty="0">
                <a:ln>
                  <a:noFill/>
                </a:ln>
                <a:solidFill>
                  <a:srgbClr val="AC91E3"/>
                </a:solidFill>
                <a:effectLst/>
                <a:latin typeface="Roboto Mono" panose="00000009000000000000" pitchFamily="50" charset="0"/>
              </a:rPr>
              <a:t>.</a:t>
            </a:r>
            <a:r>
              <a:rPr kumimoji="0" lang="de-DE" altLang="de-DE" b="0" i="1" u="none" strike="noStrike" cap="none" normalizeH="0" baseline="0" dirty="0">
                <a:ln>
                  <a:noFill/>
                </a:ln>
                <a:solidFill>
                  <a:srgbClr val="9876AA"/>
                </a:solidFill>
                <a:effectLst/>
                <a:latin typeface="Roboto Mono" panose="00000009000000000000" pitchFamily="50" charset="0"/>
              </a:rPr>
              <a:t>in</a:t>
            </a:r>
            <a:r>
              <a:rPr kumimoji="0" lang="de-DE" altLang="de-DE" b="0" i="0" u="none" strike="noStrike" cap="none" normalizeH="0" baseline="0" dirty="0">
                <a:ln>
                  <a:noFill/>
                </a:ln>
                <a:solidFill>
                  <a:srgbClr val="B0BA8C"/>
                </a:solidFill>
                <a:effectLst/>
                <a:latin typeface="Roboto Mono" panose="00000009000000000000" pitchFamily="50" charset="0"/>
              </a:rPr>
              <a:t>)</a:t>
            </a:r>
            <a:r>
              <a:rPr kumimoji="0" lang="de-DE" altLang="de-DE" b="0" i="0" u="none" strike="noStrike" cap="none" normalizeH="0" baseline="0" dirty="0">
                <a:ln>
                  <a:noFill/>
                </a:ln>
                <a:solidFill>
                  <a:srgbClr val="CC7E47"/>
                </a:solidFill>
                <a:effectLst/>
                <a:latin typeface="Roboto Mono" panose="00000009000000000000" pitchFamily="50" charset="0"/>
              </a:rPr>
              <a:t>;</a:t>
            </a:r>
            <a:br>
              <a:rPr kumimoji="0" lang="de-DE" altLang="de-DE" b="0" i="0" u="none" strike="noStrike" cap="none" normalizeH="0" baseline="0" dirty="0">
                <a:ln>
                  <a:noFill/>
                </a:ln>
                <a:solidFill>
                  <a:srgbClr val="CC7E47"/>
                </a:solidFill>
                <a:effectLst/>
                <a:latin typeface="Roboto Mono" panose="00000009000000000000" pitchFamily="50" charset="0"/>
              </a:rPr>
            </a:br>
            <a:r>
              <a:rPr kumimoji="0" lang="de-DE" altLang="de-DE" b="0" i="0" u="none" strike="noStrike" cap="none" normalizeH="0" baseline="0" dirty="0" err="1">
                <a:ln>
                  <a:noFill/>
                </a:ln>
                <a:solidFill>
                  <a:srgbClr val="CC7E47"/>
                </a:solidFill>
                <a:effectLst/>
                <a:latin typeface="Roboto Mono" panose="00000009000000000000" pitchFamily="50" charset="0"/>
              </a:rPr>
              <a:t>int</a:t>
            </a:r>
            <a:r>
              <a:rPr kumimoji="0" lang="de-DE" altLang="de-DE" b="0" i="0" u="none" strike="noStrike" cap="none" normalizeH="0" baseline="0" dirty="0">
                <a:ln>
                  <a:noFill/>
                </a:ln>
                <a:solidFill>
                  <a:srgbClr val="8552D3"/>
                </a:solidFill>
                <a:effectLst/>
                <a:latin typeface="Roboto Mono" panose="00000009000000000000" pitchFamily="50" charset="0"/>
              </a:rPr>
              <a:t>[] </a:t>
            </a:r>
            <a:r>
              <a:rPr kumimoji="0" lang="de-DE" altLang="de-DE" b="0" i="0" u="none" strike="noStrike" cap="none" normalizeH="0" baseline="0" dirty="0">
                <a:ln>
                  <a:noFill/>
                </a:ln>
                <a:solidFill>
                  <a:srgbClr val="A9B7C6"/>
                </a:solidFill>
                <a:effectLst/>
                <a:latin typeface="Roboto Mono" panose="00000009000000000000" pitchFamily="50" charset="0"/>
              </a:rPr>
              <a:t>lieblingszahlen = </a:t>
            </a:r>
            <a:r>
              <a:rPr kumimoji="0" lang="de-DE" altLang="de-DE" b="0" i="0" u="none" strike="noStrike" cap="none" normalizeH="0" baseline="0" dirty="0">
                <a:ln>
                  <a:noFill/>
                </a:ln>
                <a:solidFill>
                  <a:srgbClr val="507874"/>
                </a:solidFill>
                <a:effectLst/>
                <a:latin typeface="Roboto Mono" panose="00000009000000000000" pitchFamily="50" charset="0"/>
              </a:rPr>
              <a:t>{</a:t>
            </a:r>
            <a:r>
              <a:rPr kumimoji="0" lang="de-DE" altLang="de-DE" b="0" i="0" u="none" strike="noStrike" cap="none" normalizeH="0" baseline="0" dirty="0">
                <a:ln>
                  <a:noFill/>
                </a:ln>
                <a:solidFill>
                  <a:srgbClr val="6897BB"/>
                </a:solidFill>
                <a:effectLst/>
                <a:latin typeface="Roboto Mono" panose="00000009000000000000" pitchFamily="50" charset="0"/>
              </a:rPr>
              <a:t>2</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13</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42</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1111</a:t>
            </a:r>
            <a:r>
              <a:rPr kumimoji="0" lang="de-DE" altLang="de-DE" b="0" i="0" u="none" strike="noStrike" cap="none" normalizeH="0" baseline="0" dirty="0">
                <a:ln>
                  <a:noFill/>
                </a:ln>
                <a:solidFill>
                  <a:srgbClr val="507874"/>
                </a:solidFill>
                <a:effectLst/>
                <a:latin typeface="Roboto Mono" panose="00000009000000000000" pitchFamily="50" charset="0"/>
              </a:rPr>
              <a:t>}</a:t>
            </a:r>
            <a:r>
              <a:rPr kumimoji="0" lang="de-DE" altLang="de-DE" b="0" i="0" u="none" strike="noStrike" cap="none" normalizeH="0" baseline="0" dirty="0">
                <a:ln>
                  <a:noFill/>
                </a:ln>
                <a:solidFill>
                  <a:srgbClr val="CC7E47"/>
                </a:solidFill>
                <a:effectLst/>
                <a:latin typeface="Roboto Mono" panose="00000009000000000000" pitchFamily="50" charset="0"/>
              </a:rPr>
              <a:t>;</a:t>
            </a:r>
            <a:endParaRPr kumimoji="0" lang="de-DE" altLang="de-DE" b="0" i="0" u="none" strike="noStrike" cap="none" normalizeH="0" baseline="0" dirty="0">
              <a:ln>
                <a:noFill/>
              </a:ln>
              <a:solidFill>
                <a:schemeClr val="tx1"/>
              </a:solidFill>
              <a:effectLst/>
              <a:latin typeface="Roboto Mono" panose="00000009000000000000" pitchFamily="50" charset="0"/>
            </a:endParaRPr>
          </a:p>
          <a:p>
            <a:endParaRPr lang="de-DE" dirty="0">
              <a:latin typeface="IBM Plex Sans" panose="020B0503050203000203" pitchFamily="34" charset="0"/>
            </a:endParaRPr>
          </a:p>
          <a:p>
            <a:pPr marL="457200" indent="-457200">
              <a:buFont typeface="Arial" panose="020B0604020202020204" pitchFamily="34" charset="0"/>
              <a:buChar char="•"/>
            </a:pPr>
            <a:r>
              <a:rPr lang="de-DE" sz="2800" dirty="0">
                <a:latin typeface="IBM Plex Sans" panose="020B0503050203000203" pitchFamily="34" charset="0"/>
              </a:rPr>
              <a:t>Objektvariablen speichern </a:t>
            </a:r>
            <a:r>
              <a:rPr lang="de-DE" sz="2800" dirty="0">
                <a:solidFill>
                  <a:srgbClr val="FFCCFF"/>
                </a:solidFill>
                <a:latin typeface="IBM Plex Sans" panose="020B0503050203000203" pitchFamily="34" charset="0"/>
              </a:rPr>
              <a:t>Referenzen</a:t>
            </a:r>
            <a:r>
              <a:rPr lang="de-DE" sz="2800" dirty="0">
                <a:latin typeface="IBM Plex Sans" panose="020B0503050203000203" pitchFamily="34" charset="0"/>
              </a:rPr>
              <a:t> auf Objekte.</a:t>
            </a:r>
          </a:p>
        </p:txBody>
      </p:sp>
      <p:pic>
        <p:nvPicPr>
          <p:cNvPr id="8" name="Graphic 7" descr="Document with solid fill">
            <a:extLst>
              <a:ext uri="{FF2B5EF4-FFF2-40B4-BE49-F238E27FC236}">
                <a16:creationId xmlns:a16="http://schemas.microsoft.com/office/drawing/2014/main" id="{9D285811-E3FA-4AC9-9D5A-43A3968B73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
        <p:nvSpPr>
          <p:cNvPr id="6" name="Rectangle 5">
            <a:extLst>
              <a:ext uri="{FF2B5EF4-FFF2-40B4-BE49-F238E27FC236}">
                <a16:creationId xmlns:a16="http://schemas.microsoft.com/office/drawing/2014/main" id="{B0ADDCBE-3543-4093-8E9F-C4F749E39807}"/>
              </a:ext>
            </a:extLst>
          </p:cNvPr>
          <p:cNvSpPr/>
          <p:nvPr/>
        </p:nvSpPr>
        <p:spPr>
          <a:xfrm>
            <a:off x="8415866" y="5580673"/>
            <a:ext cx="2362200"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lieblingsfarbe</a:t>
            </a:r>
            <a:endParaRPr lang="de-DE" dirty="0">
              <a:latin typeface="IBM Plex Sans" panose="020B0503050203000203" pitchFamily="34" charset="0"/>
            </a:endParaRPr>
          </a:p>
        </p:txBody>
      </p:sp>
      <p:sp>
        <p:nvSpPr>
          <p:cNvPr id="11" name="Rectangle 10">
            <a:extLst>
              <a:ext uri="{FF2B5EF4-FFF2-40B4-BE49-F238E27FC236}">
                <a16:creationId xmlns:a16="http://schemas.microsoft.com/office/drawing/2014/main" id="{E8A79974-5EBD-42DE-8B3F-D33723263CFE}"/>
              </a:ext>
            </a:extLst>
          </p:cNvPr>
          <p:cNvSpPr/>
          <p:nvPr/>
        </p:nvSpPr>
        <p:spPr>
          <a:xfrm>
            <a:off x="3996266" y="5669002"/>
            <a:ext cx="2192867"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backgroundColor</a:t>
            </a:r>
            <a:endParaRPr lang="de-DE" dirty="0">
              <a:latin typeface="IBM Plex Sans" panose="020B0503050203000203" pitchFamily="34" charset="0"/>
            </a:endParaRPr>
          </a:p>
        </p:txBody>
      </p:sp>
      <p:sp>
        <p:nvSpPr>
          <p:cNvPr id="13" name="Rectangle 12">
            <a:extLst>
              <a:ext uri="{FF2B5EF4-FFF2-40B4-BE49-F238E27FC236}">
                <a16:creationId xmlns:a16="http://schemas.microsoft.com/office/drawing/2014/main" id="{1CB9423E-8D42-440A-A55C-58EBA65E0110}"/>
              </a:ext>
            </a:extLst>
          </p:cNvPr>
          <p:cNvSpPr/>
          <p:nvPr/>
        </p:nvSpPr>
        <p:spPr>
          <a:xfrm>
            <a:off x="1909233" y="4183103"/>
            <a:ext cx="2362200"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farbeEinerOrange</a:t>
            </a:r>
            <a:endParaRPr lang="de-DE" dirty="0">
              <a:latin typeface="IBM Plex Sans" panose="020B0503050203000203" pitchFamily="34" charset="0"/>
            </a:endParaRPr>
          </a:p>
        </p:txBody>
      </p:sp>
      <p:cxnSp>
        <p:nvCxnSpPr>
          <p:cNvPr id="15" name="Straight Arrow Connector 14">
            <a:extLst>
              <a:ext uri="{FF2B5EF4-FFF2-40B4-BE49-F238E27FC236}">
                <a16:creationId xmlns:a16="http://schemas.microsoft.com/office/drawing/2014/main" id="{38A0856B-F04D-46DB-965D-5FFBA8A5D562}"/>
              </a:ext>
            </a:extLst>
          </p:cNvPr>
          <p:cNvCxnSpPr>
            <a:cxnSpLocks/>
            <a:stCxn id="13" idx="3"/>
            <a:endCxn id="33" idx="1"/>
          </p:cNvCxnSpPr>
          <p:nvPr/>
        </p:nvCxnSpPr>
        <p:spPr>
          <a:xfrm flipV="1">
            <a:off x="4271433" y="4471992"/>
            <a:ext cx="1600631" cy="91317"/>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52169C4-2328-49DE-8D6A-2BF398EA2109}"/>
              </a:ext>
            </a:extLst>
          </p:cNvPr>
          <p:cNvCxnSpPr>
            <a:cxnSpLocks/>
            <a:stCxn id="6" idx="0"/>
            <a:endCxn id="33" idx="3"/>
          </p:cNvCxnSpPr>
          <p:nvPr/>
        </p:nvCxnSpPr>
        <p:spPr>
          <a:xfrm flipH="1" flipV="1">
            <a:off x="8286752" y="4471992"/>
            <a:ext cx="1310214" cy="1108681"/>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EB1E5A3-EB74-4939-9408-3F7D797E9BE9}"/>
              </a:ext>
            </a:extLst>
          </p:cNvPr>
          <p:cNvCxnSpPr>
            <a:cxnSpLocks/>
            <a:stCxn id="11" idx="3"/>
            <a:endCxn id="33" idx="2"/>
          </p:cNvCxnSpPr>
          <p:nvPr/>
        </p:nvCxnSpPr>
        <p:spPr>
          <a:xfrm flipV="1">
            <a:off x="6189133" y="5034064"/>
            <a:ext cx="890275" cy="1015144"/>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3" name="Table 33">
            <a:extLst>
              <a:ext uri="{FF2B5EF4-FFF2-40B4-BE49-F238E27FC236}">
                <a16:creationId xmlns:a16="http://schemas.microsoft.com/office/drawing/2014/main" id="{DB3F49E7-2CEA-45A1-A240-B40FF6D7A94D}"/>
              </a:ext>
            </a:extLst>
          </p:cNvPr>
          <p:cNvGraphicFramePr>
            <a:graphicFrameLocks noGrp="1"/>
          </p:cNvGraphicFramePr>
          <p:nvPr>
            <p:extLst>
              <p:ext uri="{D42A27DB-BD31-4B8C-83A1-F6EECF244321}">
                <p14:modId xmlns:p14="http://schemas.microsoft.com/office/powerpoint/2010/main" val="2232904417"/>
              </p:ext>
            </p:extLst>
          </p:nvPr>
        </p:nvGraphicFramePr>
        <p:xfrm>
          <a:off x="5872064" y="3909920"/>
          <a:ext cx="2414688" cy="1124144"/>
        </p:xfrm>
        <a:graphic>
          <a:graphicData uri="http://schemas.openxmlformats.org/drawingml/2006/table">
            <a:tbl>
              <a:tblPr firstRow="1" bandRow="1">
                <a:tableStyleId>{5C22544A-7EE6-4342-B048-85BDC9FD1C3A}</a:tableStyleId>
              </a:tblPr>
              <a:tblGrid>
                <a:gridCol w="2414688">
                  <a:extLst>
                    <a:ext uri="{9D8B030D-6E8A-4147-A177-3AD203B41FA5}">
                      <a16:colId xmlns:a16="http://schemas.microsoft.com/office/drawing/2014/main" val="3997932878"/>
                    </a:ext>
                  </a:extLst>
                </a:gridCol>
              </a:tblGrid>
              <a:tr h="453096">
                <a:tc>
                  <a:txBody>
                    <a:bodyPr/>
                    <a:lstStyle/>
                    <a:p>
                      <a:r>
                        <a:rPr kumimoji="0" lang="de-DE" altLang="de-DE" b="0" i="0" u="none" strike="noStrike" cap="none" normalizeH="0" baseline="0" dirty="0">
                          <a:ln>
                            <a:noFill/>
                          </a:ln>
                          <a:solidFill>
                            <a:srgbClr val="5FB1DA"/>
                          </a:solidFill>
                          <a:effectLst/>
                          <a:latin typeface="Roboto Mono" panose="00000009000000000000" pitchFamily="50" charset="0"/>
                        </a:rPr>
                        <a:t>Farbe</a:t>
                      </a:r>
                      <a:endParaRPr lang="de-DE" dirty="0">
                        <a:latin typeface="IBM Plex Sans" panose="020B0503050203000203" pitchFamily="34" charset="0"/>
                      </a:endParaRPr>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rgbClr val="2F528F"/>
                      </a:solidFill>
                      <a:prstDash val="solid"/>
                      <a:round/>
                      <a:headEnd type="none" w="med" len="med"/>
                      <a:tailEnd type="none" w="med" len="med"/>
                    </a:lnT>
                    <a:lnB w="12700" cap="flat" cmpd="sng" algn="ctr">
                      <a:solidFill>
                        <a:schemeClr val="accent1">
                          <a:lumMod val="60000"/>
                          <a:lumOff val="4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60755156"/>
                  </a:ext>
                </a:extLst>
              </a:tr>
              <a:tr h="671048">
                <a:tc>
                  <a:txBody>
                    <a:bodyPr/>
                    <a:lstStyle/>
                    <a:p>
                      <a:r>
                        <a:rPr lang="de-DE" altLang="de-DE" dirty="0" err="1">
                          <a:solidFill>
                            <a:srgbClr val="A9B7C6"/>
                          </a:solidFill>
                          <a:latin typeface="Roboto Mono" panose="00000009000000000000" pitchFamily="50" charset="0"/>
                        </a:rPr>
                        <a:t>name</a:t>
                      </a:r>
                      <a:r>
                        <a:rPr lang="de-DE" altLang="de-DE" dirty="0">
                          <a:solidFill>
                            <a:srgbClr val="A9B7C6"/>
                          </a:solidFill>
                          <a:latin typeface="Roboto Mono" panose="00000009000000000000" pitchFamily="50" charset="0"/>
                        </a:rPr>
                        <a:t> = </a:t>
                      </a:r>
                      <a:r>
                        <a:rPr kumimoji="0" lang="de-DE" altLang="de-DE" b="0" i="0" u="none" strike="noStrike" cap="none" normalizeH="0" baseline="0" dirty="0">
                          <a:ln>
                            <a:noFill/>
                          </a:ln>
                          <a:solidFill>
                            <a:srgbClr val="6A8759"/>
                          </a:solidFill>
                          <a:effectLst/>
                          <a:latin typeface="Roboto Mono" panose="00000009000000000000" pitchFamily="50" charset="0"/>
                        </a:rPr>
                        <a:t>"Orange"</a:t>
                      </a:r>
                      <a:endParaRPr lang="de-DE" altLang="de-DE" dirty="0">
                        <a:solidFill>
                          <a:srgbClr val="A9B7C6"/>
                        </a:solidFill>
                        <a:latin typeface="Roboto Mono" panose="00000009000000000000" pitchFamily="50" charset="0"/>
                      </a:endParaRPr>
                    </a:p>
                    <a:p>
                      <a:r>
                        <a:rPr kumimoji="0" lang="de-DE" altLang="de-DE" b="0" i="0" u="none" strike="noStrike" cap="none" normalizeH="0" baseline="0" dirty="0" err="1">
                          <a:ln>
                            <a:noFill/>
                          </a:ln>
                          <a:solidFill>
                            <a:srgbClr val="A9B7C6"/>
                          </a:solidFill>
                          <a:effectLst/>
                          <a:latin typeface="Roboto Mono" panose="00000009000000000000" pitchFamily="50" charset="0"/>
                        </a:rPr>
                        <a:t>rgb</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a:ln>
                            <a:noFill/>
                          </a:ln>
                          <a:solidFill>
                            <a:srgbClr val="6897BB"/>
                          </a:solidFill>
                          <a:effectLst/>
                          <a:latin typeface="Roboto Mono" panose="00000009000000000000" pitchFamily="50" charset="0"/>
                        </a:rPr>
                        <a:t>0xFFA500</a:t>
                      </a:r>
                      <a:endParaRPr kumimoji="0" lang="de-DE" altLang="de-DE" b="0" i="0" u="none" strike="noStrike" cap="none" normalizeH="0" baseline="0" dirty="0">
                        <a:ln>
                          <a:noFill/>
                        </a:ln>
                        <a:solidFill>
                          <a:srgbClr val="A9B7C6"/>
                        </a:solidFill>
                        <a:effectLst/>
                        <a:latin typeface="Roboto Mono" panose="00000009000000000000" pitchFamily="50" charset="0"/>
                      </a:endParaRPr>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rgbClr val="2F528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199453"/>
                  </a:ext>
                </a:extLst>
              </a:tr>
            </a:tbl>
          </a:graphicData>
        </a:graphic>
      </p:graphicFrame>
    </p:spTree>
    <p:extLst>
      <p:ext uri="{BB962C8B-B14F-4D97-AF65-F5344CB8AC3E}">
        <p14:creationId xmlns:p14="http://schemas.microsoft.com/office/powerpoint/2010/main" val="4293951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B3C3A-3EDE-4FC2-ADB0-09669B7CBF38}"/>
              </a:ext>
            </a:extLst>
          </p:cNvPr>
          <p:cNvSpPr>
            <a:spLocks noGrp="1"/>
          </p:cNvSpPr>
          <p:nvPr>
            <p:ph type="title"/>
          </p:nvPr>
        </p:nvSpPr>
        <p:spPr/>
        <p:txBody>
          <a:bodyPr/>
          <a:lstStyle/>
          <a:p>
            <a:r>
              <a:rPr lang="de-DE" dirty="0"/>
              <a:t>Null </a:t>
            </a:r>
            <a:r>
              <a:rPr lang="de-DE" dirty="0" err="1"/>
              <a:t>pointer</a:t>
            </a:r>
            <a:endParaRPr lang="de-DE" dirty="0"/>
          </a:p>
        </p:txBody>
      </p:sp>
      <p:sp>
        <p:nvSpPr>
          <p:cNvPr id="3" name="Content Placeholder 2">
            <a:extLst>
              <a:ext uri="{FF2B5EF4-FFF2-40B4-BE49-F238E27FC236}">
                <a16:creationId xmlns:a16="http://schemas.microsoft.com/office/drawing/2014/main" id="{682FF096-64DA-4EAF-969A-27CCDC118294}"/>
              </a:ext>
            </a:extLst>
          </p:cNvPr>
          <p:cNvSpPr>
            <a:spLocks noGrp="1"/>
          </p:cNvSpPr>
          <p:nvPr>
            <p:ph idx="1"/>
          </p:nvPr>
        </p:nvSpPr>
        <p:spPr>
          <a:ln>
            <a:noFill/>
          </a:ln>
        </p:spPr>
        <p:txBody>
          <a:bodyPr/>
          <a:lstStyle/>
          <a:p>
            <a:pPr marL="457200" indent="-457200">
              <a:buFont typeface="Arial" panose="020B0604020202020204" pitchFamily="34" charset="0"/>
              <a:buChar char="•"/>
            </a:pPr>
            <a:r>
              <a:rPr lang="de-DE" sz="2800" dirty="0"/>
              <a:t>Vor der Zuweisung speichern Objektvariablen den Wert </a:t>
            </a:r>
            <a:r>
              <a:rPr kumimoji="0" lang="de-DE" altLang="de-DE" sz="2800" b="0" i="0" u="none" strike="noStrike" cap="none" normalizeH="0" baseline="0" dirty="0">
                <a:ln>
                  <a:noFill/>
                </a:ln>
                <a:solidFill>
                  <a:srgbClr val="CC7E47"/>
                </a:solidFill>
                <a:effectLst/>
                <a:latin typeface="Roboto Mono" panose="00000009000000000000" pitchFamily="50" charset="0"/>
              </a:rPr>
              <a:t>null</a:t>
            </a:r>
            <a:r>
              <a:rPr lang="de-DE" sz="2800" dirty="0"/>
              <a:t>. Das bezeichnet ein nicht existierende Objekt.</a:t>
            </a:r>
          </a:p>
          <a:p>
            <a:pPr marL="457200" indent="-457200">
              <a:buFont typeface="Arial" panose="020B0604020202020204" pitchFamily="34" charset="0"/>
              <a:buChar char="•"/>
            </a:pPr>
            <a:r>
              <a:rPr lang="de-DE" sz="2800" dirty="0"/>
              <a:t>Beim Zugriff auf eine </a:t>
            </a:r>
            <a:r>
              <a:rPr lang="de-DE" sz="2800" dirty="0" err="1"/>
              <a:t>Instanzmethode</a:t>
            </a:r>
            <a:r>
              <a:rPr lang="de-DE" sz="2800" dirty="0"/>
              <a:t> oder ein Attribut von </a:t>
            </a:r>
            <a:r>
              <a:rPr kumimoji="0" lang="de-DE" altLang="de-DE" sz="2800" b="0" i="0" u="none" strike="noStrike" cap="none" normalizeH="0" baseline="0" dirty="0">
                <a:ln>
                  <a:noFill/>
                </a:ln>
                <a:solidFill>
                  <a:srgbClr val="CC7E47"/>
                </a:solidFill>
                <a:effectLst/>
                <a:latin typeface="Roboto Mono" panose="00000009000000000000" pitchFamily="50" charset="0"/>
              </a:rPr>
              <a:t>null</a:t>
            </a:r>
            <a:r>
              <a:rPr lang="de-DE" sz="2800" dirty="0"/>
              <a:t>, wird eine </a:t>
            </a:r>
            <a:r>
              <a:rPr lang="de-DE" sz="2800" dirty="0" err="1">
                <a:latin typeface="Roboto Mono" panose="00000009000000000000" pitchFamily="50" charset="0"/>
                <a:hlinkClick r:id="rId2" action="ppaction://hlinksldjump"/>
              </a:rPr>
              <a:t>NullPointerException</a:t>
            </a:r>
            <a:r>
              <a:rPr lang="de-DE" sz="2800" dirty="0"/>
              <a:t> geworfen.</a:t>
            </a:r>
          </a:p>
        </p:txBody>
      </p:sp>
    </p:spTree>
    <p:extLst>
      <p:ext uri="{BB962C8B-B14F-4D97-AF65-F5344CB8AC3E}">
        <p14:creationId xmlns:p14="http://schemas.microsoft.com/office/powerpoint/2010/main" val="6470567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CC6C6-8A2D-4E5E-8893-72648C37F8D2}"/>
              </a:ext>
            </a:extLst>
          </p:cNvPr>
          <p:cNvSpPr>
            <a:spLocks noGrp="1"/>
          </p:cNvSpPr>
          <p:nvPr>
            <p:ph type="title"/>
          </p:nvPr>
        </p:nvSpPr>
        <p:spPr/>
        <p:txBody>
          <a:bodyPr/>
          <a:lstStyle/>
          <a:p>
            <a:r>
              <a:rPr lang="de-DE" dirty="0" err="1"/>
              <a:t>Garbage</a:t>
            </a:r>
            <a:r>
              <a:rPr lang="de-DE" dirty="0"/>
              <a:t> </a:t>
            </a:r>
            <a:r>
              <a:rPr lang="de-DE" dirty="0" err="1"/>
              <a:t>collection</a:t>
            </a:r>
            <a:r>
              <a:rPr lang="de-DE" dirty="0"/>
              <a:t> ♻️</a:t>
            </a:r>
          </a:p>
        </p:txBody>
      </p:sp>
      <p:sp>
        <p:nvSpPr>
          <p:cNvPr id="3" name="Content Placeholder 2">
            <a:extLst>
              <a:ext uri="{FF2B5EF4-FFF2-40B4-BE49-F238E27FC236}">
                <a16:creationId xmlns:a16="http://schemas.microsoft.com/office/drawing/2014/main" id="{CADFFEDB-5DB6-4817-8914-78A6608BB42D}"/>
              </a:ext>
            </a:extLst>
          </p:cNvPr>
          <p:cNvSpPr>
            <a:spLocks noGrp="1"/>
          </p:cNvSpPr>
          <p:nvPr>
            <p:ph idx="1"/>
          </p:nvPr>
        </p:nvSpPr>
        <p:spPr/>
        <p:txBody>
          <a:bodyPr/>
          <a:lstStyle/>
          <a:p>
            <a:r>
              <a:rPr lang="de-DE" dirty="0"/>
              <a:t>Was passiert, wenn ein Objekt nicht mehr referenziert wird?</a:t>
            </a:r>
          </a:p>
          <a:p>
            <a:pPr lvl="1"/>
            <a:r>
              <a:rPr lang="de-DE" dirty="0"/>
              <a:t>Beispiel: Du hast ein Item in einem Spiel verbrannt</a:t>
            </a:r>
          </a:p>
          <a:p>
            <a:pPr lvl="1"/>
            <a:r>
              <a:rPr lang="de-DE" dirty="0"/>
              <a:t>Es wird irgendwann automatisch aus dem Speicher entfernt.</a:t>
            </a:r>
          </a:p>
          <a:p>
            <a:pPr lvl="1"/>
            <a:r>
              <a:rPr lang="de-DE" dirty="0"/>
              <a:t>Der gewonnene Speicherplatz kann neu verwendet werden.</a:t>
            </a:r>
          </a:p>
        </p:txBody>
      </p:sp>
      <p:pic>
        <p:nvPicPr>
          <p:cNvPr id="4" name="Graphic 3" descr="Lightbulb with solid fill">
            <a:extLst>
              <a:ext uri="{FF2B5EF4-FFF2-40B4-BE49-F238E27FC236}">
                <a16:creationId xmlns:a16="http://schemas.microsoft.com/office/drawing/2014/main" id="{1C5323FC-43D0-46B0-91CE-7CADCDBD0F5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466387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DFB84-94E8-4C4B-ACB1-FADAD72D7597}"/>
              </a:ext>
            </a:extLst>
          </p:cNvPr>
          <p:cNvSpPr>
            <a:spLocks noGrp="1"/>
          </p:cNvSpPr>
          <p:nvPr>
            <p:ph type="title"/>
          </p:nvPr>
        </p:nvSpPr>
        <p:spPr/>
        <p:txBody>
          <a:bodyPr/>
          <a:lstStyle/>
          <a:p>
            <a:r>
              <a:rPr lang="de-DE" dirty="0"/>
              <a:t>Beispiel – Begrüßung</a:t>
            </a:r>
          </a:p>
        </p:txBody>
      </p:sp>
      <p:sp>
        <p:nvSpPr>
          <p:cNvPr id="3" name="Content Placeholder 2">
            <a:extLst>
              <a:ext uri="{FF2B5EF4-FFF2-40B4-BE49-F238E27FC236}">
                <a16:creationId xmlns:a16="http://schemas.microsoft.com/office/drawing/2014/main" id="{CB037B67-0A79-49C7-8721-6AE03482A4F3}"/>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a:ln>
                  <a:noFill/>
                </a:ln>
                <a:solidFill>
                  <a:srgbClr val="A9B7C6"/>
                </a:solidFill>
                <a:effectLst/>
                <a:latin typeface="Roboto Mono" panose="00000009000000000000" pitchFamily="50" charset="0"/>
              </a:rPr>
              <a:t>frage = </a:t>
            </a:r>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frage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leser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leser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ausgabe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"Hallo,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ausgabe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5" name="Graphic 4" descr="Puzzle pieces with solid fill">
            <a:extLst>
              <a:ext uri="{FF2B5EF4-FFF2-40B4-BE49-F238E27FC236}">
                <a16:creationId xmlns:a16="http://schemas.microsoft.com/office/drawing/2014/main" id="{4B8899EC-5110-4D5C-A2BA-309CF415ED5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73515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532775-0C48-44FD-A744-1C24B06914E9}"/>
              </a:ext>
            </a:extLst>
          </p:cNvPr>
          <p:cNvSpPr>
            <a:spLocks noGrp="1"/>
          </p:cNvSpPr>
          <p:nvPr>
            <p:ph type="title"/>
          </p:nvPr>
        </p:nvSpPr>
        <p:spPr>
          <a:xfrm>
            <a:off x="838200" y="365125"/>
            <a:ext cx="5257800" cy="1325563"/>
          </a:xfrm>
        </p:spPr>
        <p:txBody>
          <a:bodyPr/>
          <a:lstStyle/>
          <a:p>
            <a:r>
              <a:rPr lang="de-DE" dirty="0"/>
              <a:t>Typ einer Variable</a:t>
            </a:r>
          </a:p>
        </p:txBody>
      </p:sp>
      <p:graphicFrame>
        <p:nvGraphicFramePr>
          <p:cNvPr id="5" name="Table 5">
            <a:extLst>
              <a:ext uri="{FF2B5EF4-FFF2-40B4-BE49-F238E27FC236}">
                <a16:creationId xmlns:a16="http://schemas.microsoft.com/office/drawing/2014/main" id="{59FBC0DC-1E06-4887-B109-60F3EFFDE6B1}"/>
              </a:ext>
            </a:extLst>
          </p:cNvPr>
          <p:cNvGraphicFramePr>
            <a:graphicFrameLocks noGrp="1"/>
          </p:cNvGraphicFramePr>
          <p:nvPr>
            <p:extLst>
              <p:ext uri="{D42A27DB-BD31-4B8C-83A1-F6EECF244321}">
                <p14:modId xmlns:p14="http://schemas.microsoft.com/office/powerpoint/2010/main" val="2506664036"/>
              </p:ext>
            </p:extLst>
          </p:nvPr>
        </p:nvGraphicFramePr>
        <p:xfrm>
          <a:off x="711200" y="4086860"/>
          <a:ext cx="3967480" cy="2225040"/>
        </p:xfrm>
        <a:graphic>
          <a:graphicData uri="http://schemas.openxmlformats.org/drawingml/2006/table">
            <a:tbl>
              <a:tblPr firstRow="1" bandRow="1">
                <a:tableStyleId>{5C22544A-7EE6-4342-B048-85BDC9FD1C3A}</a:tableStyleId>
              </a:tblPr>
              <a:tblGrid>
                <a:gridCol w="1264559">
                  <a:extLst>
                    <a:ext uri="{9D8B030D-6E8A-4147-A177-3AD203B41FA5}">
                      <a16:colId xmlns:a16="http://schemas.microsoft.com/office/drawing/2014/main" val="2146011180"/>
                    </a:ext>
                  </a:extLst>
                </a:gridCol>
                <a:gridCol w="1264559">
                  <a:extLst>
                    <a:ext uri="{9D8B030D-6E8A-4147-A177-3AD203B41FA5}">
                      <a16:colId xmlns:a16="http://schemas.microsoft.com/office/drawing/2014/main" val="751697227"/>
                    </a:ext>
                  </a:extLst>
                </a:gridCol>
                <a:gridCol w="1438362">
                  <a:extLst>
                    <a:ext uri="{9D8B030D-6E8A-4147-A177-3AD203B41FA5}">
                      <a16:colId xmlns:a16="http://schemas.microsoft.com/office/drawing/2014/main" val="380065805"/>
                    </a:ext>
                  </a:extLst>
                </a:gridCol>
              </a:tblGrid>
              <a:tr h="370840">
                <a:tc gridSpan="3">
                  <a:txBody>
                    <a:bodyPr/>
                    <a:lstStyle/>
                    <a:p>
                      <a:r>
                        <a:rPr lang="de-DE" dirty="0">
                          <a:solidFill>
                            <a:schemeClr val="tx1"/>
                          </a:solidFill>
                          <a:latin typeface="IBM Plex Sans" panose="020B0503050203000203" pitchFamily="34" charset="0"/>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8935623"/>
                  </a:ext>
                </a:extLst>
              </a:tr>
              <a:tr h="370840">
                <a:tc>
                  <a:txBody>
                    <a:bodyPr/>
                    <a:lstStyle/>
                    <a:p>
                      <a:r>
                        <a:rPr lang="de-DE" b="1" dirty="0">
                          <a:solidFill>
                            <a:schemeClr val="tx1"/>
                          </a:solidFill>
                          <a:latin typeface="IBM Plex Sans" panose="020B0503050203000203" pitchFamily="34" charset="0"/>
                        </a:rPr>
                        <a:t>Datentyp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Wert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92056995"/>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frage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99579579"/>
                  </a:ext>
                </a:extLst>
              </a:tr>
              <a:tr h="370840">
                <a:tc>
                  <a:txBody>
                    <a:bodyPr/>
                    <a:lstStyle/>
                    <a:p>
                      <a:r>
                        <a:rPr lang="de-DE" dirty="0">
                          <a:solidFill>
                            <a:schemeClr val="tx1"/>
                          </a:solidFill>
                          <a:latin typeface="IBM Plex Sans" panose="020B0503050203000203" pitchFamily="34" charset="0"/>
                        </a:rPr>
                        <a:t>Scanner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leser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60718936"/>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eingabe</a:t>
                      </a:r>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7022947"/>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ausgabe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2449595"/>
                  </a:ext>
                </a:extLst>
              </a:tr>
            </a:tbl>
          </a:graphicData>
        </a:graphic>
      </p:graphicFrame>
      <p:sp>
        <p:nvSpPr>
          <p:cNvPr id="9" name="TextBox 8">
            <a:extLst>
              <a:ext uri="{FF2B5EF4-FFF2-40B4-BE49-F238E27FC236}">
                <a16:creationId xmlns:a16="http://schemas.microsoft.com/office/drawing/2014/main" id="{9BB76F9A-044C-48B4-A19D-B1C1BFF447BD}"/>
              </a:ext>
            </a:extLst>
          </p:cNvPr>
          <p:cNvSpPr txBox="1"/>
          <p:nvPr/>
        </p:nvSpPr>
        <p:spPr>
          <a:xfrm>
            <a:off x="7033260" y="3584717"/>
            <a:ext cx="2954020" cy="646331"/>
          </a:xfrm>
          <a:prstGeom prst="rect">
            <a:avLst/>
          </a:prstGeom>
          <a:noFill/>
        </p:spPr>
        <p:txBody>
          <a:bodyPr wrap="square" rtlCol="0">
            <a:spAutoFit/>
          </a:bodyPr>
          <a:lstStyle/>
          <a:p>
            <a:r>
              <a:rPr lang="de-DE" dirty="0">
                <a:latin typeface="IBM Plex Sans" panose="020B0503050203000203" pitchFamily="34" charset="0"/>
              </a:rPr>
              <a:t>Irgendwo anders im Speicher</a:t>
            </a:r>
          </a:p>
        </p:txBody>
      </p:sp>
      <p:sp>
        <p:nvSpPr>
          <p:cNvPr id="10" name="TextBox 9">
            <a:extLst>
              <a:ext uri="{FF2B5EF4-FFF2-40B4-BE49-F238E27FC236}">
                <a16:creationId xmlns:a16="http://schemas.microsoft.com/office/drawing/2014/main" id="{FEB6A37F-6A24-4737-96ED-B9A9C770DC7E}"/>
              </a:ext>
            </a:extLst>
          </p:cNvPr>
          <p:cNvSpPr txBox="1"/>
          <p:nvPr/>
        </p:nvSpPr>
        <p:spPr>
          <a:xfrm>
            <a:off x="5303520" y="4231005"/>
            <a:ext cx="2301240" cy="923330"/>
          </a:xfrm>
          <a:prstGeom prst="rect">
            <a:avLst/>
          </a:prstGeom>
          <a:noFill/>
        </p:spPr>
        <p:txBody>
          <a:bodyPr wrap="square" rtlCol="0">
            <a:spAutoFit/>
          </a:bodyPr>
          <a:lstStyle/>
          <a:p>
            <a:r>
              <a:rPr kumimoji="0" lang="de-DE" altLang="de-DE" sz="1800" b="0" i="0" u="none" strike="noStrike" cap="none" normalizeH="0" baseline="0" dirty="0">
                <a:ln>
                  <a:noFill/>
                </a:ln>
                <a:solidFill>
                  <a:srgbClr val="5FB1DA"/>
                </a:solidFill>
                <a:effectLst/>
                <a:latin typeface="Roboto Mono" panose="00000009000000000000" pitchFamily="50" charset="0"/>
              </a:rPr>
              <a:t>Scanner</a:t>
            </a:r>
            <a:r>
              <a:rPr lang="de-DE" dirty="0">
                <a:latin typeface="IBM Plex Sans" panose="020B0503050203000203" pitchFamily="34" charset="0"/>
              </a:rPr>
              <a:t>-Objekt</a:t>
            </a:r>
            <a:br>
              <a:rPr lang="de-DE" dirty="0">
                <a:latin typeface="IBM Plex Sans" panose="020B0503050203000203" pitchFamily="34" charset="0"/>
              </a:rPr>
            </a:br>
            <a:r>
              <a:rPr lang="de-DE" dirty="0">
                <a:latin typeface="IBM Plex Sans" panose="020B0503050203000203" pitchFamily="34" charset="0"/>
              </a:rPr>
              <a:t>(liest von </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lang="de-DE" dirty="0">
                <a:latin typeface="IBM Plex Sans" panose="020B0503050203000203" pitchFamily="34" charset="0"/>
              </a:rPr>
              <a:t>)</a:t>
            </a:r>
          </a:p>
        </p:txBody>
      </p:sp>
      <p:sp>
        <p:nvSpPr>
          <p:cNvPr id="13" name="TextBox 12">
            <a:extLst>
              <a:ext uri="{FF2B5EF4-FFF2-40B4-BE49-F238E27FC236}">
                <a16:creationId xmlns:a16="http://schemas.microsoft.com/office/drawing/2014/main" id="{FE512F0E-3D42-4D51-B09B-85A8DCA90906}"/>
              </a:ext>
            </a:extLst>
          </p:cNvPr>
          <p:cNvSpPr txBox="1"/>
          <p:nvPr/>
        </p:nvSpPr>
        <p:spPr>
          <a:xfrm>
            <a:off x="6258560" y="5736254"/>
            <a:ext cx="220472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endParaRPr lang="de-DE" dirty="0">
              <a:latin typeface="IBM Plex Sans" panose="020B0503050203000203" pitchFamily="34" charset="0"/>
            </a:endParaRPr>
          </a:p>
        </p:txBody>
      </p:sp>
      <p:sp>
        <p:nvSpPr>
          <p:cNvPr id="15" name="TextBox 14">
            <a:extLst>
              <a:ext uri="{FF2B5EF4-FFF2-40B4-BE49-F238E27FC236}">
                <a16:creationId xmlns:a16="http://schemas.microsoft.com/office/drawing/2014/main" id="{AD57D11A-93AD-4572-B66D-F313DC4961AD}"/>
              </a:ext>
            </a:extLst>
          </p:cNvPr>
          <p:cNvSpPr txBox="1"/>
          <p:nvPr/>
        </p:nvSpPr>
        <p:spPr>
          <a:xfrm>
            <a:off x="8046720" y="4554170"/>
            <a:ext cx="320548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"Hallo, Max Mustermann!"</a:t>
            </a:r>
            <a:endParaRPr lang="de-DE" dirty="0">
              <a:latin typeface="IBM Plex Sans" panose="020B0503050203000203" pitchFamily="34" charset="0"/>
            </a:endParaRPr>
          </a:p>
        </p:txBody>
      </p:sp>
      <p:sp>
        <p:nvSpPr>
          <p:cNvPr id="17" name="TextBox 16">
            <a:extLst>
              <a:ext uri="{FF2B5EF4-FFF2-40B4-BE49-F238E27FC236}">
                <a16:creationId xmlns:a16="http://schemas.microsoft.com/office/drawing/2014/main" id="{D130ADD4-B13A-44DD-82AA-8E34D250251C}"/>
              </a:ext>
            </a:extLst>
          </p:cNvPr>
          <p:cNvSpPr txBox="1"/>
          <p:nvPr/>
        </p:nvSpPr>
        <p:spPr>
          <a:xfrm>
            <a:off x="8956040" y="5422880"/>
            <a:ext cx="220472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"Max Mustermann"</a:t>
            </a:r>
            <a:endParaRPr lang="de-DE" dirty="0">
              <a:latin typeface="IBM Plex Sans" panose="020B0503050203000203" pitchFamily="34" charset="0"/>
            </a:endParaRPr>
          </a:p>
        </p:txBody>
      </p:sp>
      <p:sp>
        <p:nvSpPr>
          <p:cNvPr id="3" name="Inhaltsplatzhalter 2">
            <a:extLst>
              <a:ext uri="{FF2B5EF4-FFF2-40B4-BE49-F238E27FC236}">
                <a16:creationId xmlns:a16="http://schemas.microsoft.com/office/drawing/2014/main" id="{EF6194DB-AD90-4A87-A778-DCE7EBB05F8F}"/>
              </a:ext>
            </a:extLst>
          </p:cNvPr>
          <p:cNvSpPr>
            <a:spLocks noGrp="1"/>
          </p:cNvSpPr>
          <p:nvPr>
            <p:ph idx="1"/>
          </p:nvPr>
        </p:nvSpPr>
        <p:spPr/>
        <p:txBody>
          <a:bodyPr/>
          <a:lstStyle/>
          <a:p>
            <a:r>
              <a:rPr lang="de-DE" dirty="0"/>
              <a:t>Variablen </a:t>
            </a:r>
            <a:r>
              <a:rPr lang="de-DE" dirty="0">
                <a:hlinkClick r:id="rId2" action="ppaction://hlinksldjump"/>
              </a:rPr>
              <a:t>primitiver Datentypen</a:t>
            </a:r>
            <a:r>
              <a:rPr lang="de-DE" dirty="0"/>
              <a:t> speichern ihren Wert direkt.</a:t>
            </a:r>
          </a:p>
          <a:p>
            <a:r>
              <a:rPr lang="de-DE" dirty="0"/>
              <a:t>Objektvariablen speichern </a:t>
            </a:r>
            <a:r>
              <a:rPr lang="de-DE" dirty="0">
                <a:solidFill>
                  <a:srgbClr val="FFCCFF"/>
                </a:solidFill>
              </a:rPr>
              <a:t>Referenzen</a:t>
            </a:r>
            <a:r>
              <a:rPr lang="de-DE" dirty="0"/>
              <a:t> auf </a:t>
            </a:r>
            <a:r>
              <a:rPr lang="de-DE" dirty="0">
                <a:hlinkClick r:id="rId3" action="ppaction://hlinksldjump"/>
              </a:rPr>
              <a:t>Objekte</a:t>
            </a:r>
            <a:r>
              <a:rPr lang="de-DE" dirty="0"/>
              <a:t> (z.B. </a:t>
            </a:r>
            <a:r>
              <a:rPr lang="de-DE" dirty="0">
                <a:hlinkClick r:id="rId4" action="ppaction://hlinksldjump"/>
              </a:rPr>
              <a:t>String</a:t>
            </a:r>
            <a:r>
              <a:rPr lang="de-DE" dirty="0"/>
              <a:t>, </a:t>
            </a:r>
            <a:r>
              <a:rPr lang="de-DE" dirty="0">
                <a:hlinkClick r:id="rId5" action="ppaction://hlinksldjump"/>
              </a:rPr>
              <a:t>Scanner</a:t>
            </a:r>
            <a:r>
              <a:rPr lang="de-DE" dirty="0"/>
              <a:t>, </a:t>
            </a:r>
            <a:r>
              <a:rPr lang="de-DE" dirty="0">
                <a:hlinkClick r:id="rId6" action="ppaction://hlinksldjump"/>
              </a:rPr>
              <a:t>Random</a:t>
            </a:r>
            <a:r>
              <a:rPr lang="de-DE" dirty="0"/>
              <a:t>). Objekte können in mehreren Variablen referenziert werden.</a:t>
            </a:r>
          </a:p>
        </p:txBody>
      </p:sp>
      <p:sp>
        <p:nvSpPr>
          <p:cNvPr id="31" name="Rectangle 30">
            <a:extLst>
              <a:ext uri="{FF2B5EF4-FFF2-40B4-BE49-F238E27FC236}">
                <a16:creationId xmlns:a16="http://schemas.microsoft.com/office/drawing/2014/main" id="{1E3DBAEE-7E58-4FA2-9046-0BCE38186D0D}"/>
              </a:ext>
            </a:extLst>
          </p:cNvPr>
          <p:cNvSpPr/>
          <p:nvPr/>
        </p:nvSpPr>
        <p:spPr>
          <a:xfrm>
            <a:off x="5029200" y="3484880"/>
            <a:ext cx="6868160" cy="300799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latin typeface="IBM Plex Sans" panose="020B0503050203000203" pitchFamily="34" charset="0"/>
            </a:endParaRPr>
          </a:p>
        </p:txBody>
      </p:sp>
      <p:cxnSp>
        <p:nvCxnSpPr>
          <p:cNvPr id="35" name="Straight Arrow Connector 34">
            <a:extLst>
              <a:ext uri="{FF2B5EF4-FFF2-40B4-BE49-F238E27FC236}">
                <a16:creationId xmlns:a16="http://schemas.microsoft.com/office/drawing/2014/main" id="{974BB901-681E-4DAD-86A4-5E662A233EC6}"/>
              </a:ext>
            </a:extLst>
          </p:cNvPr>
          <p:cNvCxnSpPr>
            <a:cxnSpLocks/>
            <a:endCxn id="13" idx="1"/>
          </p:cNvCxnSpPr>
          <p:nvPr/>
        </p:nvCxnSpPr>
        <p:spPr>
          <a:xfrm>
            <a:off x="3368040" y="4993640"/>
            <a:ext cx="2890520" cy="106578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9" name="Straight Arrow Connector 38">
            <a:extLst>
              <a:ext uri="{FF2B5EF4-FFF2-40B4-BE49-F238E27FC236}">
                <a16:creationId xmlns:a16="http://schemas.microsoft.com/office/drawing/2014/main" id="{7DC8943D-8087-4A84-9681-C44BF09893A2}"/>
              </a:ext>
            </a:extLst>
          </p:cNvPr>
          <p:cNvCxnSpPr>
            <a:cxnSpLocks/>
            <a:endCxn id="10" idx="1"/>
          </p:cNvCxnSpPr>
          <p:nvPr/>
        </p:nvCxnSpPr>
        <p:spPr>
          <a:xfrm flipV="1">
            <a:off x="3368040" y="4692670"/>
            <a:ext cx="1935480" cy="68705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5" name="Straight Arrow Connector 44">
            <a:extLst>
              <a:ext uri="{FF2B5EF4-FFF2-40B4-BE49-F238E27FC236}">
                <a16:creationId xmlns:a16="http://schemas.microsoft.com/office/drawing/2014/main" id="{02B71EFF-0C37-4CA2-B0EF-4DFC8144E9EC}"/>
              </a:ext>
            </a:extLst>
          </p:cNvPr>
          <p:cNvCxnSpPr>
            <a:cxnSpLocks/>
            <a:endCxn id="15" idx="1"/>
          </p:cNvCxnSpPr>
          <p:nvPr/>
        </p:nvCxnSpPr>
        <p:spPr>
          <a:xfrm flipV="1">
            <a:off x="3368040" y="4877336"/>
            <a:ext cx="4678680" cy="12282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9" name="Connector: Curved 48">
            <a:extLst>
              <a:ext uri="{FF2B5EF4-FFF2-40B4-BE49-F238E27FC236}">
                <a16:creationId xmlns:a16="http://schemas.microsoft.com/office/drawing/2014/main" id="{88BD7CA1-AA3F-42B1-A8C6-A78820E19991}"/>
              </a:ext>
            </a:extLst>
          </p:cNvPr>
          <p:cNvCxnSpPr>
            <a:endCxn id="17" idx="2"/>
          </p:cNvCxnSpPr>
          <p:nvPr/>
        </p:nvCxnSpPr>
        <p:spPr>
          <a:xfrm>
            <a:off x="3368040" y="5736254"/>
            <a:ext cx="6690360" cy="332957"/>
          </a:xfrm>
          <a:prstGeom prst="curvedConnector4">
            <a:avLst>
              <a:gd name="adj1" fmla="val 41762"/>
              <a:gd name="adj2" fmla="val 168658"/>
            </a:avLst>
          </a:prstGeom>
          <a:ln>
            <a:tailEnd type="triangle"/>
          </a:ln>
        </p:spPr>
        <p:style>
          <a:lnRef idx="1">
            <a:schemeClr val="accent2"/>
          </a:lnRef>
          <a:fillRef idx="0">
            <a:schemeClr val="accent2"/>
          </a:fillRef>
          <a:effectRef idx="0">
            <a:schemeClr val="accent2"/>
          </a:effectRef>
          <a:fontRef idx="minor">
            <a:schemeClr val="tx1"/>
          </a:fontRef>
        </p:style>
      </p:cxnSp>
      <p:pic>
        <p:nvPicPr>
          <p:cNvPr id="56" name="Graphic 55" descr="Lightbulb with solid fill">
            <a:extLst>
              <a:ext uri="{FF2B5EF4-FFF2-40B4-BE49-F238E27FC236}">
                <a16:creationId xmlns:a16="http://schemas.microsoft.com/office/drawing/2014/main" id="{CE2DC1A2-71A2-43AA-9A4A-72C839AE695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50768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F285DD-E3B2-4DDF-988B-FC5AEEF0D20C}"/>
              </a:ext>
            </a:extLst>
          </p:cNvPr>
          <p:cNvSpPr>
            <a:spLocks noGrp="1"/>
          </p:cNvSpPr>
          <p:nvPr>
            <p:ph type="title"/>
          </p:nvPr>
        </p:nvSpPr>
        <p:spPr/>
        <p:txBody>
          <a:bodyPr/>
          <a:lstStyle/>
          <a:p>
            <a:r>
              <a:rPr lang="de-DE" dirty="0"/>
              <a:t>Was sind Methoden?</a:t>
            </a:r>
          </a:p>
        </p:txBody>
      </p:sp>
      <p:sp>
        <p:nvSpPr>
          <p:cNvPr id="3" name="Inhaltsplatzhalter 2">
            <a:extLst>
              <a:ext uri="{FF2B5EF4-FFF2-40B4-BE49-F238E27FC236}">
                <a16:creationId xmlns:a16="http://schemas.microsoft.com/office/drawing/2014/main" id="{D48FC477-C60D-48B6-8549-D9F390B8020C}"/>
              </a:ext>
            </a:extLst>
          </p:cNvPr>
          <p:cNvSpPr>
            <a:spLocks noGrp="1"/>
          </p:cNvSpPr>
          <p:nvPr>
            <p:ph idx="1"/>
          </p:nvPr>
        </p:nvSpPr>
        <p:spPr/>
        <p:txBody>
          <a:bodyPr/>
          <a:lstStyle/>
          <a:p>
            <a:pPr marL="0" indent="0">
              <a:buNone/>
            </a:pPr>
            <a:r>
              <a:rPr lang="de-DE" dirty="0"/>
              <a:t>Methoden können zwei Dinge tun:</a:t>
            </a:r>
          </a:p>
          <a:p>
            <a:pPr marL="514350" indent="-514350">
              <a:buFont typeface="+mj-lt"/>
              <a:buAutoNum type="arabicPeriod"/>
            </a:pPr>
            <a:r>
              <a:rPr lang="de-DE" dirty="0"/>
              <a:t>Befehle ausführen</a:t>
            </a:r>
          </a:p>
          <a:p>
            <a:pPr marL="514350" indent="-514350">
              <a:buFont typeface="+mj-lt"/>
              <a:buAutoNum type="arabicPeriod"/>
            </a:pPr>
            <a:r>
              <a:rPr lang="de-DE" dirty="0"/>
              <a:t>Ergebnisse liefern (im Folgenden: "etwas </a:t>
            </a:r>
            <a:r>
              <a:rPr lang="de-DE" dirty="0" err="1"/>
              <a:t>returnen</a:t>
            </a:r>
            <a:r>
              <a:rPr lang="de-DE" dirty="0"/>
              <a:t>")</a:t>
            </a:r>
          </a:p>
          <a:p>
            <a:pPr marL="0" indent="0">
              <a:buNone/>
            </a:pPr>
            <a:r>
              <a:rPr lang="de-DE" dirty="0"/>
              <a:t>Methoden </a:t>
            </a:r>
            <a:r>
              <a:rPr lang="de-DE" dirty="0">
                <a:solidFill>
                  <a:srgbClr val="FFCCFF"/>
                </a:solidFill>
              </a:rPr>
              <a:t>verkapseln</a:t>
            </a:r>
            <a:r>
              <a:rPr lang="de-DE" dirty="0"/>
              <a:t> Programmcode.</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Roboto Mono" panose="00000009000000000000" pitchFamily="50" charset="0"/>
              </a:rPr>
              <a:t>// Verwendung einer Methode: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[Objekt.]&lt;Name&gt;(&lt;Parameter&gt;);</a:t>
            </a:r>
            <a:endParaRPr lang="de-DE" sz="1800" dirty="0">
              <a:latin typeface="Roboto Mono" panose="00000009000000000000" pitchFamily="50" charset="0"/>
            </a:endParaRPr>
          </a:p>
        </p:txBody>
      </p:sp>
      <p:pic>
        <p:nvPicPr>
          <p:cNvPr id="7" name="Graphic 6" descr="Books with solid fill">
            <a:extLst>
              <a:ext uri="{FF2B5EF4-FFF2-40B4-BE49-F238E27FC236}">
                <a16:creationId xmlns:a16="http://schemas.microsoft.com/office/drawing/2014/main" id="{05095256-7839-4D6C-922B-D7E8247475D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509686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1AD31-D233-46AF-AAA3-A62AD6439B84}"/>
              </a:ext>
            </a:extLst>
          </p:cNvPr>
          <p:cNvSpPr>
            <a:spLocks noGrp="1"/>
          </p:cNvSpPr>
          <p:nvPr>
            <p:ph type="title"/>
          </p:nvPr>
        </p:nvSpPr>
        <p:spPr/>
        <p:txBody>
          <a:bodyPr/>
          <a:lstStyle/>
          <a:p>
            <a:r>
              <a:rPr lang="de-DE" dirty="0"/>
              <a:t>Beispiele für Methodenaufrufe</a:t>
            </a:r>
          </a:p>
        </p:txBody>
      </p:sp>
      <p:graphicFrame>
        <p:nvGraphicFramePr>
          <p:cNvPr id="4" name="Table 4">
            <a:extLst>
              <a:ext uri="{FF2B5EF4-FFF2-40B4-BE49-F238E27FC236}">
                <a16:creationId xmlns:a16="http://schemas.microsoft.com/office/drawing/2014/main" id="{65A0004E-A3D3-4A18-AD4A-5C6A144B5778}"/>
              </a:ext>
            </a:extLst>
          </p:cNvPr>
          <p:cNvGraphicFramePr>
            <a:graphicFrameLocks noGrp="1"/>
          </p:cNvGraphicFramePr>
          <p:nvPr>
            <p:ph idx="1"/>
            <p:extLst>
              <p:ext uri="{D42A27DB-BD31-4B8C-83A1-F6EECF244321}">
                <p14:modId xmlns:p14="http://schemas.microsoft.com/office/powerpoint/2010/main" val="4034046216"/>
              </p:ext>
            </p:extLst>
          </p:nvPr>
        </p:nvGraphicFramePr>
        <p:xfrm>
          <a:off x="838200" y="1825625"/>
          <a:ext cx="10515600" cy="5257800"/>
        </p:xfrm>
        <a:graphic>
          <a:graphicData uri="http://schemas.openxmlformats.org/drawingml/2006/table">
            <a:tbl>
              <a:tblPr firstRow="1" bandRow="1">
                <a:tableStyleId>{5C22544A-7EE6-4342-B048-85BDC9FD1C3A}</a:tableStyleId>
              </a:tblPr>
              <a:tblGrid>
                <a:gridCol w="1456267">
                  <a:extLst>
                    <a:ext uri="{9D8B030D-6E8A-4147-A177-3AD203B41FA5}">
                      <a16:colId xmlns:a16="http://schemas.microsoft.com/office/drawing/2014/main" val="1301419155"/>
                    </a:ext>
                  </a:extLst>
                </a:gridCol>
                <a:gridCol w="5554133">
                  <a:extLst>
                    <a:ext uri="{9D8B030D-6E8A-4147-A177-3AD203B41FA5}">
                      <a16:colId xmlns:a16="http://schemas.microsoft.com/office/drawing/2014/main" val="811877467"/>
                    </a:ext>
                  </a:extLst>
                </a:gridCol>
                <a:gridCol w="3505200">
                  <a:extLst>
                    <a:ext uri="{9D8B030D-6E8A-4147-A177-3AD203B41FA5}">
                      <a16:colId xmlns:a16="http://schemas.microsoft.com/office/drawing/2014/main" val="1284221858"/>
                    </a:ext>
                  </a:extLst>
                </a:gridCol>
              </a:tblGrid>
              <a:tr h="370840">
                <a:tc gridSpan="3">
                  <a:txBody>
                    <a:bodyPr/>
                    <a:lstStyle/>
                    <a:p>
                      <a:pPr algn="l"/>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ctr"/>
                      <a:endParaRPr lang="de-DE" dirty="0"/>
                    </a:p>
                  </a:txBody>
                  <a:tcPr>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5397328"/>
                  </a:ext>
                </a:extLst>
              </a:tr>
              <a:tr h="370840">
                <a:tc>
                  <a:txBody>
                    <a:bodyPr/>
                    <a:lstStyle/>
                    <a:p>
                      <a:pPr algn="l"/>
                      <a:r>
                        <a:rPr lang="de-DE" dirty="0" err="1">
                          <a:solidFill>
                            <a:srgbClr val="7A7A7A"/>
                          </a:solidFill>
                          <a:latin typeface="IBM Plex Sans" panose="020B0503050203000203" pitchFamily="34" charset="0"/>
                        </a:rPr>
                        <a:t>println</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Roboto Mono" panose="00000009000000000000" pitchFamily="50" charset="0"/>
                        </a:rPr>
                        <a:t>Gibt "Hallo" in der Konsole aus.</a:t>
                      </a:r>
                      <a:endParaRPr lang="de-DE"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7A7A7A"/>
                          </a:solidFill>
                          <a:effectLst/>
                          <a:latin typeface="Roboto Mono" panose="00000009000000000000" pitchFamily="50" charset="0"/>
                        </a:rPr>
                        <a:t>Befehl ausführen</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1943420"/>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buchstabenInLangemWort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err="1">
                          <a:ln>
                            <a:noFill/>
                          </a:ln>
                          <a:solidFill>
                            <a:srgbClr val="6A8759"/>
                          </a:solidFill>
                          <a:effectLst/>
                          <a:latin typeface="Roboto Mono" panose="00000009000000000000" pitchFamily="50" charset="0"/>
                        </a:rPr>
                        <a:t>Heizölrückstoßabdämpfung</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8341391"/>
                  </a:ext>
                </a:extLst>
              </a:tr>
              <a:tr h="370840">
                <a:tc>
                  <a:txBody>
                    <a:bodyPr/>
                    <a:lstStyle/>
                    <a:p>
                      <a:pPr algn="l"/>
                      <a:r>
                        <a:rPr lang="de-DE" dirty="0" err="1">
                          <a:solidFill>
                            <a:srgbClr val="7A7A7A"/>
                          </a:solidFill>
                          <a:latin typeface="IBM Plex Sans" panose="020B0503050203000203" pitchFamily="34" charset="0"/>
                        </a:rPr>
                        <a:t>length</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err="1">
                          <a:ln>
                            <a:noFill/>
                          </a:ln>
                          <a:solidFill>
                            <a:srgbClr val="808080"/>
                          </a:solidFill>
                          <a:effectLst/>
                          <a:latin typeface="Roboto Mono" panose="00000009000000000000" pitchFamily="50" charset="0"/>
                        </a:rPr>
                        <a:t>Returnt</a:t>
                      </a:r>
                      <a:r>
                        <a:rPr kumimoji="0" lang="de-DE" altLang="de-DE" sz="1800" b="0" i="0" u="none" strike="noStrike" cap="none" normalizeH="0" baseline="0" dirty="0">
                          <a:ln>
                            <a:noFill/>
                          </a:ln>
                          <a:solidFill>
                            <a:srgbClr val="808080"/>
                          </a:solidFill>
                          <a:effectLst/>
                          <a:latin typeface="Roboto Mono" panose="00000009000000000000" pitchFamily="50" charset="0"/>
                        </a:rPr>
                        <a:t> die Länge des Strings.</a:t>
                      </a:r>
                      <a:r>
                        <a:rPr lang="de-DE" altLang="de-DE" sz="1800" dirty="0">
                          <a:solidFill>
                            <a:srgbClr val="808080"/>
                          </a:solidFill>
                          <a:latin typeface="Roboto Mono" panose="00000009000000000000" pitchFamily="50" charset="0"/>
                        </a:rPr>
                        <a:t> </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Roboto Mono" panose="00000009000000000000" pitchFamily="50" charset="0"/>
                        </a:rPr>
                        <a:t>Ergebnis </a:t>
                      </a:r>
                      <a:r>
                        <a:rPr kumimoji="0" lang="de-DE" altLang="de-DE" sz="1800" b="0" i="0" u="none" strike="noStrike" cap="none" normalizeH="0" baseline="0" dirty="0" err="1">
                          <a:ln>
                            <a:noFill/>
                          </a:ln>
                          <a:solidFill>
                            <a:srgbClr val="808080"/>
                          </a:solidFill>
                          <a:effectLst/>
                          <a:latin typeface="Roboto Mono" panose="00000009000000000000" pitchFamily="50" charset="0"/>
                        </a:rPr>
                        <a:t>returnen</a:t>
                      </a:r>
                      <a:endParaRPr lang="de-DE"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5000902"/>
                  </a:ext>
                </a:extLst>
              </a:tr>
              <a:tr h="370840">
                <a:tc gridSpan="3">
                  <a:txBody>
                    <a:bodyPr/>
                    <a:lstStyle/>
                    <a:p>
                      <a:pPr algn="l"/>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rPr>
                        <a:t>exit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30256108"/>
                  </a:ext>
                </a:extLst>
              </a:tr>
              <a:tr h="370840">
                <a:tc>
                  <a:txBody>
                    <a:bodyPr/>
                    <a:lstStyle/>
                    <a:p>
                      <a:pPr algn="l"/>
                      <a:r>
                        <a:rPr lang="de-DE" dirty="0" err="1">
                          <a:solidFill>
                            <a:srgbClr val="7A7A7A"/>
                          </a:solidFill>
                          <a:latin typeface="IBM Plex Sans" panose="020B0503050203000203" pitchFamily="34" charset="0"/>
                        </a:rPr>
                        <a:t>exit</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Roboto Mono" panose="00000009000000000000" pitchFamily="50" charset="0"/>
                        </a:rPr>
                        <a:t>Beendet das Programm.</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Roboto Mono" panose="00000009000000000000" pitchFamily="50" charset="0"/>
                        </a:rPr>
                        <a:t>Befehl ausführen</a:t>
                      </a:r>
                      <a:endParaRPr lang="de-DE"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93882"/>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affeInGiraffe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"Giraffe"</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contains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err="1">
                          <a:ln>
                            <a:noFill/>
                          </a:ln>
                          <a:solidFill>
                            <a:srgbClr val="6A8759"/>
                          </a:solidFill>
                          <a:effectLst/>
                          <a:latin typeface="Roboto Mono" panose="00000009000000000000" pitchFamily="50" charset="0"/>
                        </a:rPr>
                        <a:t>affe</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57397378"/>
                  </a:ext>
                </a:extLst>
              </a:tr>
              <a:tr h="370840">
                <a:tc>
                  <a:txBody>
                    <a:bodyPr/>
                    <a:lstStyle/>
                    <a:p>
                      <a:pPr algn="l"/>
                      <a:r>
                        <a:rPr lang="de-DE" dirty="0" err="1">
                          <a:solidFill>
                            <a:srgbClr val="7A7A7A"/>
                          </a:solidFill>
                          <a:latin typeface="IBM Plex Sans" panose="020B0503050203000203" pitchFamily="34" charset="0"/>
                        </a:rPr>
                        <a:t>contains</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Roboto Mono" panose="00000009000000000000" pitchFamily="50" charset="0"/>
                        </a:rPr>
                        <a:t>Enthält "Giraffe" irgendwo "</a:t>
                      </a:r>
                      <a:r>
                        <a:rPr kumimoji="0" lang="de-DE" altLang="de-DE" sz="1800" b="0" i="0" u="none" strike="noStrike" cap="none" normalizeH="0" baseline="0" dirty="0" err="1">
                          <a:ln>
                            <a:noFill/>
                          </a:ln>
                          <a:solidFill>
                            <a:srgbClr val="808080"/>
                          </a:solidFill>
                          <a:effectLst/>
                          <a:latin typeface="Roboto Mono" panose="00000009000000000000" pitchFamily="50" charset="0"/>
                        </a:rPr>
                        <a:t>affe</a:t>
                      </a:r>
                      <a:r>
                        <a:rPr kumimoji="0" lang="de-DE" altLang="de-DE" sz="1800" b="0" i="0" u="none" strike="noStrike" cap="none" normalizeH="0" baseline="0" dirty="0">
                          <a:ln>
                            <a:noFill/>
                          </a:ln>
                          <a:solidFill>
                            <a:srgbClr val="808080"/>
                          </a:solidFill>
                          <a:effectLst/>
                          <a:latin typeface="Roboto Mono" panose="00000009000000000000" pitchFamily="50" charset="0"/>
                        </a:rPr>
                        <a:t>"? Ja.</a:t>
                      </a:r>
                      <a:r>
                        <a:rPr lang="de-DE" altLang="de-DE" sz="1800" dirty="0">
                          <a:solidFill>
                            <a:srgbClr val="808080"/>
                          </a:solidFill>
                          <a:latin typeface="Roboto Mono" panose="00000009000000000000" pitchFamily="50" charset="0"/>
                        </a:rPr>
                        <a:t> </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Roboto Mono" panose="00000009000000000000" pitchFamily="50" charset="0"/>
                        </a:rPr>
                        <a:t>Ergebnis </a:t>
                      </a:r>
                      <a:r>
                        <a:rPr kumimoji="0" lang="de-DE" altLang="de-DE" sz="1800" b="0" i="0" u="none" strike="noStrike" cap="none" normalizeH="0" baseline="0" dirty="0" err="1">
                          <a:ln>
                            <a:noFill/>
                          </a:ln>
                          <a:solidFill>
                            <a:srgbClr val="808080"/>
                          </a:solidFill>
                          <a:effectLst/>
                          <a:latin typeface="Roboto Mono" panose="00000009000000000000" pitchFamily="50" charset="0"/>
                        </a:rPr>
                        <a:t>returnen</a:t>
                      </a:r>
                      <a:endParaRPr lang="de-DE"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4258283"/>
                  </a:ext>
                </a:extLst>
              </a:tr>
              <a:tr h="370840">
                <a:tc gridSpan="2">
                  <a:txBody>
                    <a:bodyPr/>
                    <a:lstStyle/>
                    <a:p>
                      <a:pPr algn="l"/>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rowSpan="2">
                  <a:txBody>
                    <a:bodyPr/>
                    <a:lstStyle/>
                    <a:p>
                      <a:pPr algn="l"/>
                      <a:r>
                        <a:rPr kumimoji="0" lang="de-DE" altLang="de-DE" sz="1800" b="0" i="0" u="none" strike="noStrike" cap="none" normalizeH="0" baseline="0" dirty="0">
                          <a:ln>
                            <a:noFill/>
                          </a:ln>
                          <a:solidFill>
                            <a:srgbClr val="808080"/>
                          </a:solidFill>
                          <a:effectLst/>
                          <a:latin typeface="Roboto Mono" panose="00000009000000000000" pitchFamily="50" charset="0"/>
                        </a:rPr>
                        <a:t>Beides (Warten: Befehl, Eingabe: Ergebnis)</a:t>
                      </a:r>
                      <a:endParaRPr lang="de-DE" dirty="0">
                        <a:solidFill>
                          <a:schemeClr val="tx1"/>
                        </a:solidFill>
                        <a:latin typeface="IBM Plex Sans" panose="020B0503050203000203" pitchFamily="34" charset="0"/>
                      </a:endParaRPr>
                    </a:p>
                  </a:txBody>
                  <a:tcPr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71468628"/>
                  </a:ext>
                </a:extLst>
              </a:tr>
              <a:tr h="370840">
                <a:tc>
                  <a:txBody>
                    <a:bodyPr/>
                    <a:lstStyle/>
                    <a:p>
                      <a:pPr algn="l"/>
                      <a:r>
                        <a:rPr lang="de-DE" dirty="0" err="1">
                          <a:solidFill>
                            <a:srgbClr val="7A7A7A"/>
                          </a:solidFill>
                          <a:latin typeface="IBM Plex Sans" panose="020B0503050203000203" pitchFamily="34" charset="0"/>
                        </a:rPr>
                        <a:t>nextLine</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Roboto Mono" panose="00000009000000000000" pitchFamily="50" charset="0"/>
                        </a:rPr>
                        <a:t>Wartet auf eine Eingabe und </a:t>
                      </a:r>
                      <a:r>
                        <a:rPr kumimoji="0" lang="de-DE" altLang="de-DE" sz="1800" b="0" i="0" u="none" strike="noStrike" cap="none" normalizeH="0" baseline="0" dirty="0" err="1">
                          <a:ln>
                            <a:noFill/>
                          </a:ln>
                          <a:solidFill>
                            <a:srgbClr val="808080"/>
                          </a:solidFill>
                          <a:effectLst/>
                          <a:latin typeface="Roboto Mono" panose="00000009000000000000" pitchFamily="50" charset="0"/>
                        </a:rPr>
                        <a:t>returnt</a:t>
                      </a:r>
                      <a:r>
                        <a:rPr kumimoji="0" lang="de-DE" altLang="de-DE" sz="1800" b="0" i="0" u="none" strike="noStrike" cap="none" normalizeH="0" baseline="0" dirty="0">
                          <a:ln>
                            <a:noFill/>
                          </a:ln>
                          <a:solidFill>
                            <a:srgbClr val="808080"/>
                          </a:solidFill>
                          <a:effectLst/>
                          <a:latin typeface="Roboto Mono" panose="00000009000000000000" pitchFamily="50" charset="0"/>
                        </a:rPr>
                        <a:t> sie.</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vMerge="1">
                  <a:txBody>
                    <a:bodyPr/>
                    <a:lstStyle/>
                    <a:p>
                      <a:pPr algn="l"/>
                      <a:r>
                        <a:rPr kumimoji="0" lang="de-DE" altLang="de-DE" sz="1800" b="0" i="0" u="none" strike="noStrike" cap="none" normalizeH="0" baseline="0" dirty="0">
                          <a:ln>
                            <a:noFill/>
                          </a:ln>
                          <a:solidFill>
                            <a:srgbClr val="808080"/>
                          </a:solidFill>
                          <a:effectLst/>
                          <a:latin typeface="Consolas" panose="020B0609020204030204" pitchFamily="49" charset="0"/>
                        </a:rPr>
                        <a:t>Beides (Warten: Befehl, Eingabe: Ergebnis)</a:t>
                      </a:r>
                      <a:endParaRPr lang="de-DE"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26726285"/>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feuerIstWasser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"Feuer"</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"Wasser"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dirty="0"/>
                    </a:p>
                  </a:txBody>
                  <a:tcPr>
                    <a:lnL w="12700" cap="flat" cmpd="sng" algn="ctr">
                      <a:noFill/>
                      <a:prstDash val="solid"/>
                      <a:round/>
                      <a:headEnd type="none" w="med" len="med"/>
                      <a:tailEnd type="none" w="med" len="med"/>
                    </a:lnL>
                    <a:lnR w="12700" cmpd="sng">
                      <a:noFill/>
                    </a:lnR>
                    <a:lnT w="12700" cap="flat" cmpd="sng" algn="ctr">
                      <a:solidFill>
                        <a:schemeClr val="tx1">
                          <a:lumMod val="75000"/>
                        </a:schemeClr>
                      </a:solidFill>
                      <a:prstDash val="dash"/>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1594463"/>
                  </a:ext>
                </a:extLst>
              </a:tr>
              <a:tr h="370840">
                <a:tc>
                  <a:txBody>
                    <a:bodyPr/>
                    <a:lstStyle/>
                    <a:p>
                      <a:pPr algn="l"/>
                      <a:r>
                        <a:rPr lang="de-DE" dirty="0" err="1">
                          <a:solidFill>
                            <a:srgbClr val="7A7A7A"/>
                          </a:solidFill>
                          <a:latin typeface="IBM Plex Sans" panose="020B0503050203000203" pitchFamily="34" charset="0"/>
                        </a:rPr>
                        <a:t>equals</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808080"/>
                          </a:solidFill>
                          <a:effectLst/>
                          <a:latin typeface="Roboto Mono" panose="00000009000000000000" pitchFamily="50" charset="0"/>
                        </a:rPr>
                        <a:t>Handelt es sich um das gleiche Wort? Nein.</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808080"/>
                          </a:solidFill>
                          <a:effectLst/>
                          <a:latin typeface="Roboto Mono" panose="00000009000000000000" pitchFamily="50" charset="0"/>
                        </a:rPr>
                        <a:t>Ergebnis </a:t>
                      </a:r>
                      <a:r>
                        <a:rPr kumimoji="0" lang="de-DE" altLang="de-DE" sz="1800" b="0" i="0" u="none" strike="noStrike" cap="none" normalizeH="0" baseline="0" dirty="0" err="1">
                          <a:ln>
                            <a:noFill/>
                          </a:ln>
                          <a:solidFill>
                            <a:srgbClr val="808080"/>
                          </a:solidFill>
                          <a:effectLst/>
                          <a:latin typeface="Roboto Mono" panose="00000009000000000000" pitchFamily="50" charset="0"/>
                        </a:rPr>
                        <a:t>returnen</a:t>
                      </a:r>
                      <a:endParaRPr lang="de-DE"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9208429"/>
                  </a:ext>
                </a:extLst>
              </a:tr>
            </a:tbl>
          </a:graphicData>
        </a:graphic>
      </p:graphicFrame>
      <p:pic>
        <p:nvPicPr>
          <p:cNvPr id="8" name="Graphic 7" descr="Document with solid fill">
            <a:extLst>
              <a:ext uri="{FF2B5EF4-FFF2-40B4-BE49-F238E27FC236}">
                <a16:creationId xmlns:a16="http://schemas.microsoft.com/office/drawing/2014/main" id="{00951D99-2E59-4B64-B8C1-1290E77B706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317517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FFC3ED-914D-4161-81D1-AA01B66684C5}"/>
              </a:ext>
            </a:extLst>
          </p:cNvPr>
          <p:cNvSpPr>
            <a:spLocks noGrp="1"/>
          </p:cNvSpPr>
          <p:nvPr>
            <p:ph type="title"/>
          </p:nvPr>
        </p:nvSpPr>
        <p:spPr/>
        <p:txBody>
          <a:bodyPr/>
          <a:lstStyle/>
          <a:p>
            <a:r>
              <a:rPr lang="de-DE" dirty="0"/>
              <a:t>Warum eigene Methoden schreiben?</a:t>
            </a:r>
          </a:p>
        </p:txBody>
      </p:sp>
      <p:sp>
        <p:nvSpPr>
          <p:cNvPr id="3" name="Inhaltsplatzhalter 2">
            <a:extLst>
              <a:ext uri="{FF2B5EF4-FFF2-40B4-BE49-F238E27FC236}">
                <a16:creationId xmlns:a16="http://schemas.microsoft.com/office/drawing/2014/main" id="{11ECDBE4-5DB2-4D2F-B97A-39A71797F883}"/>
              </a:ext>
            </a:extLst>
          </p:cNvPr>
          <p:cNvSpPr>
            <a:spLocks noGrp="1"/>
          </p:cNvSpPr>
          <p:nvPr>
            <p:ph idx="1"/>
          </p:nvPr>
        </p:nvSpPr>
        <p:spPr/>
        <p:txBody>
          <a:bodyPr>
            <a:normAutofit/>
          </a:bodyPr>
          <a:lstStyle/>
          <a:p>
            <a:r>
              <a:rPr lang="de-DE" dirty="0"/>
              <a:t>Wiederverwendung</a:t>
            </a:r>
          </a:p>
          <a:p>
            <a:pPr lvl="1"/>
            <a:r>
              <a:rPr lang="de-DE" dirty="0"/>
              <a:t>Vermeidung von </a:t>
            </a:r>
            <a:r>
              <a:rPr lang="de-DE" dirty="0">
                <a:solidFill>
                  <a:srgbClr val="FFCCFF"/>
                </a:solidFill>
              </a:rPr>
              <a:t>redundantem</a:t>
            </a:r>
            <a:r>
              <a:rPr lang="de-DE" dirty="0"/>
              <a:t> Programmcode</a:t>
            </a:r>
          </a:p>
          <a:p>
            <a:r>
              <a:rPr lang="de-DE" dirty="0"/>
              <a:t>Methoden haben einen Namen.</a:t>
            </a:r>
          </a:p>
          <a:p>
            <a:pPr lvl="1"/>
            <a:r>
              <a:rPr lang="de-DE" dirty="0"/>
              <a:t>Zweck leichter verständlich</a:t>
            </a:r>
          </a:p>
          <a:p>
            <a:r>
              <a:rPr lang="de-DE" dirty="0"/>
              <a:t>Unabhängigkeit vom Rest des Programms</a:t>
            </a:r>
          </a:p>
          <a:p>
            <a:pPr lvl="1"/>
            <a:r>
              <a:rPr lang="de-DE" dirty="0"/>
              <a:t>Zerlegung des Programms in viele Teilprogramme</a:t>
            </a:r>
          </a:p>
        </p:txBody>
      </p:sp>
      <p:sp>
        <p:nvSpPr>
          <p:cNvPr id="4" name="Rectangle 3">
            <a:extLst>
              <a:ext uri="{FF2B5EF4-FFF2-40B4-BE49-F238E27FC236}">
                <a16:creationId xmlns:a16="http://schemas.microsoft.com/office/drawing/2014/main" id="{E047A92E-0BB8-4BCF-BA21-62A05CF7A2AF}"/>
              </a:ext>
            </a:extLst>
          </p:cNvPr>
          <p:cNvSpPr/>
          <p:nvPr/>
        </p:nvSpPr>
        <p:spPr>
          <a:xfrm>
            <a:off x="2527435" y="5681217"/>
            <a:ext cx="2948684" cy="8116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Methode</a:t>
            </a:r>
          </a:p>
          <a:p>
            <a:pPr algn="ctr"/>
            <a:r>
              <a:rPr lang="de-DE" dirty="0">
                <a:latin typeface="IBM Plex Sans" panose="020B0503050203000203" pitchFamily="34" charset="0"/>
              </a:rPr>
              <a:t>(z.B. </a:t>
            </a:r>
            <a:r>
              <a:rPr lang="de-DE" dirty="0" err="1">
                <a:latin typeface="IBM Plex Sans" panose="020B0503050203000203" pitchFamily="34" charset="0"/>
              </a:rPr>
              <a:t>nextLine</a:t>
            </a:r>
            <a:r>
              <a:rPr lang="de-DE" dirty="0">
                <a:latin typeface="IBM Plex Sans" panose="020B0503050203000203" pitchFamily="34" charset="0"/>
              </a:rPr>
              <a:t>)</a:t>
            </a:r>
          </a:p>
        </p:txBody>
      </p:sp>
      <p:cxnSp>
        <p:nvCxnSpPr>
          <p:cNvPr id="6" name="Straight Arrow Connector 5">
            <a:extLst>
              <a:ext uri="{FF2B5EF4-FFF2-40B4-BE49-F238E27FC236}">
                <a16:creationId xmlns:a16="http://schemas.microsoft.com/office/drawing/2014/main" id="{5FDB3DF3-3489-44D8-B9DF-90A4072D067D}"/>
              </a:ext>
            </a:extLst>
          </p:cNvPr>
          <p:cNvCxnSpPr>
            <a:endCxn id="4" idx="0"/>
          </p:cNvCxnSpPr>
          <p:nvPr/>
        </p:nvCxnSpPr>
        <p:spPr>
          <a:xfrm>
            <a:off x="2106196" y="4869950"/>
            <a:ext cx="1895581" cy="8112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2D0A60D-5391-46B8-8055-17242C85B55F}"/>
              </a:ext>
            </a:extLst>
          </p:cNvPr>
          <p:cNvSpPr txBox="1"/>
          <p:nvPr/>
        </p:nvSpPr>
        <p:spPr>
          <a:xfrm rot="1378761">
            <a:off x="2467446" y="4728289"/>
            <a:ext cx="1173078" cy="646331"/>
          </a:xfrm>
          <a:prstGeom prst="rect">
            <a:avLst/>
          </a:prstGeom>
          <a:noFill/>
        </p:spPr>
        <p:txBody>
          <a:bodyPr wrap="square" rtlCol="0">
            <a:spAutoFit/>
          </a:bodyPr>
          <a:lstStyle/>
          <a:p>
            <a:r>
              <a:rPr lang="de-DE" dirty="0">
                <a:latin typeface="IBM Plex Sans" panose="020B0503050203000203" pitchFamily="34" charset="0"/>
              </a:rPr>
              <a:t>Parameter</a:t>
            </a:r>
          </a:p>
        </p:txBody>
      </p:sp>
      <p:cxnSp>
        <p:nvCxnSpPr>
          <p:cNvPr id="9" name="Straight Arrow Connector 8">
            <a:extLst>
              <a:ext uri="{FF2B5EF4-FFF2-40B4-BE49-F238E27FC236}">
                <a16:creationId xmlns:a16="http://schemas.microsoft.com/office/drawing/2014/main" id="{46527163-99D8-4726-BEAE-18C3F4896A21}"/>
              </a:ext>
            </a:extLst>
          </p:cNvPr>
          <p:cNvCxnSpPr>
            <a:stCxn id="4" idx="3"/>
          </p:cNvCxnSpPr>
          <p:nvPr/>
        </p:nvCxnSpPr>
        <p:spPr>
          <a:xfrm>
            <a:off x="5476119" y="6087046"/>
            <a:ext cx="251716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3754A25-0252-407D-A558-3FCF034F2BC6}"/>
              </a:ext>
            </a:extLst>
          </p:cNvPr>
          <p:cNvCxnSpPr>
            <a:cxnSpLocks/>
            <a:stCxn id="4" idx="3"/>
          </p:cNvCxnSpPr>
          <p:nvPr/>
        </p:nvCxnSpPr>
        <p:spPr>
          <a:xfrm flipV="1">
            <a:off x="5476119" y="4869950"/>
            <a:ext cx="2003461" cy="1217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537E9FB-D59B-40AC-8381-1309D552AB3F}"/>
              </a:ext>
            </a:extLst>
          </p:cNvPr>
          <p:cNvSpPr txBox="1"/>
          <p:nvPr/>
        </p:nvSpPr>
        <p:spPr>
          <a:xfrm rot="19765532">
            <a:off x="5585881" y="5087678"/>
            <a:ext cx="1780352" cy="369332"/>
          </a:xfrm>
          <a:prstGeom prst="rect">
            <a:avLst/>
          </a:prstGeom>
          <a:noFill/>
        </p:spPr>
        <p:txBody>
          <a:bodyPr wrap="square" rtlCol="0">
            <a:spAutoFit/>
          </a:bodyPr>
          <a:lstStyle/>
          <a:p>
            <a:r>
              <a:rPr lang="de-DE" dirty="0">
                <a:latin typeface="IBM Plex Sans" panose="020B0503050203000203" pitchFamily="34" charset="0"/>
              </a:rPr>
              <a:t>Nebeneffekte</a:t>
            </a:r>
          </a:p>
        </p:txBody>
      </p:sp>
      <p:sp>
        <p:nvSpPr>
          <p:cNvPr id="14" name="TextBox 13">
            <a:extLst>
              <a:ext uri="{FF2B5EF4-FFF2-40B4-BE49-F238E27FC236}">
                <a16:creationId xmlns:a16="http://schemas.microsoft.com/office/drawing/2014/main" id="{067E2E7F-4E24-4998-9698-47C9FBA4429C}"/>
              </a:ext>
            </a:extLst>
          </p:cNvPr>
          <p:cNvSpPr txBox="1"/>
          <p:nvPr/>
        </p:nvSpPr>
        <p:spPr>
          <a:xfrm>
            <a:off x="6476057" y="5701279"/>
            <a:ext cx="1096882" cy="369332"/>
          </a:xfrm>
          <a:prstGeom prst="rect">
            <a:avLst/>
          </a:prstGeom>
          <a:noFill/>
        </p:spPr>
        <p:txBody>
          <a:bodyPr wrap="square" rtlCol="0">
            <a:spAutoFit/>
          </a:bodyPr>
          <a:lstStyle/>
          <a:p>
            <a:r>
              <a:rPr lang="de-DE" dirty="0">
                <a:latin typeface="IBM Plex Sans" panose="020B0503050203000203" pitchFamily="34" charset="0"/>
              </a:rPr>
              <a:t>Ergebnis</a:t>
            </a:r>
          </a:p>
        </p:txBody>
      </p:sp>
      <p:pic>
        <p:nvPicPr>
          <p:cNvPr id="11" name="Graphic 10" descr="Lightbulb with solid fill">
            <a:extLst>
              <a:ext uri="{FF2B5EF4-FFF2-40B4-BE49-F238E27FC236}">
                <a16:creationId xmlns:a16="http://schemas.microsoft.com/office/drawing/2014/main" id="{A609B949-322F-4081-9B79-42DE37970C0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2" name="Content Placeholder 5" descr="Arrow circle with solid fill">
            <a:extLst>
              <a:ext uri="{FF2B5EF4-FFF2-40B4-BE49-F238E27FC236}">
                <a16:creationId xmlns:a16="http://schemas.microsoft.com/office/drawing/2014/main" id="{D7D93B2B-52AF-42D2-B928-0504A573137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331675" y="1825625"/>
            <a:ext cx="914400" cy="914400"/>
          </a:xfrm>
          <a:prstGeom prst="rect">
            <a:avLst/>
          </a:prstGeom>
        </p:spPr>
      </p:pic>
      <p:graphicFrame>
        <p:nvGraphicFramePr>
          <p:cNvPr id="33" name="Diagram 32">
            <a:extLst>
              <a:ext uri="{FF2B5EF4-FFF2-40B4-BE49-F238E27FC236}">
                <a16:creationId xmlns:a16="http://schemas.microsoft.com/office/drawing/2014/main" id="{2A3D3E62-1AB2-43C0-8420-1C6549F4D31D}"/>
              </a:ext>
            </a:extLst>
          </p:cNvPr>
          <p:cNvGraphicFramePr/>
          <p:nvPr>
            <p:extLst>
              <p:ext uri="{D42A27DB-BD31-4B8C-83A1-F6EECF244321}">
                <p14:modId xmlns:p14="http://schemas.microsoft.com/office/powerpoint/2010/main" val="3645967386"/>
              </p:ext>
            </p:extLst>
          </p:nvPr>
        </p:nvGraphicFramePr>
        <p:xfrm>
          <a:off x="8459124" y="3027352"/>
          <a:ext cx="2894676" cy="162510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35478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ADE03-0240-42CE-9049-503153E7DED7}"/>
              </a:ext>
            </a:extLst>
          </p:cNvPr>
          <p:cNvSpPr>
            <a:spLocks noGrp="1"/>
          </p:cNvSpPr>
          <p:nvPr>
            <p:ph type="title"/>
          </p:nvPr>
        </p:nvSpPr>
        <p:spPr/>
        <p:txBody>
          <a:bodyPr/>
          <a:lstStyle/>
          <a:p>
            <a:r>
              <a:rPr lang="de-DE" dirty="0"/>
              <a:t>Aufbau einer Methode</a:t>
            </a:r>
          </a:p>
        </p:txBody>
      </p:sp>
      <p:sp>
        <p:nvSpPr>
          <p:cNvPr id="3" name="Inhaltsplatzhalter 2">
            <a:extLst>
              <a:ext uri="{FF2B5EF4-FFF2-40B4-BE49-F238E27FC236}">
                <a16:creationId xmlns:a16="http://schemas.microsoft.com/office/drawing/2014/main" id="{FBC0B987-CE54-49BB-B5B6-9F9FE04DAD06}"/>
              </a:ext>
            </a:extLst>
          </p:cNvPr>
          <p:cNvSpPr>
            <a:spLocks noGrp="1"/>
          </p:cNvSpPr>
          <p:nvPr>
            <p:ph idx="1"/>
          </p:nvPr>
        </p:nvSpPr>
        <p:spPr/>
        <p:txBody>
          <a:bodyPr/>
          <a:lstStyle/>
          <a:p>
            <a:pPr marL="0" indent="0">
              <a:buNone/>
            </a:pPr>
            <a:r>
              <a:rPr lang="de-DE" dirty="0"/>
              <a:t>Um eine eigene Methode zu schreiben, müssen wir folgende Eigenschaften festlegen:</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Modifikatoren</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Rückgabet</a:t>
            </a:r>
            <a:r>
              <a:rPr lang="de-DE" altLang="de-DE" sz="1800" dirty="0">
                <a:solidFill>
                  <a:srgbClr val="CC7E47"/>
                </a:solidFill>
                <a:latin typeface="Roboto Mono" panose="00000009000000000000" pitchFamily="50" charset="0"/>
              </a:rPr>
              <a:t>yp</a:t>
            </a:r>
            <a:r>
              <a:rPr lang="de-DE" altLang="de-DE" sz="1800" dirty="0">
                <a:solidFill>
                  <a:srgbClr val="808080"/>
                </a:solidFill>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D6AF72"/>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5FB1DA"/>
                </a:solidFill>
                <a:effectLst/>
                <a:latin typeface="Roboto Mono" panose="00000009000000000000" pitchFamily="50" charset="0"/>
              </a:rPr>
              <a:t>Parameter</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B9C7A6"/>
                </a:solidFill>
                <a:effectLst/>
                <a:latin typeface="Roboto Mono" panose="00000009000000000000" pitchFamily="50" charset="0"/>
              </a:rPr>
              <a:t>Befehle</a:t>
            </a:r>
            <a:r>
              <a:rPr kumimoji="0" lang="de-DE" altLang="de-DE" sz="1800" b="0" i="0" u="none" strike="noStrike" cap="none" normalizeH="0" baseline="0" dirty="0">
                <a:ln>
                  <a:noFill/>
                </a:ln>
                <a:solidFill>
                  <a:srgbClr val="808080"/>
                </a:solidFill>
                <a:effectLst/>
                <a:latin typeface="Roboto Mono" panose="00000009000000000000" pitchFamily="50" charset="0"/>
              </a:rPr>
              <a: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Ergebnis</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3500E9CA-CE13-4FEE-8B13-1259F9EB7F6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02887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1B9B46-8BFA-4092-AE3B-F3701F7DBB85}"/>
              </a:ext>
            </a:extLst>
          </p:cNvPr>
          <p:cNvSpPr>
            <a:spLocks noGrp="1"/>
          </p:cNvSpPr>
          <p:nvPr>
            <p:ph type="title"/>
          </p:nvPr>
        </p:nvSpPr>
        <p:spPr/>
        <p:txBody>
          <a:bodyPr/>
          <a:lstStyle/>
          <a:p>
            <a:r>
              <a:rPr lang="de-DE" dirty="0"/>
              <a:t>Ergebnis der Methode festlegen</a:t>
            </a:r>
          </a:p>
        </p:txBody>
      </p:sp>
      <p:sp>
        <p:nvSpPr>
          <p:cNvPr id="3" name="Inhaltsplatzhalter 2">
            <a:extLst>
              <a:ext uri="{FF2B5EF4-FFF2-40B4-BE49-F238E27FC236}">
                <a16:creationId xmlns:a16="http://schemas.microsoft.com/office/drawing/2014/main" id="{3A31F804-4041-49BC-BCD3-1760650E91D7}"/>
              </a:ext>
            </a:extLst>
          </p:cNvPr>
          <p:cNvSpPr>
            <a:spLocks noGrp="1"/>
          </p:cNvSpPr>
          <p:nvPr>
            <p:ph idx="1"/>
          </p:nvPr>
        </p:nvSpPr>
        <p:spPr/>
        <p:txBody>
          <a:bodyPr/>
          <a:lstStyle/>
          <a:p>
            <a:r>
              <a:rPr lang="de-DE" dirty="0"/>
              <a:t>Das </a:t>
            </a:r>
            <a:r>
              <a:rPr kumimoji="0" lang="de-DE" altLang="de-DE" sz="2800" b="0" i="0" u="none" strike="noStrike" cap="none" normalizeH="0" baseline="0" dirty="0" err="1">
                <a:ln>
                  <a:noFill/>
                </a:ln>
                <a:solidFill>
                  <a:srgbClr val="CC7E47"/>
                </a:solidFill>
                <a:effectLst/>
                <a:latin typeface="Roboto Mono" panose="00000009000000000000" pitchFamily="50" charset="0"/>
              </a:rPr>
              <a:t>return</a:t>
            </a:r>
            <a:r>
              <a:rPr lang="de-DE" dirty="0" err="1"/>
              <a:t>-</a:t>
            </a:r>
            <a:r>
              <a:rPr lang="de-DE" dirty="0" err="1">
                <a:solidFill>
                  <a:srgbClr val="FFCCFF"/>
                </a:solidFill>
              </a:rPr>
              <a:t>Schlüssenwort</a:t>
            </a:r>
            <a:r>
              <a:rPr lang="de-DE" dirty="0"/>
              <a:t> beendet eine Methode und kehrt zum Aufruf zurück.</a:t>
            </a:r>
          </a:p>
          <a:p>
            <a:r>
              <a:rPr lang="de-DE" dirty="0"/>
              <a:t>Das Ergebnis steht rechts von </a:t>
            </a:r>
            <a:r>
              <a:rPr kumimoji="0" lang="de-DE" altLang="de-DE" sz="2800" b="0" i="0" u="none" strike="noStrike" cap="none" normalizeH="0" baseline="0" dirty="0" err="1">
                <a:ln>
                  <a:noFill/>
                </a:ln>
                <a:solidFill>
                  <a:srgbClr val="CC7E47"/>
                </a:solidFill>
                <a:effectLst/>
                <a:latin typeface="Roboto Mono" panose="00000009000000000000" pitchFamily="50" charset="0"/>
              </a:rPr>
              <a:t>return</a:t>
            </a:r>
            <a:r>
              <a:rPr lang="de-DE" dirty="0"/>
              <a:t>.</a:t>
            </a:r>
          </a:p>
          <a:p>
            <a:pPr lvl="1"/>
            <a:r>
              <a:rPr lang="de-DE" dirty="0"/>
              <a:t>Methoden mit dem Rückgabetypen </a:t>
            </a:r>
            <a:r>
              <a:rPr kumimoji="0" lang="de-DE" altLang="de-DE" b="0" i="0" u="none" strike="noStrike" cap="none" normalizeH="0" baseline="0" dirty="0" err="1">
                <a:ln>
                  <a:noFill/>
                </a:ln>
                <a:solidFill>
                  <a:srgbClr val="CC7E47"/>
                </a:solidFill>
                <a:effectLst/>
                <a:latin typeface="Roboto Mono" panose="00000009000000000000" pitchFamily="50" charset="0"/>
              </a:rPr>
              <a:t>void</a:t>
            </a:r>
            <a:r>
              <a:rPr lang="de-DE" dirty="0"/>
              <a:t> liefern kein Ergebnis.</a:t>
            </a:r>
            <a:br>
              <a:rPr lang="de-DE" dirty="0"/>
            </a:br>
            <a:r>
              <a:rPr lang="de-DE" dirty="0"/>
              <a:t>Sie führen nur Befehle aus.</a:t>
            </a:r>
          </a:p>
        </p:txBody>
      </p:sp>
      <p:pic>
        <p:nvPicPr>
          <p:cNvPr id="4" name="Graphic 3" descr="Books with solid fill">
            <a:extLst>
              <a:ext uri="{FF2B5EF4-FFF2-40B4-BE49-F238E27FC236}">
                <a16:creationId xmlns:a16="http://schemas.microsoft.com/office/drawing/2014/main" id="{F4E2B7CA-E45E-49B8-A79F-08F15F7CB07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9276438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02D7-47D7-4E80-A13E-26472FA58639}"/>
              </a:ext>
            </a:extLst>
          </p:cNvPr>
          <p:cNvSpPr>
            <a:spLocks noGrp="1"/>
          </p:cNvSpPr>
          <p:nvPr>
            <p:ph type="title"/>
          </p:nvPr>
        </p:nvSpPr>
        <p:spPr/>
        <p:txBody>
          <a:bodyPr/>
          <a:lstStyle/>
          <a:p>
            <a:r>
              <a:rPr lang="de-DE" dirty="0"/>
              <a:t>Methoden in Aktion</a:t>
            </a:r>
          </a:p>
        </p:txBody>
      </p:sp>
      <p:sp>
        <p:nvSpPr>
          <p:cNvPr id="3" name="Content Placeholder 2">
            <a:extLst>
              <a:ext uri="{FF2B5EF4-FFF2-40B4-BE49-F238E27FC236}">
                <a16:creationId xmlns:a16="http://schemas.microsoft.com/office/drawing/2014/main" id="{591F119D-D456-4212-A884-EA68791BDA1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a:ln>
                  <a:noFill/>
                </a:ln>
                <a:solidFill>
                  <a:srgbClr val="D6AF72"/>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1" u="none" strike="noStrike" cap="none" normalizeH="0" baseline="0" dirty="0">
                <a:ln>
                  <a:noFill/>
                </a:ln>
                <a:solidFill>
                  <a:srgbClr val="AA7876"/>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1" u="none" strike="noStrike" cap="none" normalizeH="0" baseline="0" dirty="0">
                <a:ln>
                  <a:noFill/>
                </a:ln>
                <a:solidFill>
                  <a:srgbClr val="AA7876"/>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"Was ist dein Lieblingswort?"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"Ich mag das Wort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 auch,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4EC6F7A9-F42A-4E66-AC6B-DECA94A029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656831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90C5EF-BC9B-468E-AE41-F52EE5664AD3}"/>
              </a:ext>
            </a:extLst>
          </p:cNvPr>
          <p:cNvSpPr>
            <a:spLocks noGrp="1"/>
          </p:cNvSpPr>
          <p:nvPr>
            <p:ph type="title"/>
          </p:nvPr>
        </p:nvSpPr>
        <p:spPr/>
        <p:txBody>
          <a:bodyPr/>
          <a:lstStyle/>
          <a:p>
            <a:r>
              <a:rPr lang="de-DE" dirty="0"/>
              <a:t>Methoden vs. Funktionen</a:t>
            </a:r>
          </a:p>
        </p:txBody>
      </p:sp>
      <p:sp>
        <p:nvSpPr>
          <p:cNvPr id="3" name="Inhaltsplatzhalter 2">
            <a:extLst>
              <a:ext uri="{FF2B5EF4-FFF2-40B4-BE49-F238E27FC236}">
                <a16:creationId xmlns:a16="http://schemas.microsoft.com/office/drawing/2014/main" id="{D5184F21-CAF3-4D62-8853-14EF7E95CCCF}"/>
              </a:ext>
            </a:extLst>
          </p:cNvPr>
          <p:cNvSpPr>
            <a:spLocks noGrp="1"/>
          </p:cNvSpPr>
          <p:nvPr>
            <p:ph idx="1"/>
          </p:nvPr>
        </p:nvSpPr>
        <p:spPr/>
        <p:txBody>
          <a:bodyPr/>
          <a:lstStyle/>
          <a:p>
            <a:r>
              <a:rPr lang="de-DE" dirty="0"/>
              <a:t>In Java bedeuten die Begriffe das gleiche.</a:t>
            </a:r>
          </a:p>
          <a:p>
            <a:r>
              <a:rPr lang="de-DE" dirty="0"/>
              <a:t>In einigen anderen Sprachen:</a:t>
            </a:r>
          </a:p>
          <a:p>
            <a:pPr lvl="1"/>
            <a:r>
              <a:rPr lang="de-DE" dirty="0"/>
              <a:t>Methoden führen Befehle aus, die den </a:t>
            </a:r>
            <a:r>
              <a:rPr lang="de-DE" dirty="0">
                <a:solidFill>
                  <a:srgbClr val="FFCCFF"/>
                </a:solidFill>
              </a:rPr>
              <a:t>Zustand</a:t>
            </a:r>
            <a:r>
              <a:rPr lang="de-DE" dirty="0"/>
              <a:t> des Programms verändern.</a:t>
            </a:r>
          </a:p>
          <a:p>
            <a:pPr lvl="1"/>
            <a:r>
              <a:rPr lang="de-DE" dirty="0"/>
              <a:t>Funktionen dienen ausschließlich dazu, Ergebnisse zu liefern.</a:t>
            </a:r>
          </a:p>
          <a:p>
            <a:endParaRPr lang="de-DE" dirty="0"/>
          </a:p>
        </p:txBody>
      </p:sp>
      <p:pic>
        <p:nvPicPr>
          <p:cNvPr id="4" name="Graphic 3" descr="Lightbulb with solid fill">
            <a:extLst>
              <a:ext uri="{FF2B5EF4-FFF2-40B4-BE49-F238E27FC236}">
                <a16:creationId xmlns:a16="http://schemas.microsoft.com/office/drawing/2014/main" id="{5E75472D-6A43-47BF-986B-64C411BDC47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37701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Methoden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114978992"/>
              </p:ext>
            </p:extLst>
          </p:nvPr>
        </p:nvGraphicFramePr>
        <p:xfrm>
          <a:off x="838200" y="1690688"/>
          <a:ext cx="10515600" cy="4510089"/>
        </p:xfrm>
        <a:graphic>
          <a:graphicData uri="http://schemas.openxmlformats.org/drawingml/2006/table">
            <a:tbl>
              <a:tblPr firstRow="1" bandRow="1">
                <a:tableStyleId>{5C22544A-7EE6-4342-B048-85BDC9FD1C3A}</a:tableStyleId>
              </a:tblPr>
              <a:tblGrid>
                <a:gridCol w="5044440">
                  <a:extLst>
                    <a:ext uri="{9D8B030D-6E8A-4147-A177-3AD203B41FA5}">
                      <a16:colId xmlns:a16="http://schemas.microsoft.com/office/drawing/2014/main" val="2317810761"/>
                    </a:ext>
                  </a:extLst>
                </a:gridCol>
                <a:gridCol w="5471160">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latin typeface="IBM Plex Sans" panose="020B0503050203000203" pitchFamily="34" charset="0"/>
                        </a:rPr>
                        <a:t>Methodenkopf / Methodensignatur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3416644"/>
                  </a:ext>
                </a:extLst>
              </a:tr>
              <a:tr h="436563">
                <a:tc>
                  <a:txBody>
                    <a:bodyPr/>
                    <a:lstStyle/>
                    <a:p>
                      <a:r>
                        <a:rPr lang="de-DE" b="0" u="none" dirty="0">
                          <a:solidFill>
                            <a:schemeClr val="tx1"/>
                          </a:solidFill>
                          <a:latin typeface="IBM Plex Sans" panose="020B0503050203000203" pitchFamily="34" charset="0"/>
                        </a:rPr>
                        <a:t>Methodenrumpf</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88591350"/>
                  </a:ext>
                </a:extLst>
              </a:tr>
              <a:tr h="436563">
                <a:tc>
                  <a:txBody>
                    <a:bodyPr/>
                    <a:lstStyle/>
                    <a:p>
                      <a:r>
                        <a:rPr lang="de-DE" b="0" u="none" dirty="0">
                          <a:solidFill>
                            <a:schemeClr val="tx1"/>
                          </a:solidFill>
                          <a:latin typeface="IBM Plex Sans" panose="020B0503050203000203" pitchFamily="34" charset="0"/>
                        </a:rPr>
                        <a:t>Methode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Methodensignatur angeben. Normalerweise wird die Methode auch gleich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245324"/>
                  </a:ext>
                </a:extLst>
              </a:tr>
              <a:tr h="436563">
                <a:tc>
                  <a:txBody>
                    <a:bodyPr/>
                    <a:lstStyle/>
                    <a:p>
                      <a:r>
                        <a:rPr lang="de-DE" b="0" u="none" dirty="0">
                          <a:solidFill>
                            <a:schemeClr val="tx1"/>
                          </a:solidFill>
                          <a:latin typeface="IBM Plex Sans" panose="020B0503050203000203" pitchFamily="34" charset="0"/>
                        </a:rPr>
                        <a:t>Methode definieren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selbst schreiben. Wir legen die Befehle fest, die die Methode ausführen soll.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Methode aufrufen / ausführen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verwenden. In den Klammern legen wir die Parameter für die Methode fest.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latin typeface="IBM Plex Sans" panose="020B0503050203000203" pitchFamily="34" charset="0"/>
                        </a:rPr>
                        <a:t>Methoden 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in </a:t>
                      </a:r>
                      <a:r>
                        <a:rPr lang="de-DE" u="none" dirty="0">
                          <a:solidFill>
                            <a:schemeClr val="tx1"/>
                          </a:solidFill>
                          <a:latin typeface="IBM Plex Sans" panose="020B0503050203000203" pitchFamily="34" charset="0"/>
                          <a:hlinkClick r:id="rId2" action="ppaction://hlinksldjump"/>
                        </a:rPr>
                        <a:t>Unterklassen</a:t>
                      </a:r>
                      <a:r>
                        <a:rPr lang="de-DE" u="none" dirty="0">
                          <a:solidFill>
                            <a:schemeClr val="tx1"/>
                          </a:solidFill>
                          <a:latin typeface="IBM Plex Sans" panose="020B0503050203000203" pitchFamily="34" charset="0"/>
                        </a:rPr>
                        <a:t> neu definieren, um das Verhalten zu bestimmen / verändern.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Methoden überladen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Mehrere Methoden mit dem gleichen Namen, aber unterschiedlichen Parametertypen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19219592"/>
                  </a:ext>
                </a:extLst>
              </a:tr>
            </a:tbl>
          </a:graphicData>
        </a:graphic>
      </p:graphicFrame>
      <p:pic>
        <p:nvPicPr>
          <p:cNvPr id="5" name="Graphic 4" descr="Books with solid fill">
            <a:extLst>
              <a:ext uri="{FF2B5EF4-FFF2-40B4-BE49-F238E27FC236}">
                <a16:creationId xmlns:a16="http://schemas.microsoft.com/office/drawing/2014/main" id="{4A5E7F6C-53EC-46B0-865E-0EA91C2EE3E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524946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3828096448"/>
              </p:ext>
            </p:extLst>
          </p:nvPr>
        </p:nvGraphicFramePr>
        <p:xfrm>
          <a:off x="838200" y="1690688"/>
          <a:ext cx="10515600" cy="199104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45641757"/>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err="1">
                          <a:solidFill>
                            <a:schemeClr val="tx1"/>
                          </a:solidFill>
                          <a:latin typeface="IBM Plex Sans" panose="020B0503050203000203" pitchFamily="34" charset="0"/>
                        </a:rPr>
                        <a:t>Instanzmethode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die auf einem Objekt ausgeführt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a:t>
                      </a:r>
                      <a:r>
                        <a:rPr lang="de-DE" u="none" dirty="0" err="1">
                          <a:solidFill>
                            <a:schemeClr val="tx1"/>
                          </a:solidFill>
                          <a:latin typeface="IBM Plex Sans" panose="020B0503050203000203" pitchFamily="34" charset="0"/>
                        </a:rPr>
                        <a:t>nextLine</a:t>
                      </a:r>
                      <a:r>
                        <a:rPr lang="de-DE" u="none" dirty="0">
                          <a:solidFill>
                            <a:schemeClr val="tx1"/>
                          </a:solidFill>
                        </a:rPr>
                        <a:t>“ der Klasse „Scanner“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Statische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die immer, unabhängig von Objekten, verwendet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„begrüßen“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bl>
          </a:graphicData>
        </a:graphic>
      </p:graphicFrame>
      <p:pic>
        <p:nvPicPr>
          <p:cNvPr id="5" name="Graphic 4" descr="Books with solid fill">
            <a:extLst>
              <a:ext uri="{FF2B5EF4-FFF2-40B4-BE49-F238E27FC236}">
                <a16:creationId xmlns:a16="http://schemas.microsoft.com/office/drawing/2014/main" id="{DD8ADB73-F6A4-4945-856A-0253757E540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45003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4C5D97-4287-4EC1-AA81-109925C70784}"/>
              </a:ext>
            </a:extLst>
          </p:cNvPr>
          <p:cNvSpPr>
            <a:spLocks noGrp="1"/>
          </p:cNvSpPr>
          <p:nvPr>
            <p:ph type="title"/>
          </p:nvPr>
        </p:nvSpPr>
        <p:spPr/>
        <p:txBody>
          <a:bodyPr/>
          <a:lstStyle/>
          <a:p>
            <a:r>
              <a:rPr lang="de-DE" dirty="0"/>
              <a:t>Nicht verwechseln: Deklaration und Aufruf</a:t>
            </a:r>
          </a:p>
        </p:txBody>
      </p:sp>
      <p:sp>
        <p:nvSpPr>
          <p:cNvPr id="3" name="Inhaltsplatzhalter 2">
            <a:extLst>
              <a:ext uri="{FF2B5EF4-FFF2-40B4-BE49-F238E27FC236}">
                <a16:creationId xmlns:a16="http://schemas.microsoft.com/office/drawing/2014/main" id="{13812FD8-9DBC-4664-A6D5-D6C4F437D9E6}"/>
              </a:ext>
            </a:extLst>
          </p:cNvPr>
          <p:cNvSpPr>
            <a:spLocks noGrp="1"/>
          </p:cNvSpPr>
          <p:nvPr>
            <p:ph idx="1"/>
          </p:nvPr>
        </p:nvSpPr>
        <p:spPr/>
        <p:txBody>
          <a:bodyPr/>
          <a:lstStyle/>
          <a:p>
            <a:r>
              <a:rPr lang="de-DE" dirty="0"/>
              <a:t>Bei der Deklaration wird die Methode definiert. Dabei entscheiden wir, was die Methode tut.</a:t>
            </a:r>
          </a:p>
          <a:p>
            <a:r>
              <a:rPr lang="de-DE" dirty="0"/>
              <a:t>Beim Aufruf einer</a:t>
            </a:r>
            <a:br>
              <a:rPr lang="de-DE" dirty="0"/>
            </a:br>
            <a:r>
              <a:rPr lang="de-DE" dirty="0"/>
              <a:t>Methode wird sie</a:t>
            </a:r>
            <a:br>
              <a:rPr lang="de-DE" dirty="0"/>
            </a:br>
            <a:r>
              <a:rPr lang="de-DE" dirty="0"/>
              <a:t>nur verwendet.</a:t>
            </a:r>
          </a:p>
        </p:txBody>
      </p:sp>
      <p:pic>
        <p:nvPicPr>
          <p:cNvPr id="9" name="Grafik 8">
            <a:extLst>
              <a:ext uri="{FF2B5EF4-FFF2-40B4-BE49-F238E27FC236}">
                <a16:creationId xmlns:a16="http://schemas.microsoft.com/office/drawing/2014/main" id="{9D82E79D-995F-4C91-8181-A097F1B85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4850" y="2672880"/>
            <a:ext cx="7677150" cy="4201897"/>
          </a:xfrm>
          <a:prstGeom prst="rect">
            <a:avLst/>
          </a:prstGeom>
        </p:spPr>
      </p:pic>
      <p:sp>
        <p:nvSpPr>
          <p:cNvPr id="12" name="Textfeld 11">
            <a:extLst>
              <a:ext uri="{FF2B5EF4-FFF2-40B4-BE49-F238E27FC236}">
                <a16:creationId xmlns:a16="http://schemas.microsoft.com/office/drawing/2014/main" id="{68DE21DD-7216-48DF-B253-E82E7A165775}"/>
              </a:ext>
            </a:extLst>
          </p:cNvPr>
          <p:cNvSpPr txBox="1"/>
          <p:nvPr/>
        </p:nvSpPr>
        <p:spPr>
          <a:xfrm>
            <a:off x="6763290" y="6341204"/>
            <a:ext cx="5721438" cy="369332"/>
          </a:xfrm>
          <a:prstGeom prst="rect">
            <a:avLst/>
          </a:prstGeom>
          <a:noFill/>
        </p:spPr>
        <p:txBody>
          <a:bodyPr wrap="none" rtlCol="0">
            <a:spAutoFit/>
          </a:bodyPr>
          <a:lstStyle/>
          <a:p>
            <a:r>
              <a:rPr lang="de-DE" dirty="0">
                <a:solidFill>
                  <a:schemeClr val="bg1"/>
                </a:solidFill>
                <a:latin typeface="IBM Plex Sans" panose="020B0503050203000203" pitchFamily="34" charset="0"/>
              </a:rPr>
              <a:t>Ablauf eines Methodenaufrufs. Quelle: programiz.com</a:t>
            </a:r>
          </a:p>
        </p:txBody>
      </p:sp>
      <p:pic>
        <p:nvPicPr>
          <p:cNvPr id="6" name="Graphic 5" descr="Lightbulb with solid fill">
            <a:extLst>
              <a:ext uri="{FF2B5EF4-FFF2-40B4-BE49-F238E27FC236}">
                <a16:creationId xmlns:a16="http://schemas.microsoft.com/office/drawing/2014/main" id="{6B6361A2-FE46-482B-8DEA-C290457FE38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205109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C87DB-AC44-4DAC-902F-D3A5AFBA1DCC}"/>
              </a:ext>
            </a:extLst>
          </p:cNvPr>
          <p:cNvSpPr>
            <a:spLocks noGrp="1"/>
          </p:cNvSpPr>
          <p:nvPr>
            <p:ph type="title"/>
          </p:nvPr>
        </p:nvSpPr>
        <p:spPr/>
        <p:txBody>
          <a:bodyPr/>
          <a:lstStyle/>
          <a:p>
            <a:r>
              <a:rPr lang="de-DE" dirty="0"/>
              <a:t>Klassen</a:t>
            </a:r>
          </a:p>
        </p:txBody>
      </p:sp>
      <p:sp>
        <p:nvSpPr>
          <p:cNvPr id="3" name="Content Placeholder 2">
            <a:extLst>
              <a:ext uri="{FF2B5EF4-FFF2-40B4-BE49-F238E27FC236}">
                <a16:creationId xmlns:a16="http://schemas.microsoft.com/office/drawing/2014/main" id="{4A0C900C-728F-4BA6-8CD1-F68CA1AF20EE}"/>
              </a:ext>
            </a:extLst>
          </p:cNvPr>
          <p:cNvSpPr>
            <a:spLocks noGrp="1"/>
          </p:cNvSpPr>
          <p:nvPr>
            <p:ph idx="1"/>
          </p:nvPr>
        </p:nvSpPr>
        <p:spPr/>
        <p:txBody>
          <a:bodyPr>
            <a:normAutofit lnSpcReduction="10000"/>
          </a:bodyPr>
          <a:lstStyle/>
          <a:p>
            <a:r>
              <a:rPr lang="de-DE" dirty="0"/>
              <a:t>Jedes Objekt hat einen </a:t>
            </a:r>
            <a:r>
              <a:rPr lang="de-DE" dirty="0">
                <a:solidFill>
                  <a:srgbClr val="FFCCFF"/>
                </a:solidFill>
              </a:rPr>
              <a:t>Typen</a:t>
            </a:r>
            <a:r>
              <a:rPr lang="de-DE" dirty="0"/>
              <a:t>. Dieser wird durch Klassen definiert.</a:t>
            </a:r>
          </a:p>
          <a:p>
            <a:r>
              <a:rPr lang="de-DE" dirty="0"/>
              <a:t>Klassen sind </a:t>
            </a:r>
            <a:r>
              <a:rPr lang="de-DE" dirty="0">
                <a:solidFill>
                  <a:srgbClr val="FFCCFF"/>
                </a:solidFill>
              </a:rPr>
              <a:t>autonom</a:t>
            </a:r>
            <a:r>
              <a:rPr lang="de-DE" dirty="0"/>
              <a:t>. Sie definieren und </a:t>
            </a:r>
            <a:r>
              <a:rPr lang="de-DE" dirty="0">
                <a:solidFill>
                  <a:srgbClr val="FFCCFF"/>
                </a:solidFill>
              </a:rPr>
              <a:t>verkapseln</a:t>
            </a:r>
            <a:r>
              <a:rPr lang="de-DE" dirty="0"/>
              <a:t>:</a:t>
            </a:r>
          </a:p>
          <a:p>
            <a:pPr lvl="1"/>
            <a:r>
              <a:rPr lang="de-DE" dirty="0"/>
              <a:t>Den Zustand ihrer Objekte durch darin gespeicherte Variablen.</a:t>
            </a:r>
          </a:p>
          <a:p>
            <a:pPr lvl="2"/>
            <a:r>
              <a:rPr lang="de-DE" dirty="0"/>
              <a:t>Wir nennen sie „Attribute“.</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String</a:t>
            </a:r>
            <a:r>
              <a:rPr lang="de-DE" dirty="0"/>
              <a:t> speichert mehrere Zeichen (</a:t>
            </a:r>
            <a:r>
              <a:rPr kumimoji="0" lang="de-DE" altLang="de-DE" sz="2000" b="0" i="0" u="none" strike="noStrike" cap="none" normalizeH="0" baseline="0" dirty="0" err="1">
                <a:ln>
                  <a:noFill/>
                </a:ln>
                <a:solidFill>
                  <a:srgbClr val="CC7E47"/>
                </a:solidFill>
                <a:effectLst/>
                <a:latin typeface="Roboto Mono" panose="00000009000000000000" pitchFamily="50" charset="0"/>
              </a:rPr>
              <a:t>char</a:t>
            </a:r>
            <a:r>
              <a:rPr lang="de-DE" dirty="0" err="1"/>
              <a:t>s</a:t>
            </a:r>
            <a:r>
              <a:rPr lang="de-DE" dirty="0"/>
              <a:t>).</a:t>
            </a:r>
          </a:p>
          <a:p>
            <a:pPr lvl="2"/>
            <a:r>
              <a:rPr lang="de-DE" dirty="0"/>
              <a:t>Arrays speichern mehrere Werte oder Referenzen.</a:t>
            </a:r>
          </a:p>
          <a:p>
            <a:pPr lvl="1"/>
            <a:r>
              <a:rPr lang="de-DE" dirty="0"/>
              <a:t>Methoden, die ihr Verhalten beschreiben.</a:t>
            </a:r>
          </a:p>
          <a:p>
            <a:pPr lvl="2"/>
            <a:r>
              <a:rPr lang="de-DE" dirty="0"/>
              <a:t>Wir nennen sie „</a:t>
            </a:r>
            <a:r>
              <a:rPr lang="de-DE" dirty="0" err="1"/>
              <a:t>Instanzmethoden</a:t>
            </a:r>
            <a:r>
              <a:rPr lang="de-DE" dirty="0"/>
              <a:t>“</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Scanner</a:t>
            </a:r>
            <a:r>
              <a:rPr lang="de-DE" dirty="0"/>
              <a:t> definiert die Methode </a:t>
            </a:r>
            <a:r>
              <a:rPr kumimoji="0" lang="de-DE" altLang="de-DE" sz="2000" b="0" i="0" u="none" strike="noStrike" cap="none" normalizeH="0" baseline="0" dirty="0" err="1">
                <a:ln>
                  <a:noFill/>
                </a:ln>
                <a:solidFill>
                  <a:srgbClr val="CC7E47"/>
                </a:solidFill>
                <a:effectLst/>
                <a:latin typeface="Roboto Mono" panose="00000009000000000000" pitchFamily="50" charset="0"/>
              </a:rPr>
              <a:t>public</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a:ln>
                  <a:noFill/>
                </a:ln>
                <a:solidFill>
                  <a:srgbClr val="5FB1DA"/>
                </a:solidFill>
                <a:effectLst/>
                <a:latin typeface="Roboto Mono" panose="00000009000000000000" pitchFamily="50" charset="0"/>
              </a:rPr>
              <a:t>String </a:t>
            </a:r>
            <a:r>
              <a:rPr kumimoji="0" lang="de-DE" altLang="de-DE" sz="2000" b="0" i="0" u="none" strike="noStrike" cap="none" normalizeH="0" baseline="0" dirty="0" err="1">
                <a:ln>
                  <a:noFill/>
                </a:ln>
                <a:solidFill>
                  <a:srgbClr val="D6AF72"/>
                </a:solidFill>
                <a:effectLst/>
                <a:latin typeface="Roboto Mono" panose="00000009000000000000" pitchFamily="50" charset="0"/>
              </a:rPr>
              <a:t>nextLine</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lang="de-DE" dirty="0"/>
              <a:t>. So können Scanner die nächste Zeile lesen.</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Random</a:t>
            </a:r>
            <a:r>
              <a:rPr lang="de-DE" dirty="0"/>
              <a:t> definiert die Methode </a:t>
            </a:r>
            <a:r>
              <a:rPr kumimoji="0" lang="de-DE" altLang="de-DE" sz="2000" b="0" i="0" u="none" strike="noStrike" cap="none" normalizeH="0" baseline="0" dirty="0" err="1">
                <a:ln>
                  <a:noFill/>
                </a:ln>
                <a:solidFill>
                  <a:srgbClr val="CC7E47"/>
                </a:solidFill>
                <a:effectLst/>
                <a:latin typeface="Roboto Mono" panose="00000009000000000000" pitchFamily="50" charset="0"/>
              </a:rPr>
              <a:t>public</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CC7E47"/>
                </a:solidFill>
                <a:effectLst/>
                <a:latin typeface="Roboto Mono" panose="00000009000000000000" pitchFamily="50" charset="0"/>
              </a:rPr>
              <a:t>int</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D6AF72"/>
                </a:solidFill>
                <a:effectLst/>
                <a:latin typeface="Roboto Mono" panose="00000009000000000000" pitchFamily="50" charset="0"/>
              </a:rPr>
              <a:t>nextInt</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kumimoji="0" lang="de-DE" altLang="de-DE" sz="2000" b="0" i="0" u="none" strike="noStrike" cap="none" normalizeH="0" baseline="0" dirty="0" err="1">
                <a:ln>
                  <a:noFill/>
                </a:ln>
                <a:solidFill>
                  <a:srgbClr val="CC7E47"/>
                </a:solidFill>
                <a:effectLst/>
                <a:latin typeface="Roboto Mono" panose="00000009000000000000" pitchFamily="50" charset="0"/>
              </a:rPr>
              <a:t>int</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A9B7C6"/>
                </a:solidFill>
                <a:effectLst/>
                <a:latin typeface="Roboto Mono" panose="00000009000000000000" pitchFamily="50" charset="0"/>
              </a:rPr>
              <a:t>bound</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lang="de-DE" dirty="0"/>
              <a:t>, um eine ganze Zufallszahl aus dem Intervall [</a:t>
            </a:r>
            <a:r>
              <a:rPr kumimoji="0" lang="de-DE" altLang="de-DE" sz="2000" b="0" i="0" u="none" strike="noStrike" cap="none" normalizeH="0" baseline="0" dirty="0">
                <a:ln>
                  <a:noFill/>
                </a:ln>
                <a:solidFill>
                  <a:srgbClr val="6897BB"/>
                </a:solidFill>
                <a:effectLst/>
                <a:latin typeface="Roboto Mono" panose="00000009000000000000" pitchFamily="50" charset="0"/>
              </a:rPr>
              <a:t>0</a:t>
            </a:r>
            <a:r>
              <a:rPr lang="de-DE" dirty="0"/>
              <a:t>,</a:t>
            </a:r>
            <a:r>
              <a:rPr kumimoji="0" lang="de-DE" altLang="de-DE" sz="2000" b="0" i="0" u="none" strike="noStrike" cap="none" normalizeH="0" baseline="0" dirty="0">
                <a:ln>
                  <a:noFill/>
                </a:ln>
                <a:solidFill>
                  <a:srgbClr val="6897BB"/>
                </a:solidFill>
                <a:effectLst/>
                <a:latin typeface="Roboto Mono" panose="00000009000000000000" pitchFamily="50" charset="0"/>
              </a:rPr>
              <a:t> </a:t>
            </a:r>
            <a:r>
              <a:rPr kumimoji="0" lang="de-DE" altLang="de-DE" sz="2000" b="0" i="0" u="none" strike="noStrike" cap="none" normalizeH="0" baseline="0" dirty="0" err="1">
                <a:ln>
                  <a:noFill/>
                </a:ln>
                <a:solidFill>
                  <a:srgbClr val="A9B7C6"/>
                </a:solidFill>
                <a:effectLst/>
                <a:latin typeface="Roboto Mono" panose="00000009000000000000" pitchFamily="50" charset="0"/>
              </a:rPr>
              <a:t>bound</a:t>
            </a:r>
            <a:r>
              <a:rPr lang="de-DE" dirty="0"/>
              <a:t>) zu erzeugen.</a:t>
            </a:r>
          </a:p>
        </p:txBody>
      </p:sp>
      <p:pic>
        <p:nvPicPr>
          <p:cNvPr id="4" name="Graphic 3" descr="Books with solid fill">
            <a:extLst>
              <a:ext uri="{FF2B5EF4-FFF2-40B4-BE49-F238E27FC236}">
                <a16:creationId xmlns:a16="http://schemas.microsoft.com/office/drawing/2014/main" id="{1ABC2B64-AE67-4743-A047-9E408304AE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902706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1C25B-BEC4-4795-A328-00614D34945D}"/>
              </a:ext>
            </a:extLst>
          </p:cNvPr>
          <p:cNvSpPr>
            <a:spLocks noGrp="1"/>
          </p:cNvSpPr>
          <p:nvPr>
            <p:ph type="title"/>
          </p:nvPr>
        </p:nvSpPr>
        <p:spPr/>
        <p:txBody>
          <a:bodyPr/>
          <a:lstStyle/>
          <a:p>
            <a:r>
              <a:rPr lang="de-DE" dirty="0"/>
              <a:t>Abstraktion</a:t>
            </a:r>
          </a:p>
        </p:txBody>
      </p:sp>
      <p:sp>
        <p:nvSpPr>
          <p:cNvPr id="3" name="Content Placeholder 2">
            <a:extLst>
              <a:ext uri="{FF2B5EF4-FFF2-40B4-BE49-F238E27FC236}">
                <a16:creationId xmlns:a16="http://schemas.microsoft.com/office/drawing/2014/main" id="{FCD666C0-C4F8-41EF-B468-AA6A0CCC6A94}"/>
              </a:ext>
            </a:extLst>
          </p:cNvPr>
          <p:cNvSpPr>
            <a:spLocks noGrp="1"/>
          </p:cNvSpPr>
          <p:nvPr>
            <p:ph idx="1"/>
          </p:nvPr>
        </p:nvSpPr>
        <p:spPr/>
        <p:txBody>
          <a:bodyPr/>
          <a:lstStyle/>
          <a:p>
            <a:r>
              <a:rPr lang="de-DE" dirty="0"/>
              <a:t>Das Verhalten großer Programme kann kompliziert sein.</a:t>
            </a:r>
          </a:p>
          <a:p>
            <a:r>
              <a:rPr lang="de-DE" dirty="0"/>
              <a:t>Wir möchten, dass man es Stück für Stück verstehen kann.</a:t>
            </a:r>
          </a:p>
          <a:p>
            <a:r>
              <a:rPr lang="de-DE" dirty="0"/>
              <a:t>Dafür gibt es Features in Java:</a:t>
            </a:r>
          </a:p>
          <a:p>
            <a:pPr lvl="1"/>
            <a:r>
              <a:rPr lang="de-DE" dirty="0"/>
              <a:t>Methoden abstrahieren über ihre Ausführung. Bei der Anwendung sehen wir nur den Methodenaufruf, aber nicht das, was die Methode tut.</a:t>
            </a:r>
          </a:p>
          <a:p>
            <a:pPr lvl="1"/>
            <a:r>
              <a:rPr lang="de-DE" dirty="0"/>
              <a:t>Klassen abstrahieren über die gespeicherten Daten und die Funktionalität ihrer Objekte. Wir können Objekte verwenden, ohne zu verstehen, wie sie </a:t>
            </a:r>
            <a:r>
              <a:rPr lang="de-DE" dirty="0">
                <a:solidFill>
                  <a:srgbClr val="FFCCFF"/>
                </a:solidFill>
              </a:rPr>
              <a:t>implementiert</a:t>
            </a:r>
            <a:r>
              <a:rPr lang="de-DE" dirty="0"/>
              <a:t> wurden.</a:t>
            </a:r>
          </a:p>
          <a:p>
            <a:pPr lvl="1"/>
            <a:r>
              <a:rPr lang="de-DE" dirty="0">
                <a:hlinkClick r:id="rId2" action="ppaction://hlinksldjump"/>
              </a:rPr>
              <a:t>Mit Hilfe von Vererbung</a:t>
            </a:r>
            <a:r>
              <a:rPr lang="de-DE" dirty="0"/>
              <a:t> können wir angeben, was ein Objekt einer Klasse wissen und können soll, ohne festzulegen, wie es dies erreicht.</a:t>
            </a:r>
          </a:p>
        </p:txBody>
      </p:sp>
    </p:spTree>
    <p:extLst>
      <p:ext uri="{BB962C8B-B14F-4D97-AF65-F5344CB8AC3E}">
        <p14:creationId xmlns:p14="http://schemas.microsoft.com/office/powerpoint/2010/main" val="3597490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85924D5-FB9F-4D94-A798-D2B57CE5874D}"/>
              </a:ext>
            </a:extLst>
          </p:cNvPr>
          <p:cNvSpPr>
            <a:spLocks noGrp="1"/>
          </p:cNvSpPr>
          <p:nvPr>
            <p:ph type="title"/>
          </p:nvPr>
        </p:nvSpPr>
        <p:spPr/>
        <p:txBody>
          <a:bodyPr/>
          <a:lstStyle/>
          <a:p>
            <a:r>
              <a:rPr lang="de-DE" dirty="0"/>
              <a:t>Programmier-Paradigmen</a:t>
            </a:r>
          </a:p>
        </p:txBody>
      </p:sp>
      <p:sp>
        <p:nvSpPr>
          <p:cNvPr id="3" name="Inhaltsplatzhalter 2">
            <a:extLst>
              <a:ext uri="{FF2B5EF4-FFF2-40B4-BE49-F238E27FC236}">
                <a16:creationId xmlns:a16="http://schemas.microsoft.com/office/drawing/2014/main" id="{8C9ADBE1-6562-4551-A320-932959270CBC}"/>
              </a:ext>
            </a:extLst>
          </p:cNvPr>
          <p:cNvSpPr>
            <a:spLocks noGrp="1"/>
          </p:cNvSpPr>
          <p:nvPr>
            <p:ph idx="1"/>
          </p:nvPr>
        </p:nvSpPr>
        <p:spPr/>
        <p:txBody>
          <a:bodyPr>
            <a:normAutofit fontScale="92500" lnSpcReduction="10000"/>
          </a:bodyPr>
          <a:lstStyle/>
          <a:p>
            <a:pPr>
              <a:buFont typeface="Wingdings" panose="05000000000000000000" pitchFamily="2" charset="2"/>
              <a:buChar char="ü"/>
            </a:pPr>
            <a:r>
              <a:rPr lang="de-DE" dirty="0"/>
              <a:t> </a:t>
            </a:r>
            <a:r>
              <a:rPr lang="de-DE" dirty="0">
                <a:solidFill>
                  <a:schemeClr val="accent2">
                    <a:lumMod val="75000"/>
                  </a:schemeClr>
                </a:solidFill>
              </a:rPr>
              <a:t>Imperativ</a:t>
            </a:r>
            <a:r>
              <a:rPr lang="de-DE" dirty="0"/>
              <a:t> (Programmieren durch </a:t>
            </a:r>
            <a:r>
              <a:rPr lang="de-DE" dirty="0">
                <a:hlinkClick r:id="rId2" action="ppaction://hlinksldjump"/>
              </a:rPr>
              <a:t>Befehle</a:t>
            </a:r>
            <a:r>
              <a:rPr lang="de-DE" dirty="0"/>
              <a:t>)</a:t>
            </a:r>
          </a:p>
          <a:p>
            <a:pPr lvl="1">
              <a:buFont typeface="Wingdings" panose="05000000000000000000" pitchFamily="2" charset="2"/>
              <a:buChar char="ü"/>
            </a:pPr>
            <a:r>
              <a:rPr lang="de-DE" dirty="0"/>
              <a:t> Strukturiert (</a:t>
            </a:r>
            <a:r>
              <a:rPr lang="de-DE" dirty="0">
                <a:hlinkClick r:id="rId3" action="ppaction://hlinksldjump"/>
              </a:rPr>
              <a:t>Kontrollstrukturen</a:t>
            </a:r>
            <a:r>
              <a:rPr lang="de-DE" dirty="0"/>
              <a:t> statt doppeltem Code oder Zeilensprung)</a:t>
            </a:r>
          </a:p>
          <a:p>
            <a:pPr lvl="1">
              <a:buFont typeface="Wingdings" panose="05000000000000000000" pitchFamily="2" charset="2"/>
              <a:buChar char="ü"/>
            </a:pPr>
            <a:r>
              <a:rPr lang="de-DE" dirty="0"/>
              <a:t> Prozedural (</a:t>
            </a:r>
            <a:r>
              <a:rPr lang="de-DE" dirty="0">
                <a:hlinkClick r:id="rId4" action="ppaction://hlinksldjump"/>
              </a:rPr>
              <a:t>Methoden</a:t>
            </a:r>
            <a:r>
              <a:rPr lang="de-DE" dirty="0"/>
              <a:t> statt doppeltem Code, Formeln)</a:t>
            </a:r>
          </a:p>
          <a:p>
            <a:pPr lvl="2">
              <a:buFont typeface="Wingdings" panose="05000000000000000000" pitchFamily="2" charset="2"/>
              <a:buChar char="ü"/>
            </a:pPr>
            <a:r>
              <a:rPr lang="de-DE" dirty="0"/>
              <a:t> Ereignisbasiert (Verhalten in allen Fällen definieren, z.B. </a:t>
            </a:r>
            <a:r>
              <a:rPr lang="de-DE" dirty="0" err="1"/>
              <a:t>libGDX</a:t>
            </a:r>
            <a:r>
              <a:rPr lang="de-DE" dirty="0"/>
              <a:t>-Lebenszyklus)</a:t>
            </a:r>
          </a:p>
          <a:p>
            <a:pPr lvl="2">
              <a:buFont typeface="Courier New" panose="02070309020205020404" pitchFamily="49" charset="0"/>
              <a:buChar char="o"/>
            </a:pPr>
            <a:r>
              <a:rPr lang="de-DE" dirty="0"/>
              <a:t> Ablauforientiert (Ablauf durch Benachrichtigungen anderer Prozesse)</a:t>
            </a:r>
          </a:p>
          <a:p>
            <a:r>
              <a:rPr lang="de-DE" dirty="0"/>
              <a:t> </a:t>
            </a:r>
            <a:r>
              <a:rPr lang="de-DE" dirty="0">
                <a:solidFill>
                  <a:srgbClr val="92D050"/>
                </a:solidFill>
              </a:rPr>
              <a:t>Deklarativ</a:t>
            </a:r>
            <a:r>
              <a:rPr lang="de-DE" dirty="0"/>
              <a:t> (Definition statt Befehl)</a:t>
            </a:r>
          </a:p>
          <a:p>
            <a:pPr lvl="1">
              <a:buFont typeface="Courier New" panose="02070309020205020404" pitchFamily="49" charset="0"/>
              <a:buChar char="o"/>
            </a:pPr>
            <a:r>
              <a:rPr lang="de-DE" dirty="0"/>
              <a:t> </a:t>
            </a:r>
            <a:r>
              <a:rPr lang="de-DE" dirty="0">
                <a:hlinkClick r:id="rId5" action="ppaction://hlinksldjump"/>
              </a:rPr>
              <a:t>Funktional</a:t>
            </a:r>
            <a:r>
              <a:rPr lang="de-DE" dirty="0"/>
              <a:t> (Alles hängt von Parametern ab)</a:t>
            </a:r>
          </a:p>
          <a:p>
            <a:pPr lvl="1">
              <a:buFont typeface="Wingdings" panose="05000000000000000000" pitchFamily="2" charset="2"/>
              <a:buChar char="§"/>
            </a:pPr>
            <a:r>
              <a:rPr lang="de-DE" dirty="0"/>
              <a:t> Logisch (Bedingungen statt Code)</a:t>
            </a:r>
          </a:p>
          <a:p>
            <a:pPr>
              <a:buFont typeface="Wingdings" panose="05000000000000000000" pitchFamily="2" charset="2"/>
              <a:buChar char="ü"/>
            </a:pPr>
            <a:r>
              <a:rPr lang="de-DE" dirty="0"/>
              <a:t> </a:t>
            </a:r>
            <a:r>
              <a:rPr lang="de-DE" dirty="0">
                <a:solidFill>
                  <a:srgbClr val="92D050"/>
                </a:solidFill>
              </a:rPr>
              <a:t>Objektorientiert</a:t>
            </a:r>
            <a:r>
              <a:rPr lang="de-DE" dirty="0"/>
              <a:t> (Zustand und Methoden in Klassen verkapselt)</a:t>
            </a:r>
          </a:p>
          <a:p>
            <a:pPr>
              <a:buFont typeface="Courier New" panose="02070309020205020404" pitchFamily="49" charset="0"/>
              <a:buChar char="o"/>
            </a:pPr>
            <a:r>
              <a:rPr lang="de-DE" dirty="0"/>
              <a:t> Generische Programmierung (Mehrere Datentypen möglich)</a:t>
            </a:r>
          </a:p>
          <a:p>
            <a:pPr>
              <a:buFont typeface="Wingdings" panose="05000000000000000000" pitchFamily="2" charset="2"/>
              <a:buChar char="ü"/>
            </a:pPr>
            <a:r>
              <a:rPr lang="de-DE" dirty="0"/>
              <a:t> </a:t>
            </a:r>
            <a:r>
              <a:rPr lang="de-DE" dirty="0">
                <a:solidFill>
                  <a:srgbClr val="7030A0"/>
                </a:solidFill>
              </a:rPr>
              <a:t>Reflektiv</a:t>
            </a:r>
            <a:r>
              <a:rPr lang="de-DE" dirty="0"/>
              <a:t> (Verändert den Programmcode zur Laufzeit)</a:t>
            </a:r>
          </a:p>
        </p:txBody>
      </p:sp>
    </p:spTree>
    <p:extLst>
      <p:ext uri="{BB962C8B-B14F-4D97-AF65-F5344CB8AC3E}">
        <p14:creationId xmlns:p14="http://schemas.microsoft.com/office/powerpoint/2010/main" val="7716292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9F2750-7CB3-4EC6-A1A7-C8B64818C011}"/>
              </a:ext>
            </a:extLst>
          </p:cNvPr>
          <p:cNvSpPr>
            <a:spLocks noGrp="1"/>
          </p:cNvSpPr>
          <p:nvPr>
            <p:ph type="title"/>
          </p:nvPr>
        </p:nvSpPr>
        <p:spPr/>
        <p:txBody>
          <a:bodyPr/>
          <a:lstStyle/>
          <a:p>
            <a:r>
              <a:rPr lang="de-DE" dirty="0"/>
              <a:t>Objektorientierung</a:t>
            </a:r>
          </a:p>
        </p:txBody>
      </p:sp>
      <p:sp>
        <p:nvSpPr>
          <p:cNvPr id="3" name="Inhaltsplatzhalter 2">
            <a:extLst>
              <a:ext uri="{FF2B5EF4-FFF2-40B4-BE49-F238E27FC236}">
                <a16:creationId xmlns:a16="http://schemas.microsoft.com/office/drawing/2014/main" id="{FA5D248E-4E06-4E0F-A16B-EE8CC6D94D05}"/>
              </a:ext>
            </a:extLst>
          </p:cNvPr>
          <p:cNvSpPr>
            <a:spLocks noGrp="1"/>
          </p:cNvSpPr>
          <p:nvPr>
            <p:ph idx="1"/>
          </p:nvPr>
        </p:nvSpPr>
        <p:spPr/>
        <p:txBody>
          <a:bodyPr>
            <a:normAutofit/>
          </a:bodyPr>
          <a:lstStyle/>
          <a:p>
            <a:r>
              <a:rPr lang="de-DE" dirty="0"/>
              <a:t>Ein Paradigma</a:t>
            </a:r>
            <a:endParaRPr lang="de-DE" dirty="0">
              <a:solidFill>
                <a:srgbClr val="FFCCFF"/>
              </a:solidFill>
            </a:endParaRPr>
          </a:p>
          <a:p>
            <a:r>
              <a:rPr lang="de-DE" dirty="0"/>
              <a:t>Modellierung logisch zusammengehöriger Eigenschaften durch Klassen</a:t>
            </a:r>
          </a:p>
          <a:p>
            <a:pPr lvl="1"/>
            <a:r>
              <a:rPr lang="de-DE" dirty="0"/>
              <a:t>Beispiel: Attribute Vorname, Nachname und Geburtsdatum in Klasse "Person", Methode zur Berechnung des Alters</a:t>
            </a:r>
          </a:p>
          <a:p>
            <a:r>
              <a:rPr lang="de-DE" dirty="0"/>
              <a:t>Die Programmlogik ergibt sich aus dem Zusammenspiel von Objekten</a:t>
            </a:r>
          </a:p>
          <a:p>
            <a:pPr lvl="1"/>
            <a:r>
              <a:rPr lang="de-DE" dirty="0"/>
              <a:t>Beispiel: Initialen ergeben sich aus Anfangsbuchstaben von Vorname und Nachname, die durch die Klasse "String" verwaltet werden.</a:t>
            </a:r>
          </a:p>
        </p:txBody>
      </p:sp>
      <p:pic>
        <p:nvPicPr>
          <p:cNvPr id="4" name="Graphic 3" descr="Books with solid fill">
            <a:extLst>
              <a:ext uri="{FF2B5EF4-FFF2-40B4-BE49-F238E27FC236}">
                <a16:creationId xmlns:a16="http://schemas.microsoft.com/office/drawing/2014/main" id="{819DC9D1-AA31-490B-A1E4-D6F4FF9961E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210810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F70B51-D9DC-4CE8-B598-7459B92359E4}"/>
              </a:ext>
            </a:extLst>
          </p:cNvPr>
          <p:cNvSpPr>
            <a:spLocks noGrp="1"/>
          </p:cNvSpPr>
          <p:nvPr>
            <p:ph type="title"/>
          </p:nvPr>
        </p:nvSpPr>
        <p:spPr/>
        <p:txBody>
          <a:bodyPr/>
          <a:lstStyle/>
          <a:p>
            <a:r>
              <a:rPr lang="de-DE" dirty="0"/>
              <a:t>Eigene Klassen erstellen</a:t>
            </a:r>
          </a:p>
        </p:txBody>
      </p:sp>
      <p:sp>
        <p:nvSpPr>
          <p:cNvPr id="3" name="Inhaltsplatzhalter 2">
            <a:extLst>
              <a:ext uri="{FF2B5EF4-FFF2-40B4-BE49-F238E27FC236}">
                <a16:creationId xmlns:a16="http://schemas.microsoft.com/office/drawing/2014/main" id="{5D162787-320F-4629-9DA9-6185BEF7CC01}"/>
              </a:ext>
            </a:extLst>
          </p:cNvPr>
          <p:cNvSpPr>
            <a:spLocks noGrp="1"/>
          </p:cNvSpPr>
          <p:nvPr>
            <p:ph idx="1"/>
          </p:nvPr>
        </p:nvSpPr>
        <p:spPr/>
        <p:txBody>
          <a:bodyPr/>
          <a:lstStyle/>
          <a:p>
            <a:r>
              <a:rPr lang="de-DE" dirty="0"/>
              <a:t>Jede Klasse hat normalerweise eine eigene Datei.</a:t>
            </a:r>
          </a:p>
          <a:p>
            <a:r>
              <a:rPr lang="de-DE" dirty="0"/>
              <a:t>Rechtsklicke den Ordner (z.B. </a:t>
            </a:r>
            <a:r>
              <a:rPr lang="de-DE" dirty="0" err="1"/>
              <a:t>root.content</a:t>
            </a:r>
            <a:r>
              <a:rPr lang="de-DE" dirty="0"/>
              <a:t>)</a:t>
            </a:r>
          </a:p>
          <a:p>
            <a:r>
              <a:rPr lang="de-DE" dirty="0"/>
              <a:t>Wähle New › Java Class</a:t>
            </a:r>
          </a:p>
          <a:p>
            <a:r>
              <a:rPr lang="de-DE" dirty="0"/>
              <a:t>Gib einen Namen in </a:t>
            </a:r>
            <a:r>
              <a:rPr lang="de-DE" dirty="0" err="1">
                <a:solidFill>
                  <a:srgbClr val="FFCCFF"/>
                </a:solidFill>
              </a:rPr>
              <a:t>UpperCamelCase</a:t>
            </a:r>
            <a:r>
              <a:rPr lang="de-DE" dirty="0"/>
              <a:t> ein.</a:t>
            </a:r>
          </a:p>
          <a:p>
            <a:r>
              <a:rPr lang="de-DE" dirty="0"/>
              <a:t>In die geschweiften Klammern kannst du sowohl Attribute als auch Methoden schreiben.</a:t>
            </a:r>
          </a:p>
        </p:txBody>
      </p:sp>
      <p:pic>
        <p:nvPicPr>
          <p:cNvPr id="6" name="Picture 5">
            <a:extLst>
              <a:ext uri="{FF2B5EF4-FFF2-40B4-BE49-F238E27FC236}">
                <a16:creationId xmlns:a16="http://schemas.microsoft.com/office/drawing/2014/main" id="{AE06F703-1130-458B-9A21-2D5E66D24C3A}"/>
              </a:ext>
            </a:extLst>
          </p:cNvPr>
          <p:cNvPicPr>
            <a:picLocks noChangeAspect="1"/>
          </p:cNvPicPr>
          <p:nvPr/>
        </p:nvPicPr>
        <p:blipFill>
          <a:blip r:embed="rId2"/>
          <a:stretch>
            <a:fillRect/>
          </a:stretch>
        </p:blipFill>
        <p:spPr>
          <a:xfrm>
            <a:off x="7114583" y="5149663"/>
            <a:ext cx="4239217" cy="1343212"/>
          </a:xfrm>
          <a:prstGeom prst="rect">
            <a:avLst/>
          </a:prstGeom>
        </p:spPr>
      </p:pic>
      <p:sp>
        <p:nvSpPr>
          <p:cNvPr id="8" name="Oval 7">
            <a:extLst>
              <a:ext uri="{FF2B5EF4-FFF2-40B4-BE49-F238E27FC236}">
                <a16:creationId xmlns:a16="http://schemas.microsoft.com/office/drawing/2014/main" id="{1984BB5A-1A46-466C-8EE7-A8CE01CE90F3}"/>
              </a:ext>
            </a:extLst>
          </p:cNvPr>
          <p:cNvSpPr/>
          <p:nvPr/>
        </p:nvSpPr>
        <p:spPr>
          <a:xfrm>
            <a:off x="9854720" y="5172847"/>
            <a:ext cx="970737" cy="29036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latin typeface="IBM Plex Sans" panose="020B0503050203000203" pitchFamily="34" charset="0"/>
            </a:endParaRPr>
          </a:p>
        </p:txBody>
      </p:sp>
      <p:pic>
        <p:nvPicPr>
          <p:cNvPr id="5" name="Graphic 4" descr="Tools with solid fill">
            <a:extLst>
              <a:ext uri="{FF2B5EF4-FFF2-40B4-BE49-F238E27FC236}">
                <a16:creationId xmlns:a16="http://schemas.microsoft.com/office/drawing/2014/main" id="{9E7431E9-8236-4E31-A686-A662CB8C151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982269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1900D0-B019-4D82-AED4-A5CE3FAFE9B1}"/>
              </a:ext>
            </a:extLst>
          </p:cNvPr>
          <p:cNvSpPr>
            <a:spLocks noGrp="1"/>
          </p:cNvSpPr>
          <p:nvPr>
            <p:ph type="title"/>
          </p:nvPr>
        </p:nvSpPr>
        <p:spPr/>
        <p:txBody>
          <a:bodyPr/>
          <a:lstStyle/>
          <a:p>
            <a:r>
              <a:rPr lang="de-DE" dirty="0"/>
              <a:t>Konstruktor</a:t>
            </a:r>
          </a:p>
        </p:txBody>
      </p:sp>
      <p:sp>
        <p:nvSpPr>
          <p:cNvPr id="3" name="Inhaltsplatzhalter 2">
            <a:extLst>
              <a:ext uri="{FF2B5EF4-FFF2-40B4-BE49-F238E27FC236}">
                <a16:creationId xmlns:a16="http://schemas.microsoft.com/office/drawing/2014/main" id="{F73913EC-B8B6-4B9E-B574-1056A81C93FE}"/>
              </a:ext>
            </a:extLst>
          </p:cNvPr>
          <p:cNvSpPr>
            <a:spLocks noGrp="1"/>
          </p:cNvSpPr>
          <p:nvPr>
            <p:ph idx="1"/>
          </p:nvPr>
        </p:nvSpPr>
        <p:spPr/>
        <p:txBody>
          <a:bodyPr/>
          <a:lstStyle/>
          <a:p>
            <a:r>
              <a:rPr lang="de-DE" dirty="0"/>
              <a:t>Ähnlich wie Methoden</a:t>
            </a:r>
          </a:p>
          <a:p>
            <a:r>
              <a:rPr lang="de-DE" dirty="0"/>
              <a:t>Initialisiert die Attribute eines Objekts</a:t>
            </a:r>
            <a:br>
              <a:rPr lang="de-DE" dirty="0"/>
            </a:br>
            <a:r>
              <a:rPr lang="de-DE" dirty="0"/>
              <a:t>&lt;Modifikatoren&gt; &lt;Klassenname&gt;(&lt;Parameter&gt;) {</a:t>
            </a:r>
            <a:br>
              <a:rPr lang="de-DE" dirty="0"/>
            </a:br>
            <a:r>
              <a:rPr lang="de-DE" dirty="0"/>
              <a:t>}</a:t>
            </a:r>
          </a:p>
        </p:txBody>
      </p:sp>
      <p:pic>
        <p:nvPicPr>
          <p:cNvPr id="4" name="Graphic 3" descr="Books with solid fill">
            <a:extLst>
              <a:ext uri="{FF2B5EF4-FFF2-40B4-BE49-F238E27FC236}">
                <a16:creationId xmlns:a16="http://schemas.microsoft.com/office/drawing/2014/main" id="{991E2AC9-B6A6-4F17-A930-B66AE36F0E1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95244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D8A4A-4B57-40D6-BA00-07C9E943E0B8}"/>
              </a:ext>
            </a:extLst>
          </p:cNvPr>
          <p:cNvSpPr>
            <a:spLocks noGrp="1"/>
          </p:cNvSpPr>
          <p:nvPr>
            <p:ph type="title"/>
          </p:nvPr>
        </p:nvSpPr>
        <p:spPr/>
        <p:txBody>
          <a:bodyPr/>
          <a:lstStyle/>
          <a:p>
            <a:r>
              <a:rPr lang="de-DE" dirty="0" err="1"/>
              <a:t>this</a:t>
            </a:r>
            <a:endParaRPr lang="de-DE" dirty="0"/>
          </a:p>
        </p:txBody>
      </p:sp>
      <p:sp>
        <p:nvSpPr>
          <p:cNvPr id="3" name="Content Placeholder 2">
            <a:extLst>
              <a:ext uri="{FF2B5EF4-FFF2-40B4-BE49-F238E27FC236}">
                <a16:creationId xmlns:a16="http://schemas.microsoft.com/office/drawing/2014/main" id="{61F703EB-ED6E-45F8-BED2-B60CA35EE5F7}"/>
              </a:ext>
            </a:extLst>
          </p:cNvPr>
          <p:cNvSpPr>
            <a:spLocks noGrp="1"/>
          </p:cNvSpPr>
          <p:nvPr>
            <p:ph idx="1"/>
          </p:nvPr>
        </p:nvSpPr>
        <p:spPr/>
        <p:txBody>
          <a:bodyPr/>
          <a:lstStyle/>
          <a:p>
            <a:r>
              <a:rPr lang="de-DE" dirty="0"/>
              <a:t>Bezeichnet das Objekt der Klasse, in der es verwendet wird.</a:t>
            </a:r>
          </a:p>
          <a:p>
            <a:pPr lvl="1"/>
            <a:r>
              <a:rPr lang="de-DE" dirty="0"/>
              <a:t>Mit </a:t>
            </a:r>
            <a:r>
              <a:rPr lang="de-DE" dirty="0" err="1"/>
              <a:t>this</a:t>
            </a:r>
            <a:r>
              <a:rPr lang="de-DE" dirty="0"/>
              <a:t>(&lt;Parameter&gt;); kann ein Konstruktor einen anderen Konstruktor aufrufen.</a:t>
            </a:r>
          </a:p>
          <a:p>
            <a:pPr lvl="1"/>
            <a:r>
              <a:rPr lang="de-DE" dirty="0"/>
              <a:t>Mit </a:t>
            </a:r>
            <a:r>
              <a:rPr lang="de-DE" dirty="0" err="1"/>
              <a:t>this</a:t>
            </a:r>
            <a:r>
              <a:rPr lang="de-DE" dirty="0"/>
              <a:t>.&lt;Attribut&gt; kann auf Attribute zugegriffen werden, wenn die Parameter-Namen des Konstruktors gleich heißen.</a:t>
            </a:r>
          </a:p>
        </p:txBody>
      </p:sp>
    </p:spTree>
    <p:extLst>
      <p:ext uri="{BB962C8B-B14F-4D97-AF65-F5344CB8AC3E}">
        <p14:creationId xmlns:p14="http://schemas.microsoft.com/office/powerpoint/2010/main" val="7001729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18FCA-567A-4491-BB1A-10DCDC74E9B3}"/>
              </a:ext>
            </a:extLst>
          </p:cNvPr>
          <p:cNvSpPr>
            <a:spLocks noGrp="1"/>
          </p:cNvSpPr>
          <p:nvPr>
            <p:ph type="title"/>
          </p:nvPr>
        </p:nvSpPr>
        <p:spPr/>
        <p:txBody>
          <a:bodyPr/>
          <a:lstStyle/>
          <a:p>
            <a:r>
              <a:rPr lang="de-DE" dirty="0"/>
              <a:t>Import</a:t>
            </a:r>
          </a:p>
        </p:txBody>
      </p:sp>
      <p:sp>
        <p:nvSpPr>
          <p:cNvPr id="3" name="Content Placeholder 2">
            <a:extLst>
              <a:ext uri="{FF2B5EF4-FFF2-40B4-BE49-F238E27FC236}">
                <a16:creationId xmlns:a16="http://schemas.microsoft.com/office/drawing/2014/main" id="{0B94325A-359F-40CC-9274-F5D9C3EA8E24}"/>
              </a:ext>
            </a:extLst>
          </p:cNvPr>
          <p:cNvSpPr>
            <a:spLocks noGrp="1"/>
          </p:cNvSpPr>
          <p:nvPr>
            <p:ph idx="1"/>
          </p:nvPr>
        </p:nvSpPr>
        <p:spPr/>
        <p:txBody>
          <a:bodyPr/>
          <a:lstStyle/>
          <a:p>
            <a:endParaRPr lang="de-DE" dirty="0"/>
          </a:p>
        </p:txBody>
      </p:sp>
    </p:spTree>
    <p:extLst>
      <p:ext uri="{BB962C8B-B14F-4D97-AF65-F5344CB8AC3E}">
        <p14:creationId xmlns:p14="http://schemas.microsoft.com/office/powerpoint/2010/main" val="2581586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F1943-F28E-4EB9-8E9E-A8E7197C28C7}"/>
              </a:ext>
            </a:extLst>
          </p:cNvPr>
          <p:cNvSpPr>
            <a:spLocks noGrp="1"/>
          </p:cNvSpPr>
          <p:nvPr>
            <p:ph type="title"/>
          </p:nvPr>
        </p:nvSpPr>
        <p:spPr/>
        <p:txBody>
          <a:bodyPr/>
          <a:lstStyle/>
          <a:p>
            <a:r>
              <a:rPr lang="de-DE" dirty="0"/>
              <a:t>Bezeichnung Methoden von Klassen</a:t>
            </a:r>
          </a:p>
        </p:txBody>
      </p:sp>
      <p:sp>
        <p:nvSpPr>
          <p:cNvPr id="3" name="Content Placeholder 2">
            <a:extLst>
              <a:ext uri="{FF2B5EF4-FFF2-40B4-BE49-F238E27FC236}">
                <a16:creationId xmlns:a16="http://schemas.microsoft.com/office/drawing/2014/main" id="{700D21F0-6F6B-4FBA-A211-BCAE97AA35A8}"/>
              </a:ext>
            </a:extLst>
          </p:cNvPr>
          <p:cNvSpPr>
            <a:spLocks noGrp="1"/>
          </p:cNvSpPr>
          <p:nvPr>
            <p:ph idx="1"/>
          </p:nvPr>
        </p:nvSpPr>
        <p:spPr/>
        <p:txBody>
          <a:bodyPr/>
          <a:lstStyle/>
          <a:p>
            <a:pPr marL="0" indent="0">
              <a:buNone/>
              <a:defRPr>
                <a:solidFill>
                  <a:srgbClr val="FFFFFF"/>
                </a:solidFill>
              </a:defRPr>
            </a:pPr>
            <a:r>
              <a:rPr lang="de-DE" dirty="0"/>
              <a:t>&lt;Klasse&gt;#&lt;methode&gt; bedeutet: &lt;</a:t>
            </a:r>
            <a:r>
              <a:rPr lang="de-DE" dirty="0" err="1"/>
              <a:t>methode</a:t>
            </a:r>
            <a:r>
              <a:rPr lang="de-DE" dirty="0"/>
              <a:t>&gt; kann auf einem Objekt von &lt;Klasse&gt; ausgeführt werden.</a:t>
            </a:r>
          </a:p>
          <a:p>
            <a:pPr>
              <a:defRPr>
                <a:solidFill>
                  <a:srgbClr val="FFFFFF"/>
                </a:solidFill>
              </a:defRPr>
            </a:pPr>
            <a:endParaRPr lang="de-DE" dirty="0"/>
          </a:p>
          <a:p>
            <a:pPr marL="0" indent="0">
              <a:buNone/>
              <a:defRPr>
                <a:solidFill>
                  <a:srgbClr val="FFFFFF"/>
                </a:solidFill>
              </a:defRPr>
            </a:pPr>
            <a:r>
              <a:rPr lang="de-DE" dirty="0"/>
              <a:t>Beispiel: </a:t>
            </a:r>
            <a:r>
              <a:rPr lang="de-DE" dirty="0" err="1"/>
              <a:t>Scanner#nextLine</a:t>
            </a:r>
            <a:r>
              <a:rPr lang="de-DE" dirty="0"/>
              <a:t> kann so verwendet werden:</a:t>
            </a:r>
          </a:p>
          <a:p>
            <a:pPr marL="0" indent="0" defTabSz="914400">
              <a:buNone/>
              <a:defRPr>
                <a:solidFill>
                  <a:srgbClr val="5FB1DA"/>
                </a:solidFill>
                <a:latin typeface="JetBrains Mono"/>
                <a:ea typeface="JetBrains Mono"/>
                <a:cs typeface="JetBrains Mono"/>
                <a:sym typeface="JetBrains Mono"/>
              </a:defRPr>
            </a:pPr>
            <a:r>
              <a:rPr lang="de-DE" sz="1800" dirty="0">
                <a:latin typeface="Roboto Mono" panose="00000009000000000000" pitchFamily="50" charset="0"/>
                <a:ea typeface="Roboto" panose="02000000000000000000" pitchFamily="2" charset="0"/>
                <a:cs typeface="Calibri" panose="020F0502020204030204" pitchFamily="34" charset="0"/>
              </a:rPr>
              <a:t>Scanner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scanner</a:t>
            </a:r>
            <a:r>
              <a:rPr lang="de-DE" sz="1800" dirty="0">
                <a:solidFill>
                  <a:srgbClr val="A9B7C6"/>
                </a:solidFill>
                <a:latin typeface="Roboto Mono" panose="00000009000000000000" pitchFamily="50" charset="0"/>
                <a:ea typeface="Roboto" panose="02000000000000000000" pitchFamily="2" charset="0"/>
                <a:cs typeface="Calibri" panose="020F0502020204030204" pitchFamily="34" charset="0"/>
              </a:rPr>
              <a:t> = </a:t>
            </a:r>
            <a:r>
              <a:rPr lang="de-DE" sz="1800" dirty="0" err="1">
                <a:solidFill>
                  <a:srgbClr val="CC7E47"/>
                </a:solidFill>
                <a:latin typeface="Roboto Mono" panose="00000009000000000000" pitchFamily="50" charset="0"/>
                <a:ea typeface="Roboto" panose="02000000000000000000" pitchFamily="2" charset="0"/>
                <a:cs typeface="Calibri" panose="020F0502020204030204" pitchFamily="34" charset="0"/>
              </a:rPr>
              <a:t>new</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 </a:t>
            </a:r>
            <a:r>
              <a:rPr lang="de-DE" sz="1800" dirty="0">
                <a:solidFill>
                  <a:srgbClr val="ADD8E6"/>
                </a:solidFill>
                <a:latin typeface="Roboto Mono" panose="00000009000000000000" pitchFamily="50" charset="0"/>
                <a:ea typeface="Roboto" panose="02000000000000000000" pitchFamily="2" charset="0"/>
                <a:cs typeface="Calibri" panose="020F0502020204030204" pitchFamily="34" charset="0"/>
              </a:rPr>
              <a:t>Scanner</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latin typeface="Roboto Mono" panose="00000009000000000000" pitchFamily="50" charset="0"/>
                <a:ea typeface="Roboto" panose="02000000000000000000" pitchFamily="2" charset="0"/>
                <a:cs typeface="Calibri" panose="020F0502020204030204" pitchFamily="34" charset="0"/>
              </a:rPr>
              <a:t>System</a:t>
            </a:r>
            <a:r>
              <a:rPr lang="de-DE" sz="1800" dirty="0">
                <a:solidFill>
                  <a:srgbClr val="AC91E3"/>
                </a:solidFill>
                <a:latin typeface="Roboto Mono" panose="00000009000000000000" pitchFamily="50" charset="0"/>
                <a:ea typeface="Roboto" panose="02000000000000000000" pitchFamily="2" charset="0"/>
                <a:cs typeface="Calibri" panose="020F0502020204030204" pitchFamily="34" charset="0"/>
              </a:rPr>
              <a:t>.</a:t>
            </a:r>
            <a:r>
              <a:rPr lang="de-DE" sz="1800" i="1" dirty="0">
                <a:solidFill>
                  <a:srgbClr val="9876AA"/>
                </a:solidFill>
                <a:latin typeface="Roboto Mono" panose="00000009000000000000" pitchFamily="50" charset="0"/>
                <a:ea typeface="Roboto" panose="02000000000000000000" pitchFamily="2" charset="0"/>
                <a:cs typeface="Calibri" panose="020F0502020204030204" pitchFamily="34" charset="0"/>
              </a:rPr>
              <a:t>in</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a:t>
            </a:r>
            <a:b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br>
            <a:r>
              <a:rPr lang="de-DE" sz="1800" dirty="0">
                <a:latin typeface="Roboto Mono" panose="00000009000000000000" pitchFamily="50" charset="0"/>
                <a:ea typeface="Roboto" panose="02000000000000000000" pitchFamily="2" charset="0"/>
                <a:cs typeface="Calibri" panose="020F0502020204030204" pitchFamily="34" charset="0"/>
              </a:rPr>
              <a:t>String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input</a:t>
            </a:r>
            <a:r>
              <a:rPr lang="de-DE" sz="1800" dirty="0">
                <a:solidFill>
                  <a:srgbClr val="A9B7C6"/>
                </a:solidFill>
                <a:latin typeface="Roboto Mono" panose="00000009000000000000" pitchFamily="50" charset="0"/>
                <a:ea typeface="Roboto" panose="02000000000000000000" pitchFamily="2" charset="0"/>
                <a:cs typeface="Calibri" panose="020F0502020204030204" pitchFamily="34" charset="0"/>
              </a:rPr>
              <a:t> =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scanner</a:t>
            </a:r>
            <a:r>
              <a:rPr lang="de-DE" sz="1800" dirty="0" err="1">
                <a:solidFill>
                  <a:srgbClr val="AC91E3"/>
                </a:solidFill>
                <a:latin typeface="Roboto Mono" panose="00000009000000000000" pitchFamily="50" charset="0"/>
                <a:ea typeface="Roboto" panose="02000000000000000000" pitchFamily="2" charset="0"/>
                <a:cs typeface="Calibri" panose="020F0502020204030204" pitchFamily="34" charset="0"/>
              </a:rPr>
              <a:t>.</a:t>
            </a:r>
            <a:r>
              <a:rPr lang="de-DE" sz="1800" dirty="0" err="1">
                <a:solidFill>
                  <a:srgbClr val="B9C7A6"/>
                </a:solidFill>
                <a:latin typeface="Roboto Mono" panose="00000009000000000000" pitchFamily="50" charset="0"/>
                <a:ea typeface="Roboto" panose="02000000000000000000" pitchFamily="2" charset="0"/>
                <a:cs typeface="Calibri" panose="020F0502020204030204" pitchFamily="34" charset="0"/>
              </a:rPr>
              <a:t>nextLine</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a:t>
            </a:r>
          </a:p>
          <a:p>
            <a:endParaRPr lang="de-DE" dirty="0"/>
          </a:p>
        </p:txBody>
      </p:sp>
      <p:pic>
        <p:nvPicPr>
          <p:cNvPr id="4" name="Graphic 3" descr="Lightbulb with solid fill">
            <a:extLst>
              <a:ext uri="{FF2B5EF4-FFF2-40B4-BE49-F238E27FC236}">
                <a16:creationId xmlns:a16="http://schemas.microsoft.com/office/drawing/2014/main" id="{D763762C-0FA8-466F-A913-9790799AED7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3306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5AF151-936D-4C37-8FB6-1FE1773E16FE}"/>
              </a:ext>
            </a:extLst>
          </p:cNvPr>
          <p:cNvSpPr>
            <a:spLocks noGrp="1"/>
          </p:cNvSpPr>
          <p:nvPr>
            <p:ph type="title"/>
          </p:nvPr>
        </p:nvSpPr>
        <p:spPr/>
        <p:txBody>
          <a:bodyPr/>
          <a:lstStyle/>
          <a:p>
            <a:r>
              <a:rPr lang="de-DE" dirty="0"/>
              <a:t>Sichtbarkeitsmodifikatoren</a:t>
            </a:r>
          </a:p>
        </p:txBody>
      </p:sp>
      <p:sp>
        <p:nvSpPr>
          <p:cNvPr id="3" name="Inhaltsplatzhalter 2">
            <a:extLst>
              <a:ext uri="{FF2B5EF4-FFF2-40B4-BE49-F238E27FC236}">
                <a16:creationId xmlns:a16="http://schemas.microsoft.com/office/drawing/2014/main" id="{7243F6A4-221D-42B7-8BD2-1A5B8903308D}"/>
              </a:ext>
            </a:extLst>
          </p:cNvPr>
          <p:cNvSpPr>
            <a:spLocks noGrp="1"/>
          </p:cNvSpPr>
          <p:nvPr>
            <p:ph idx="1"/>
          </p:nvPr>
        </p:nvSpPr>
        <p:spPr>
          <a:xfrm>
            <a:off x="838200" y="1825624"/>
            <a:ext cx="10515600" cy="530226"/>
          </a:xfrm>
        </p:spPr>
        <p:txBody>
          <a:bodyPr>
            <a:normAutofit/>
          </a:bodyPr>
          <a:lstStyle/>
          <a:p>
            <a:pPr marL="0" indent="0">
              <a:buNone/>
            </a:pPr>
            <a:r>
              <a:rPr lang="de-DE" dirty="0"/>
              <a:t>… kontrollieren den Zugriff auf Attribute und Methoden.</a:t>
            </a:r>
          </a:p>
        </p:txBody>
      </p:sp>
      <p:graphicFrame>
        <p:nvGraphicFramePr>
          <p:cNvPr id="4" name="Tabelle 7">
            <a:extLst>
              <a:ext uri="{FF2B5EF4-FFF2-40B4-BE49-F238E27FC236}">
                <a16:creationId xmlns:a16="http://schemas.microsoft.com/office/drawing/2014/main" id="{95DA91B7-623F-428B-9E85-1EDDBC4559F8}"/>
              </a:ext>
            </a:extLst>
          </p:cNvPr>
          <p:cNvGraphicFramePr>
            <a:graphicFrameLocks noGrp="1"/>
          </p:cNvGraphicFramePr>
          <p:nvPr>
            <p:extLst>
              <p:ext uri="{D42A27DB-BD31-4B8C-83A1-F6EECF244321}">
                <p14:modId xmlns:p14="http://schemas.microsoft.com/office/powerpoint/2010/main" val="1237540868"/>
              </p:ext>
            </p:extLst>
          </p:nvPr>
        </p:nvGraphicFramePr>
        <p:xfrm>
          <a:off x="838200" y="2490786"/>
          <a:ext cx="10515600" cy="2589849"/>
        </p:xfrm>
        <a:graphic>
          <a:graphicData uri="http://schemas.openxmlformats.org/drawingml/2006/table">
            <a:tbl>
              <a:tblPr firstRow="1" bandRow="1">
                <a:tableStyleId>{5C22544A-7EE6-4342-B048-85BDC9FD1C3A}</a:tableStyleId>
              </a:tblPr>
              <a:tblGrid>
                <a:gridCol w="2781300">
                  <a:extLst>
                    <a:ext uri="{9D8B030D-6E8A-4147-A177-3AD203B41FA5}">
                      <a16:colId xmlns:a16="http://schemas.microsoft.com/office/drawing/2014/main" val="2317810761"/>
                    </a:ext>
                  </a:extLst>
                </a:gridCol>
                <a:gridCol w="7734300">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Schlüsselwort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latin typeface="IBM Plex Sans" panose="020B0503050203000203" pitchFamily="34" charset="0"/>
                        </a:rPr>
                        <a:t>private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nur innerhalb der Klasse verwendet werden. So können wir sie absichern.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&lt;kein Modifikator&gt;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im gleichen Ordner (</a:t>
                      </a:r>
                      <a:r>
                        <a:rPr lang="de-DE" u="none" dirty="0" err="1">
                          <a:solidFill>
                            <a:schemeClr val="tx1"/>
                          </a:solidFill>
                          <a:latin typeface="IBM Plex Sans" panose="020B0503050203000203" pitchFamily="34" charset="0"/>
                        </a:rPr>
                        <a:t>package</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latin typeface="IBM Plex Sans" panose="020B0503050203000203" pitchFamily="34" charset="0"/>
                        </a:rPr>
                        <a:t>protected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im gleichen Ordner (</a:t>
                      </a:r>
                      <a:r>
                        <a:rPr lang="de-DE" u="none" dirty="0" err="1">
                          <a:solidFill>
                            <a:schemeClr val="tx1"/>
                          </a:solidFill>
                          <a:latin typeface="IBM Plex Sans" panose="020B0503050203000203" pitchFamily="34" charset="0"/>
                        </a:rPr>
                        <a:t>package</a:t>
                      </a:r>
                      <a:r>
                        <a:rPr lang="de-DE" u="none" dirty="0">
                          <a:solidFill>
                            <a:schemeClr val="tx1"/>
                          </a:solidFill>
                        </a:rPr>
                        <a:t>) und abgeleiteten Klassen (siehe </a:t>
                      </a:r>
                      <a:r>
                        <a:rPr lang="de-DE" u="none" dirty="0">
                          <a:solidFill>
                            <a:schemeClr val="tx1"/>
                          </a:solidFill>
                          <a:hlinkClick r:id="rId2" action="ppaction://hlinksldjump"/>
                        </a:rPr>
                        <a:t>Vererbung</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err="1">
                          <a:solidFill>
                            <a:schemeClr val="tx1"/>
                          </a:solidFill>
                          <a:latin typeface="IBM Plex Sans" panose="020B0503050203000203" pitchFamily="34" charset="0"/>
                        </a:rPr>
                        <a:t>public</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überall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9E830E90-3B3E-4FC5-B0D4-3A7AFACF3D3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881731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91A2F-1BB2-453D-9032-0D0D4D84B48B}"/>
              </a:ext>
            </a:extLst>
          </p:cNvPr>
          <p:cNvSpPr>
            <a:spLocks noGrp="1"/>
          </p:cNvSpPr>
          <p:nvPr>
            <p:ph type="title"/>
          </p:nvPr>
        </p:nvSpPr>
        <p:spPr/>
        <p:txBody>
          <a:bodyPr/>
          <a:lstStyle/>
          <a:p>
            <a:r>
              <a:rPr lang="de-DE" dirty="0"/>
              <a:t>Indizierung</a:t>
            </a:r>
          </a:p>
        </p:txBody>
      </p:sp>
      <p:graphicFrame>
        <p:nvGraphicFramePr>
          <p:cNvPr id="4" name="Table 4">
            <a:extLst>
              <a:ext uri="{FF2B5EF4-FFF2-40B4-BE49-F238E27FC236}">
                <a16:creationId xmlns:a16="http://schemas.microsoft.com/office/drawing/2014/main" id="{7D9FE87A-DFCE-45D4-BE30-5E228157A0D6}"/>
              </a:ext>
            </a:extLst>
          </p:cNvPr>
          <p:cNvGraphicFramePr>
            <a:graphicFrameLocks noGrp="1"/>
          </p:cNvGraphicFramePr>
          <p:nvPr>
            <p:ph idx="1"/>
            <p:extLst>
              <p:ext uri="{D42A27DB-BD31-4B8C-83A1-F6EECF244321}">
                <p14:modId xmlns:p14="http://schemas.microsoft.com/office/powerpoint/2010/main" val="720331713"/>
              </p:ext>
            </p:extLst>
          </p:nvPr>
        </p:nvGraphicFramePr>
        <p:xfrm>
          <a:off x="838200" y="1825625"/>
          <a:ext cx="10515600" cy="741680"/>
        </p:xfrm>
        <a:graphic>
          <a:graphicData uri="http://schemas.openxmlformats.org/drawingml/2006/table">
            <a:tbl>
              <a:tblPr firstRow="1" bandRow="1">
                <a:tableStyleId>{5C22544A-7EE6-4342-B048-85BDC9FD1C3A}</a:tableStyleId>
              </a:tblPr>
              <a:tblGrid>
                <a:gridCol w="1051560">
                  <a:extLst>
                    <a:ext uri="{9D8B030D-6E8A-4147-A177-3AD203B41FA5}">
                      <a16:colId xmlns:a16="http://schemas.microsoft.com/office/drawing/2014/main" val="190314957"/>
                    </a:ext>
                  </a:extLst>
                </a:gridCol>
                <a:gridCol w="1051560">
                  <a:extLst>
                    <a:ext uri="{9D8B030D-6E8A-4147-A177-3AD203B41FA5}">
                      <a16:colId xmlns:a16="http://schemas.microsoft.com/office/drawing/2014/main" val="74477814"/>
                    </a:ext>
                  </a:extLst>
                </a:gridCol>
                <a:gridCol w="1051560">
                  <a:extLst>
                    <a:ext uri="{9D8B030D-6E8A-4147-A177-3AD203B41FA5}">
                      <a16:colId xmlns:a16="http://schemas.microsoft.com/office/drawing/2014/main" val="2965393514"/>
                    </a:ext>
                  </a:extLst>
                </a:gridCol>
                <a:gridCol w="1051560">
                  <a:extLst>
                    <a:ext uri="{9D8B030D-6E8A-4147-A177-3AD203B41FA5}">
                      <a16:colId xmlns:a16="http://schemas.microsoft.com/office/drawing/2014/main" val="4130810413"/>
                    </a:ext>
                  </a:extLst>
                </a:gridCol>
                <a:gridCol w="1051560">
                  <a:extLst>
                    <a:ext uri="{9D8B030D-6E8A-4147-A177-3AD203B41FA5}">
                      <a16:colId xmlns:a16="http://schemas.microsoft.com/office/drawing/2014/main" val="3479060060"/>
                    </a:ext>
                  </a:extLst>
                </a:gridCol>
                <a:gridCol w="1051560">
                  <a:extLst>
                    <a:ext uri="{9D8B030D-6E8A-4147-A177-3AD203B41FA5}">
                      <a16:colId xmlns:a16="http://schemas.microsoft.com/office/drawing/2014/main" val="3866734862"/>
                    </a:ext>
                  </a:extLst>
                </a:gridCol>
                <a:gridCol w="1051560">
                  <a:extLst>
                    <a:ext uri="{9D8B030D-6E8A-4147-A177-3AD203B41FA5}">
                      <a16:colId xmlns:a16="http://schemas.microsoft.com/office/drawing/2014/main" val="2424859651"/>
                    </a:ext>
                  </a:extLst>
                </a:gridCol>
                <a:gridCol w="1051560">
                  <a:extLst>
                    <a:ext uri="{9D8B030D-6E8A-4147-A177-3AD203B41FA5}">
                      <a16:colId xmlns:a16="http://schemas.microsoft.com/office/drawing/2014/main" val="3559965382"/>
                    </a:ext>
                  </a:extLst>
                </a:gridCol>
                <a:gridCol w="1051560">
                  <a:extLst>
                    <a:ext uri="{9D8B030D-6E8A-4147-A177-3AD203B41FA5}">
                      <a16:colId xmlns:a16="http://schemas.microsoft.com/office/drawing/2014/main" val="1568093687"/>
                    </a:ext>
                  </a:extLst>
                </a:gridCol>
                <a:gridCol w="1051560">
                  <a:extLst>
                    <a:ext uri="{9D8B030D-6E8A-4147-A177-3AD203B41FA5}">
                      <a16:colId xmlns:a16="http://schemas.microsoft.com/office/drawing/2014/main" val="3640211080"/>
                    </a:ext>
                  </a:extLst>
                </a:gridCol>
              </a:tblGrid>
              <a:tr h="370840">
                <a:tc>
                  <a:txBody>
                    <a:bodyPr/>
                    <a:lstStyle/>
                    <a:p>
                      <a:r>
                        <a:rPr lang="de-DE" dirty="0">
                          <a:solidFill>
                            <a:srgbClr val="F2F5FA"/>
                          </a:solidFill>
                          <a:latin typeface="IBM Plex Sans" panose="020B0503050203000203" pitchFamily="34" charset="0"/>
                        </a:rPr>
                        <a:t>0</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1</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2</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3</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4</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5</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6</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7</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8</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9</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8784614"/>
                  </a:ext>
                </a:extLst>
              </a:tr>
              <a:tr h="370840">
                <a:tc>
                  <a:txBody>
                    <a:bodyPr/>
                    <a:lstStyle/>
                    <a:p>
                      <a:r>
                        <a:rPr lang="de-DE" dirty="0">
                          <a:solidFill>
                            <a:srgbClr val="F2F5FA"/>
                          </a:solidFill>
                          <a:latin typeface="IBM Plex Sans" panose="020B0503050203000203" pitchFamily="34" charset="0"/>
                        </a:rPr>
                        <a:t>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k</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33949769"/>
                  </a:ext>
                </a:extLst>
              </a:tr>
            </a:tbl>
          </a:graphicData>
        </a:graphic>
      </p:graphicFrame>
      <p:sp>
        <p:nvSpPr>
          <p:cNvPr id="5" name="TextBox 4">
            <a:extLst>
              <a:ext uri="{FF2B5EF4-FFF2-40B4-BE49-F238E27FC236}">
                <a16:creationId xmlns:a16="http://schemas.microsoft.com/office/drawing/2014/main" id="{032E72AE-D1E0-49AD-BA1C-F6E271E842C9}"/>
              </a:ext>
            </a:extLst>
          </p:cNvPr>
          <p:cNvSpPr txBox="1"/>
          <p:nvPr/>
        </p:nvSpPr>
        <p:spPr>
          <a:xfrm>
            <a:off x="838200" y="2702242"/>
            <a:ext cx="10515600" cy="369332"/>
          </a:xfrm>
          <a:prstGeom prst="rect">
            <a:avLst/>
          </a:prstGeom>
          <a:noFill/>
        </p:spPr>
        <p:txBody>
          <a:bodyPr wrap="square" rtlCol="0">
            <a:spAutoFit/>
          </a:bodyPr>
          <a:lstStyle/>
          <a:p>
            <a:r>
              <a:rPr lang="de-DE" dirty="0"/>
              <a:t>Indizes repräsentieren die Position eines Elements (hier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char</a:t>
            </a:r>
            <a:r>
              <a:rPr lang="de-DE" dirty="0"/>
              <a:t>) in einer Reihe (hier </a:t>
            </a:r>
            <a:r>
              <a:rPr kumimoji="0" lang="de-DE" altLang="de-DE" sz="1800" b="0" i="0" u="none" strike="noStrike" cap="none" normalizeH="0" baseline="0" dirty="0">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String</a:t>
            </a:r>
            <a:r>
              <a:rPr lang="de-DE" dirty="0"/>
              <a:t>).</a:t>
            </a:r>
          </a:p>
        </p:txBody>
      </p:sp>
    </p:spTree>
    <p:extLst>
      <p:ext uri="{BB962C8B-B14F-4D97-AF65-F5344CB8AC3E}">
        <p14:creationId xmlns:p14="http://schemas.microsoft.com/office/powerpoint/2010/main" val="14270682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AFF94-135C-44E6-8953-9D2B3D15FDB9}"/>
              </a:ext>
            </a:extLst>
          </p:cNvPr>
          <p:cNvSpPr>
            <a:spLocks noGrp="1"/>
          </p:cNvSpPr>
          <p:nvPr>
            <p:ph type="title"/>
          </p:nvPr>
        </p:nvSpPr>
        <p:spPr/>
        <p:txBody>
          <a:bodyPr/>
          <a:lstStyle/>
          <a:p>
            <a:r>
              <a:rPr lang="de-DE" dirty="0"/>
              <a:t>Indizierung - Konventionen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89F26E-9201-4BF6-AD9F-74D1452C17E4}"/>
                  </a:ext>
                </a:extLst>
              </p:cNvPr>
              <p:cNvSpPr>
                <a:spLocks noGrp="1"/>
              </p:cNvSpPr>
              <p:nvPr>
                <p:ph idx="1"/>
              </p:nvPr>
            </p:nvSpPr>
            <p:spPr/>
            <p:txBody>
              <a:bodyPr>
                <a:normAutofit lnSpcReduction="10000"/>
              </a:bodyPr>
              <a:lstStyle/>
              <a:p>
                <a:r>
                  <a:rPr lang="de-DE" dirty="0"/>
                  <a:t>Es werden halboffene Intervalle </a:t>
                </a:r>
                <a14:m>
                  <m:oMath xmlns:m="http://schemas.openxmlformats.org/officeDocument/2006/math">
                    <m:r>
                      <a:rPr lang="de-DE" i="1" dirty="0" smtClean="0">
                        <a:latin typeface="Cambria Math" panose="02040503050406030204" pitchFamily="18" charset="0"/>
                      </a:rPr>
                      <m:t>[</m:t>
                    </m:r>
                    <m:r>
                      <a:rPr lang="de-DE" i="1" dirty="0" smtClean="0">
                        <a:latin typeface="Cambria Math" panose="02040503050406030204" pitchFamily="18" charset="0"/>
                      </a:rPr>
                      <m:t>𝑎</m:t>
                    </m:r>
                    <m:r>
                      <a:rPr lang="de-DE" i="1" dirty="0" smtClean="0">
                        <a:latin typeface="Cambria Math" panose="02040503050406030204" pitchFamily="18" charset="0"/>
                      </a:rPr>
                      <m:t>, </m:t>
                    </m:r>
                    <m:r>
                      <a:rPr lang="de-DE" i="1" dirty="0" smtClean="0">
                        <a:latin typeface="Cambria Math" panose="02040503050406030204" pitchFamily="18" charset="0"/>
                      </a:rPr>
                      <m:t>𝑏</m:t>
                    </m:r>
                    <m:r>
                      <a:rPr lang="de-DE" i="1" dirty="0" smtClean="0">
                        <a:latin typeface="Cambria Math" panose="02040503050406030204" pitchFamily="18" charset="0"/>
                      </a:rPr>
                      <m:t>)</m:t>
                    </m:r>
                  </m:oMath>
                </a14:m>
                <a:r>
                  <a:rPr lang="de-DE" dirty="0"/>
                  <a:t> verwendet.</a:t>
                </a:r>
              </a:p>
              <a:p>
                <a:pPr lvl="1"/>
                <a:r>
                  <a:rPr lang="de-DE" dirty="0"/>
                  <a:t>Beispiel: Alle Zahlen von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dirty="0"/>
                  <a:t> bis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6</a:t>
                </a:r>
                <a:r>
                  <a:rPr lang="de-DE" dirty="0"/>
                  <a:t> sind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dirty="0"/>
                  <a:t>,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dirty="0"/>
                  <a:t>,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dirty="0"/>
                  <a:t>}.</a:t>
                </a:r>
              </a:p>
              <a:p>
                <a:pPr lvl="1"/>
                <a:r>
                  <a:rPr lang="de-DE" dirty="0"/>
                  <a:t>Gründe:</a:t>
                </a:r>
              </a:p>
              <a:p>
                <a:pPr lvl="2"/>
                <a:r>
                  <a:rPr lang="de-DE" dirty="0"/>
                  <a:t>Wären Startindizes nicht Teil des Bereiches, </a:t>
                </a:r>
                <a:r>
                  <a:rPr lang="de-DE" sz="2100" dirty="0"/>
                  <a:t>bräuchte man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sz="2100" dirty="0"/>
                  <a:t> für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sz="2100" dirty="0"/>
                  <a:t>,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sz="2100" dirty="0"/>
                  <a:t>,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lang="de-DE" sz="2100" dirty="0"/>
                  <a:t>, </a:t>
                </a:r>
                <a:r>
                  <a:rPr lang="de-DE" sz="2100" dirty="0">
                    <a:solidFill>
                      <a:srgbClr val="6897BB"/>
                    </a:solidFill>
                    <a:latin typeface="Roboto Mono" panose="00000009000000000000" pitchFamily="50" charset="0"/>
                    <a:cs typeface="JetBrains Mono" panose="02000009000000000000" pitchFamily="49" charset="0"/>
                  </a:rPr>
                  <a:t>3</a:t>
                </a:r>
                <a:r>
                  <a:rPr lang="de-DE" sz="2100" dirty="0"/>
                  <a:t>}</a:t>
                </a:r>
              </a:p>
              <a:p>
                <a:pPr lvl="2"/>
                <a:r>
                  <a:rPr lang="de-DE" dirty="0"/>
                  <a:t>Intervalle können problemlos aneinandergereiht werden.</a:t>
                </a:r>
              </a:p>
              <a:p>
                <a:pPr lvl="2"/>
                <a:r>
                  <a:rPr lang="de-DE" dirty="0"/>
                  <a:t>Die Länge eines Intervalls entspricht der Differenz </a:t>
                </a:r>
                <a14:m>
                  <m:oMath xmlns:m="http://schemas.openxmlformats.org/officeDocument/2006/math">
                    <m:r>
                      <a:rPr lang="de-DE" i="1" dirty="0" smtClean="0">
                        <a:latin typeface="Cambria Math" panose="02040503050406030204" pitchFamily="18" charset="0"/>
                      </a:rPr>
                      <m:t>𝑏</m:t>
                    </m:r>
                    <m:r>
                      <a:rPr lang="en-US" b="0" i="1" dirty="0" smtClean="0">
                        <a:latin typeface="Cambria Math" panose="02040503050406030204" pitchFamily="18" charset="0"/>
                      </a:rPr>
                      <m:t> − </m:t>
                    </m:r>
                    <m:r>
                      <a:rPr lang="de-DE" i="1" dirty="0" smtClean="0">
                        <a:latin typeface="Cambria Math" panose="02040503050406030204" pitchFamily="18" charset="0"/>
                      </a:rPr>
                      <m:t>𝑎</m:t>
                    </m:r>
                  </m:oMath>
                </a14:m>
                <a:r>
                  <a:rPr lang="de-DE" dirty="0"/>
                  <a:t>.</a:t>
                </a:r>
              </a:p>
              <a:p>
                <a:r>
                  <a:rPr lang="de-DE" dirty="0"/>
                  <a:t>Nummerierungen starten bei </a:t>
                </a:r>
                <a:r>
                  <a:rPr kumimoji="0" lang="de-DE" altLang="de-DE" sz="2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t>.</a:t>
                </a:r>
              </a:p>
              <a:p>
                <a:pPr lvl="1"/>
                <a:r>
                  <a:rPr lang="de-DE" dirty="0"/>
                  <a:t>Beispiel: Das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dirty="0"/>
                  <a:t>. Zeichen von </a:t>
                </a:r>
                <a:r>
                  <a:rPr kumimoji="0" lang="de-DE" altLang="de-DE" b="0" i="0" u="none" strike="noStrike" cap="none" normalizeH="0" baseline="0" dirty="0">
                    <a:ln>
                      <a:noFill/>
                    </a:ln>
                    <a:solidFill>
                      <a:srgbClr val="6A8759"/>
                    </a:solidFill>
                    <a:effectLst/>
                    <a:latin typeface="Roboto Mono" panose="00000009000000000000" pitchFamily="50" charset="0"/>
                  </a:rPr>
                  <a:t>"Hallo"</a:t>
                </a:r>
                <a:r>
                  <a:rPr lang="de-DE" dirty="0"/>
                  <a:t> ist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'o'</a:t>
                </a:r>
                <a:r>
                  <a:rPr lang="de-DE" dirty="0"/>
                  <a:t>, und das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dirty="0"/>
                  <a:t>. gibt es nicht.</a:t>
                </a:r>
              </a:p>
              <a:p>
                <a:pPr lvl="1"/>
                <a:r>
                  <a:rPr lang="de-DE" dirty="0"/>
                  <a:t>Gründe:</a:t>
                </a:r>
              </a:p>
              <a:p>
                <a:pPr lvl="2"/>
                <a:r>
                  <a:rPr lang="de-DE" dirty="0"/>
                  <a:t>Der Computer muss nichts umrechnen.</a:t>
                </a:r>
              </a:p>
              <a:p>
                <a:pPr lvl="2"/>
                <a:r>
                  <a:rPr lang="de-DE" dirty="0"/>
                  <a:t>Indizes lassen sich leichter </a:t>
                </a:r>
                <a:r>
                  <a:rPr lang="de-DE" dirty="0">
                    <a:solidFill>
                      <a:srgbClr val="FFCCFF"/>
                    </a:solidFill>
                  </a:rPr>
                  <a:t>skalar multiplizieren</a:t>
                </a:r>
                <a:r>
                  <a:rPr lang="de-DE" dirty="0"/>
                  <a:t>.</a:t>
                </a:r>
              </a:p>
              <a:p>
                <a:pPr lvl="2"/>
                <a:r>
                  <a:rPr lang="de-DE" dirty="0"/>
                  <a:t>Das Ende eines Intervalls, das bei </a:t>
                </a:r>
                <a:r>
                  <a:rPr kumimoji="0" lang="de-DE" altLang="de-DE" sz="20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t> beginnt, entspricht genau seiner Länge.</a:t>
                </a:r>
              </a:p>
            </p:txBody>
          </p:sp>
        </mc:Choice>
        <mc:Fallback xmlns="">
          <p:sp>
            <p:nvSpPr>
              <p:cNvPr id="3" name="Content Placeholder 2">
                <a:extLst>
                  <a:ext uri="{FF2B5EF4-FFF2-40B4-BE49-F238E27FC236}">
                    <a16:creationId xmlns:a16="http://schemas.microsoft.com/office/drawing/2014/main" id="{1489F26E-9201-4BF6-AD9F-74D1452C17E4}"/>
                  </a:ext>
                </a:extLst>
              </p:cNvPr>
              <p:cNvSpPr>
                <a:spLocks noGrp="1" noRot="1" noChangeAspect="1" noMove="1" noResize="1" noEditPoints="1" noAdjustHandles="1" noChangeArrowheads="1" noChangeShapeType="1" noTextEdit="1"/>
              </p:cNvSpPr>
              <p:nvPr>
                <p:ph idx="1"/>
              </p:nvPr>
            </p:nvSpPr>
            <p:spPr>
              <a:blipFill>
                <a:blip r:embed="rId2"/>
                <a:stretch>
                  <a:fillRect l="-1043" t="-3221" r="-348"/>
                </a:stretch>
              </a:blipFill>
            </p:spPr>
            <p:txBody>
              <a:bodyPr/>
              <a:lstStyle/>
              <a:p>
                <a:r>
                  <a:rPr lang="de-DE">
                    <a:noFill/>
                  </a:rPr>
                  <a:t> </a:t>
                </a:r>
              </a:p>
            </p:txBody>
          </p:sp>
        </mc:Fallback>
      </mc:AlternateContent>
    </p:spTree>
    <p:extLst>
      <p:ext uri="{BB962C8B-B14F-4D97-AF65-F5344CB8AC3E}">
        <p14:creationId xmlns:p14="http://schemas.microsoft.com/office/powerpoint/2010/main" val="23781425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F6864F-C4C7-4FC2-930E-7C767A1CE80F}"/>
              </a:ext>
            </a:extLst>
          </p:cNvPr>
          <p:cNvSpPr>
            <a:spLocks noGrp="1"/>
          </p:cNvSpPr>
          <p:nvPr>
            <p:ph type="title"/>
          </p:nvPr>
        </p:nvSpPr>
        <p:spPr/>
        <p:txBody>
          <a:bodyPr/>
          <a:lstStyle/>
          <a:p>
            <a:r>
              <a:rPr lang="de-DE" dirty="0"/>
              <a:t>String-Klasse</a:t>
            </a:r>
          </a:p>
        </p:txBody>
      </p:sp>
      <p:sp>
        <p:nvSpPr>
          <p:cNvPr id="3" name="Inhaltsplatzhalter 2">
            <a:extLst>
              <a:ext uri="{FF2B5EF4-FFF2-40B4-BE49-F238E27FC236}">
                <a16:creationId xmlns:a16="http://schemas.microsoft.com/office/drawing/2014/main" id="{6DEDE1D3-02D2-4619-8B41-676671AB4B0E}"/>
              </a:ext>
            </a:extLst>
          </p:cNvPr>
          <p:cNvSpPr>
            <a:spLocks noGrp="1"/>
          </p:cNvSpPr>
          <p:nvPr>
            <p:ph idx="1"/>
          </p:nvPr>
        </p:nvSpPr>
        <p:spPr>
          <a:xfrm>
            <a:off x="838200" y="1825625"/>
            <a:ext cx="10439400" cy="1045634"/>
          </a:xfrm>
        </p:spPr>
        <p:txBody>
          <a:bodyPr>
            <a:normAutofit fontScale="92500"/>
          </a:bodyPr>
          <a:lstStyle/>
          <a:p>
            <a:r>
              <a:rPr lang="de-DE" dirty="0"/>
              <a:t>Ein String ist eine Zeichenkette.</a:t>
            </a:r>
          </a:p>
          <a:p>
            <a:r>
              <a:rPr lang="de-DE" dirty="0"/>
              <a:t>Objekte können durch Anführungsstriche erstellt werden: </a:t>
            </a:r>
            <a:r>
              <a:rPr kumimoji="0" lang="de-DE" altLang="de-DE" b="0" i="0" u="none" strike="noStrike" cap="none" normalizeH="0" baseline="0" dirty="0">
                <a:ln>
                  <a:noFill/>
                </a:ln>
                <a:solidFill>
                  <a:srgbClr val="6A8759"/>
                </a:solidFill>
                <a:effectLst/>
                <a:latin typeface="Roboto Mono" panose="00000009000000000000" pitchFamily="50" charset="0"/>
              </a:rPr>
              <a:t>"Hallo"</a:t>
            </a:r>
            <a:endParaRPr kumimoji="0" lang="de-DE" altLang="de-DE" b="0" i="0" u="none" strike="noStrike" cap="none" normalizeH="0" baseline="0" dirty="0">
              <a:ln>
                <a:noFill/>
              </a:ln>
              <a:solidFill>
                <a:schemeClr val="tx1"/>
              </a:solidFill>
              <a:effectLst/>
            </a:endParaRPr>
          </a:p>
        </p:txBody>
      </p:sp>
      <p:pic>
        <p:nvPicPr>
          <p:cNvPr id="4" name="Graphic 3" descr="Books with solid fill">
            <a:extLst>
              <a:ext uri="{FF2B5EF4-FFF2-40B4-BE49-F238E27FC236}">
                <a16:creationId xmlns:a16="http://schemas.microsoft.com/office/drawing/2014/main" id="{61F7EDA2-290D-40FF-A2B7-F111A65565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113152748"/>
                  </p:ext>
                </p:extLst>
              </p:nvPr>
            </p:nvGraphicFramePr>
            <p:xfrm>
              <a:off x="838200" y="2859618"/>
              <a:ext cx="10515602" cy="3070860"/>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2556931">
                      <a:extLst>
                        <a:ext uri="{9D8B030D-6E8A-4147-A177-3AD203B41FA5}">
                          <a16:colId xmlns:a16="http://schemas.microsoft.com/office/drawing/2014/main" val="1834094133"/>
                        </a:ext>
                      </a:extLst>
                    </a:gridCol>
                    <a:gridCol w="1799170">
                      <a:extLst>
                        <a:ext uri="{9D8B030D-6E8A-4147-A177-3AD203B41FA5}">
                          <a16:colId xmlns:a16="http://schemas.microsoft.com/office/drawing/2014/main" val="1496964973"/>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a:solidFill>
                                <a:schemeClr val="tx1"/>
                              </a:solidFill>
                              <a:latin typeface="IBM Plex Sans" panose="020B0503050203000203" pitchFamily="34" charset="0"/>
                            </a:rPr>
                            <a:t>Rückgabetyp</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charAt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index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r>
                            <a:rPr lang="de-DE" sz="1800" dirty="0">
                              <a:solidFill>
                                <a:schemeClr val="tx1"/>
                              </a:solidFill>
                              <a:latin typeface="IBM Plex Sans" panose="020B0503050203000203" pitchFamily="34" charset="0"/>
                            </a:rPr>
                            <a:t>Achtung: Wenn </a:t>
                          </a:r>
                          <a14:m>
                            <m:oMath xmlns:m="http://schemas.openxmlformats.org/officeDocument/2006/math">
                              <m:r>
                                <a:rPr lang="en-US" sz="1800" b="0" i="1" smtClean="0">
                                  <a:solidFill>
                                    <a:srgbClr val="FFCCFF"/>
                                  </a:solidFill>
                                  <a:latin typeface="Cambria Math" panose="02040503050406030204" pitchFamily="18" charset="0"/>
                                </a:rPr>
                                <m:t>𝑖𝑛𝑑𝑒𝑥</m:t>
                              </m:r>
                              <m:r>
                                <a:rPr lang="en-US" sz="1800" b="0" i="1" smtClean="0">
                                  <a:solidFill>
                                    <a:srgbClr val="FFCCFF"/>
                                  </a:solidFill>
                                  <a:latin typeface="Cambria Math" panose="02040503050406030204" pitchFamily="18" charset="0"/>
                                </a:rPr>
                                <m:t>∉[</m:t>
                              </m:r>
                              <m:r>
                                <m:rPr>
                                  <m:nor/>
                                </m:rPr>
                                <a:rPr kumimoji="0" lang="de-DE" altLang="de-DE" sz="1800" b="0" i="0" u="none" strike="noStrike" cap="none" normalizeH="0" baseline="0" dirty="0" smtClean="0">
                                  <a:ln>
                                    <a:noFill/>
                                  </a:ln>
                                  <a:solidFill>
                                    <a:srgbClr val="6897BB"/>
                                  </a:solidFill>
                                  <a:effectLst/>
                                  <a:latin typeface="Roboto Mono" panose="00000009000000000000" pitchFamily="50" charset="0"/>
                                  <a:cs typeface="JetBrains Mono" panose="02000009000000000000" pitchFamily="49" charset="0"/>
                                </a:rPr>
                                <m:t>0</m:t>
                              </m:r>
                              <m:r>
                                <a:rPr lang="en-US" sz="1800" b="0" i="1" smtClean="0">
                                  <a:solidFill>
                                    <a:srgbClr val="FFCCFF"/>
                                  </a:solidFill>
                                  <a:latin typeface="Cambria Math" panose="02040503050406030204" pitchFamily="18" charset="0"/>
                                </a:rPr>
                                <m:t>,</m:t>
                              </m:r>
                              <m:r>
                                <m:rPr>
                                  <m:nor/>
                                </m:rPr>
                                <a:rPr lang="en-US" sz="1800" b="0" i="0" smtClean="0">
                                  <a:solidFill>
                                    <a:srgbClr val="FFCCFF"/>
                                  </a:solidFill>
                                  <a:latin typeface="Cambria Math" panose="02040503050406030204" pitchFamily="18" charset="0"/>
                                </a:rPr>
                                <m:t> </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length</m:t>
                              </m:r>
                              <m:r>
                                <a:rPr lang="en-US" sz="1800" b="0" i="1" smtClean="0">
                                  <a:solidFill>
                                    <a:srgbClr val="FFCCFF"/>
                                  </a:solidFill>
                                  <a:latin typeface="Cambria Math" panose="02040503050406030204" pitchFamily="18" charset="0"/>
                                </a:rPr>
                                <m:t>)</m:t>
                              </m:r>
                            </m:oMath>
                          </a14:m>
                          <a:r>
                            <a:rPr lang="de-DE" sz="1800" dirty="0">
                              <a:solidFill>
                                <a:schemeClr val="tx1"/>
                              </a:solidFill>
                              <a:latin typeface="IBM Plex Sans" panose="020B0503050203000203" pitchFamily="34" charset="0"/>
                            </a:rPr>
                            <a:t>, wird eine </a:t>
                          </a:r>
                          <a:r>
                            <a:rPr kumimoji="0" lang="de-DE" altLang="de-DE" sz="1800" b="0" i="0" strike="noStrike" cap="none" normalizeH="0" baseline="0" dirty="0" err="1">
                              <a:ln>
                                <a:noFill/>
                              </a:ln>
                              <a:solidFill>
                                <a:srgbClr val="5FB1DA"/>
                              </a:solidFill>
                              <a:effectLst/>
                              <a:latin typeface="Roboto Mono" panose="00000009000000000000" pitchFamily="50" charset="0"/>
                              <a:hlinkClick r:id="rId4" action="ppaction://hlinksldjump">
                                <a:extLst>
                                  <a:ext uri="{A12FA001-AC4F-418D-AE19-62706E023703}">
                                    <ahyp:hlinkClr xmlns:ahyp="http://schemas.microsoft.com/office/drawing/2018/hyperlinkcolor" val="tx"/>
                                  </a:ext>
                                </a:extLst>
                              </a:hlinkClick>
                            </a:rPr>
                            <a:t>StringIndexOutOfBoundsException</a:t>
                          </a:r>
                          <a:r>
                            <a:rPr lang="de-DE" sz="1800" dirty="0"/>
                            <a:t> </a:t>
                          </a:r>
                          <a:r>
                            <a:rPr lang="de-DE" sz="1800" dirty="0">
                              <a:solidFill>
                                <a:schemeClr val="tx1"/>
                              </a:solidFill>
                            </a:rPr>
                            <a:t>geworfen.</a:t>
                          </a:r>
                        </a:p>
                      </a:txBody>
                      <a:tcPr>
                        <a:lnL w="12700" cmpd="sng">
                          <a:noFill/>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a:p>
                      </a:txBody>
                      <a:tcPr>
                        <a:lnL w="12700" cmpd="sng">
                          <a:noFill/>
                        </a:lnL>
                        <a:lnT w="12700" cmpd="sng">
                          <a:noFill/>
                        </a:lnT>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length</a:t>
                          </a:r>
                          <a:endParaRPr lang="de-DE" u="none" dirty="0">
                            <a:solidFill>
                              <a:schemeClr val="tx1"/>
                            </a:solidFill>
                            <a:latin typeface="Roboto Mono" panose="00000009000000000000" pitchFamily="50"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Roboto Mono" panose="00000009000000000000" pitchFamily="50" charset="0"/>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u="none" dirty="0">
                            <a:solidFill>
                              <a:schemeClr val="tx1"/>
                            </a:solidFill>
                            <a:latin typeface="Roboto Mono" panose="00000009000000000000" pitchFamily="50" charset="0"/>
                          </a:endParaRP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Länge des Strings</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substring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Teilstring im Intervall </a:t>
                          </a:r>
                          <a14:m>
                            <m:oMath xmlns:m="http://schemas.openxmlformats.org/officeDocument/2006/math">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beginIndex</m:t>
                              </m:r>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endIndex</m:t>
                              </m:r>
                              <m:r>
                                <a:rPr lang="en-US" b="0" i="1" u="none" smtClean="0">
                                  <a:solidFill>
                                    <a:schemeClr val="tx1"/>
                                  </a:solidFill>
                                  <a:latin typeface="Cambria Math" panose="02040503050406030204" pitchFamily="18" charset="0"/>
                                </a:rPr>
                                <m:t>)</m:t>
                              </m:r>
                            </m:oMath>
                          </a14:m>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39644182"/>
                      </a:ext>
                    </a:extLst>
                  </a:tr>
                  <a:tr h="451379">
                    <a:tc>
                      <a:txBody>
                        <a:bodyPr/>
                        <a:lstStyle/>
                        <a:p>
                          <a:r>
                            <a:rPr kumimoji="0" lang="de-DE" altLang="de-DE" sz="1800" b="0" i="0" u="none" strike="noStrike" cap="none" normalizeH="0" baseline="0" dirty="0">
                              <a:ln>
                                <a:noFill/>
                              </a:ln>
                              <a:solidFill>
                                <a:srgbClr val="D6AF72"/>
                              </a:solidFill>
                              <a:effectLst/>
                              <a:latin typeface="Roboto Mono" panose="00000009000000000000" pitchFamily="50" charset="0"/>
                            </a:rPr>
                            <a: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rgbClr val="FFCCFF"/>
                              </a:solidFill>
                              <a:latin typeface="IBM Plex Sans" panose="020B0503050203000203" pitchFamily="34" charset="0"/>
                            </a:rPr>
                            <a:t>Konkatination</a:t>
                          </a:r>
                          <a:r>
                            <a:rPr lang="de-DE" u="none" dirty="0">
                              <a:solidFill>
                                <a:schemeClr val="tx1"/>
                              </a:solidFill>
                              <a:latin typeface="IBM Plex Sans" panose="020B0503050203000203" pitchFamily="34" charset="0"/>
                            </a:rPr>
                            <a:t> von Strings und anderen 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08631302"/>
                      </a:ext>
                    </a:extLst>
                  </a:tr>
                </a:tbl>
              </a:graphicData>
            </a:graphic>
          </p:graphicFrame>
        </mc:Choice>
        <mc:Fallback xmlns="">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113152748"/>
                  </p:ext>
                </p:extLst>
              </p:nvPr>
            </p:nvGraphicFramePr>
            <p:xfrm>
              <a:off x="838200" y="2859618"/>
              <a:ext cx="10515602" cy="3070860"/>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2556931">
                      <a:extLst>
                        <a:ext uri="{9D8B030D-6E8A-4147-A177-3AD203B41FA5}">
                          <a16:colId xmlns:a16="http://schemas.microsoft.com/office/drawing/2014/main" val="1834094133"/>
                        </a:ext>
                      </a:extLst>
                    </a:gridCol>
                    <a:gridCol w="1799170">
                      <a:extLst>
                        <a:ext uri="{9D8B030D-6E8A-4147-A177-3AD203B41FA5}">
                          <a16:colId xmlns:a16="http://schemas.microsoft.com/office/drawing/2014/main" val="1496964973"/>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a:solidFill>
                                <a:schemeClr val="tx1"/>
                              </a:solidFill>
                              <a:latin typeface="IBM Plex Sans" panose="020B0503050203000203" pitchFamily="34" charset="0"/>
                            </a:rPr>
                            <a:t>Rückgabetyp</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charAt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index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endParaRPr lang="de-DE"/>
                        </a:p>
                      </a:txBody>
                      <a:tcPr>
                        <a:lnL w="12700" cmpd="sng">
                          <a:noFill/>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5"/>
                          <a:stretch>
                            <a:fillRect t="-205405" b="-404054"/>
                          </a:stretch>
                        </a:blip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a:p>
                      </a:txBody>
                      <a:tcPr>
                        <a:lnL w="12700" cmpd="sng">
                          <a:noFill/>
                        </a:lnL>
                        <a:lnT w="12700" cmpd="sng">
                          <a:noFill/>
                        </a:lnT>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length</a:t>
                          </a:r>
                          <a:endParaRPr lang="de-DE" u="none" dirty="0">
                            <a:solidFill>
                              <a:schemeClr val="tx1"/>
                            </a:solidFill>
                            <a:latin typeface="Roboto Mono" panose="00000009000000000000" pitchFamily="50"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Roboto Mono" panose="00000009000000000000" pitchFamily="50" charset="0"/>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u="none" dirty="0">
                            <a:solidFill>
                              <a:schemeClr val="tx1"/>
                            </a:solidFill>
                            <a:latin typeface="Roboto Mono" panose="00000009000000000000" pitchFamily="50" charset="0"/>
                          </a:endParaRP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Länge des Strings</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640080">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substring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5"/>
                          <a:stretch>
                            <a:fillRect l="-128005" t="-285714" b="-114286"/>
                          </a:stretch>
                        </a:blipFill>
                      </a:tcPr>
                    </a:tc>
                    <a:extLst>
                      <a:ext uri="{0D108BD9-81ED-4DB2-BD59-A6C34878D82A}">
                        <a16:rowId xmlns:a16="http://schemas.microsoft.com/office/drawing/2014/main" val="3539644182"/>
                      </a:ext>
                    </a:extLst>
                  </a:tr>
                  <a:tr h="640080">
                    <a:tc>
                      <a:txBody>
                        <a:bodyPr/>
                        <a:lstStyle/>
                        <a:p>
                          <a:r>
                            <a:rPr kumimoji="0" lang="de-DE" altLang="de-DE" sz="1800" b="0" i="0" u="none" strike="noStrike" cap="none" normalizeH="0" baseline="0" dirty="0">
                              <a:ln>
                                <a:noFill/>
                              </a:ln>
                              <a:solidFill>
                                <a:srgbClr val="D6AF72"/>
                              </a:solidFill>
                              <a:effectLst/>
                              <a:latin typeface="Roboto Mono" panose="00000009000000000000" pitchFamily="50" charset="0"/>
                            </a:rPr>
                            <a: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rgbClr val="FFCCFF"/>
                              </a:solidFill>
                              <a:latin typeface="IBM Plex Sans" panose="020B0503050203000203" pitchFamily="34" charset="0"/>
                            </a:rPr>
                            <a:t>Konkatination</a:t>
                          </a:r>
                          <a:r>
                            <a:rPr lang="de-DE" u="none" dirty="0">
                              <a:solidFill>
                                <a:schemeClr val="tx1"/>
                              </a:solidFill>
                              <a:latin typeface="IBM Plex Sans" panose="020B0503050203000203" pitchFamily="34" charset="0"/>
                            </a:rPr>
                            <a:t> von Strings und anderen 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08631302"/>
                      </a:ext>
                    </a:extLst>
                  </a:tr>
                </a:tbl>
              </a:graphicData>
            </a:graphic>
          </p:graphicFrame>
        </mc:Fallback>
      </mc:AlternateContent>
    </p:spTree>
    <p:extLst>
      <p:ext uri="{BB962C8B-B14F-4D97-AF65-F5344CB8AC3E}">
        <p14:creationId xmlns:p14="http://schemas.microsoft.com/office/powerpoint/2010/main" val="3564173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ED1BDE4-184B-4A08-8305-4B06D8CFF027}"/>
              </a:ext>
            </a:extLst>
          </p:cNvPr>
          <p:cNvSpPr>
            <a:spLocks noGrp="1"/>
          </p:cNvSpPr>
          <p:nvPr>
            <p:ph type="title"/>
          </p:nvPr>
        </p:nvSpPr>
        <p:spPr/>
        <p:txBody>
          <a:bodyPr/>
          <a:lstStyle/>
          <a:p>
            <a:r>
              <a:rPr lang="de-DE" dirty="0"/>
              <a:t>System-Klasse</a:t>
            </a:r>
          </a:p>
        </p:txBody>
      </p:sp>
      <p:sp>
        <p:nvSpPr>
          <p:cNvPr id="3" name="Inhaltsplatzhalter 2">
            <a:extLst>
              <a:ext uri="{FF2B5EF4-FFF2-40B4-BE49-F238E27FC236}">
                <a16:creationId xmlns:a16="http://schemas.microsoft.com/office/drawing/2014/main" id="{48D41F1F-EA83-43BB-82B2-76F4E41728E0}"/>
              </a:ext>
            </a:extLst>
          </p:cNvPr>
          <p:cNvSpPr>
            <a:spLocks noGrp="1"/>
          </p:cNvSpPr>
          <p:nvPr>
            <p:ph idx="1"/>
          </p:nvPr>
        </p:nvSpPr>
        <p:spPr/>
        <p:txBody>
          <a:bodyPr/>
          <a:lstStyle/>
          <a:p>
            <a:r>
              <a:rPr lang="de-DE" dirty="0"/>
              <a:t>Die System-Klasse bietet nützliche Attribute und Methoden:</a:t>
            </a:r>
          </a:p>
          <a:p>
            <a:pPr lvl="1"/>
            <a:r>
              <a:rPr lang="de-DE" dirty="0"/>
              <a:t>Über </a:t>
            </a:r>
            <a:r>
              <a:rPr kumimoji="0" lang="de-DE" altLang="de-DE" sz="2400" b="0" i="0" u="none" strike="noStrike" cap="none" normalizeH="0" baseline="0" dirty="0" err="1">
                <a:ln>
                  <a:noFill/>
                </a:ln>
                <a:solidFill>
                  <a:srgbClr val="5FB1DA"/>
                </a:solidFill>
                <a:effectLst/>
                <a:latin typeface="Roboto Mono" panose="00000009000000000000" pitchFamily="50" charset="0"/>
              </a:rPr>
              <a:t>System</a:t>
            </a:r>
            <a:r>
              <a:rPr kumimoji="0" lang="de-DE" altLang="de-DE" sz="2400" b="0" i="0" u="none" strike="noStrike" cap="none" normalizeH="0" baseline="0" dirty="0" err="1">
                <a:ln>
                  <a:noFill/>
                </a:ln>
                <a:solidFill>
                  <a:srgbClr val="AC91E3"/>
                </a:solidFill>
                <a:effectLst/>
                <a:latin typeface="Roboto Mono" panose="00000009000000000000" pitchFamily="50" charset="0"/>
              </a:rPr>
              <a:t>.</a:t>
            </a:r>
            <a:r>
              <a:rPr kumimoji="0" lang="de-DE" altLang="de-DE" sz="2400" b="0" i="1" u="none" strike="noStrike" cap="none" normalizeH="0" baseline="0" dirty="0" err="1">
                <a:ln>
                  <a:noFill/>
                </a:ln>
                <a:solidFill>
                  <a:srgbClr val="9876AA"/>
                </a:solidFill>
                <a:effectLst/>
                <a:latin typeface="Roboto Mono" panose="00000009000000000000" pitchFamily="50" charset="0"/>
              </a:rPr>
              <a:t>out</a:t>
            </a:r>
            <a:r>
              <a:rPr lang="de-DE" altLang="de-DE" dirty="0"/>
              <a:t> </a:t>
            </a:r>
            <a:r>
              <a:rPr lang="de-DE" dirty="0"/>
              <a:t>kann mit der Methode </a:t>
            </a:r>
            <a:r>
              <a:rPr lang="de-DE" dirty="0" err="1"/>
              <a:t>println</a:t>
            </a:r>
            <a:r>
              <a:rPr lang="de-DE" dirty="0"/>
              <a:t>(String s) etwas in der Konsole ausgegeben werden.</a:t>
            </a:r>
          </a:p>
          <a:p>
            <a:pPr lvl="1"/>
            <a:r>
              <a:rPr lang="de-DE" dirty="0"/>
              <a:t>Über </a:t>
            </a:r>
            <a:r>
              <a:rPr kumimoji="0" lang="de-DE" altLang="de-DE" sz="2400" b="0" i="0" u="none" strike="noStrike" cap="none" normalizeH="0" baseline="0" dirty="0">
                <a:ln>
                  <a:noFill/>
                </a:ln>
                <a:solidFill>
                  <a:srgbClr val="5FB1DA"/>
                </a:solidFill>
                <a:effectLst/>
                <a:latin typeface="Roboto Mono" panose="00000009000000000000" pitchFamily="50" charset="0"/>
              </a:rPr>
              <a:t>System</a:t>
            </a:r>
            <a:r>
              <a:rPr kumimoji="0" lang="de-DE" altLang="de-DE" sz="2400" b="0" i="0" u="none" strike="noStrike" cap="none" normalizeH="0" baseline="0" dirty="0">
                <a:ln>
                  <a:noFill/>
                </a:ln>
                <a:solidFill>
                  <a:srgbClr val="AC91E3"/>
                </a:solidFill>
                <a:effectLst/>
                <a:latin typeface="Roboto Mono" panose="00000009000000000000" pitchFamily="50" charset="0"/>
              </a:rPr>
              <a:t>.</a:t>
            </a:r>
            <a:r>
              <a:rPr kumimoji="0" lang="de-DE" altLang="de-DE" sz="2400" b="0" i="1" u="none" strike="noStrike" cap="none" normalizeH="0" baseline="0" dirty="0">
                <a:ln>
                  <a:noFill/>
                </a:ln>
                <a:solidFill>
                  <a:srgbClr val="9876AA"/>
                </a:solidFill>
                <a:effectLst/>
                <a:latin typeface="Roboto Mono" panose="00000009000000000000" pitchFamily="50" charset="0"/>
              </a:rPr>
              <a:t>in</a:t>
            </a:r>
            <a:r>
              <a:rPr lang="de-DE" altLang="de-DE" dirty="0"/>
              <a:t> </a:t>
            </a:r>
            <a:r>
              <a:rPr lang="de-DE" dirty="0"/>
              <a:t>können mit Hilfe des Scanners Eingaben aus der Konsole eingelesen werden.</a:t>
            </a:r>
          </a:p>
          <a:p>
            <a:pPr lvl="1"/>
            <a:r>
              <a:rPr lang="de-DE" dirty="0"/>
              <a:t>Die Methode </a:t>
            </a:r>
            <a:r>
              <a:rPr kumimoji="0" lang="de-DE" altLang="de-DE" sz="2400" b="0" i="0" u="none" strike="noStrike" cap="none" normalizeH="0" baseline="0" dirty="0" err="1">
                <a:ln>
                  <a:noFill/>
                </a:ln>
                <a:solidFill>
                  <a:srgbClr val="5FB1DA"/>
                </a:solidFill>
                <a:effectLst/>
                <a:latin typeface="Roboto Mono" panose="00000009000000000000" pitchFamily="50" charset="0"/>
              </a:rPr>
              <a:t>System</a:t>
            </a:r>
            <a:r>
              <a:rPr kumimoji="0" lang="de-DE" altLang="de-DE" sz="2400" b="0" i="0" u="none" strike="noStrike" cap="none" normalizeH="0" baseline="0" dirty="0" err="1">
                <a:ln>
                  <a:noFill/>
                </a:ln>
                <a:solidFill>
                  <a:srgbClr val="AC91E3"/>
                </a:solidFill>
                <a:effectLst/>
                <a:latin typeface="Roboto Mono" panose="00000009000000000000" pitchFamily="50" charset="0"/>
              </a:rPr>
              <a:t>.</a:t>
            </a:r>
            <a:r>
              <a:rPr kumimoji="0" lang="de-DE" altLang="de-DE" sz="2400" b="0" i="1" u="none" strike="noStrike" cap="none" normalizeH="0" baseline="0" dirty="0" err="1">
                <a:ln>
                  <a:noFill/>
                </a:ln>
                <a:solidFill>
                  <a:srgbClr val="AA7876"/>
                </a:solidFill>
                <a:effectLst/>
                <a:latin typeface="Roboto Mono" panose="00000009000000000000" pitchFamily="50" charset="0"/>
              </a:rPr>
              <a:t>currentTimeMillis</a:t>
            </a:r>
            <a:r>
              <a:rPr kumimoji="0" lang="de-DE" altLang="de-DE" sz="2400" b="0" i="0" u="none" strike="noStrike" cap="none" normalizeH="0" baseline="0" dirty="0">
                <a:ln>
                  <a:noFill/>
                </a:ln>
                <a:solidFill>
                  <a:srgbClr val="B0BA8C"/>
                </a:solidFill>
                <a:effectLst/>
                <a:latin typeface="Roboto Mono" panose="00000009000000000000" pitchFamily="50" charset="0"/>
              </a:rPr>
              <a:t>()</a:t>
            </a:r>
            <a:r>
              <a:rPr lang="de-DE" dirty="0"/>
              <a:t> liefert die Anzahl an Millisekunden (also 1000stel Sekunden) seit dem </a:t>
            </a:r>
            <a:r>
              <a:rPr lang="de-DE" dirty="0">
                <a:solidFill>
                  <a:srgbClr val="FFCCFF"/>
                </a:solidFill>
              </a:rPr>
              <a:t>1. Januar 1970</a:t>
            </a:r>
            <a:r>
              <a:rPr lang="de-DE" dirty="0"/>
              <a:t>.</a:t>
            </a:r>
          </a:p>
        </p:txBody>
      </p:sp>
      <p:pic>
        <p:nvPicPr>
          <p:cNvPr id="4" name="Graphic 3" descr="Books with solid fill">
            <a:extLst>
              <a:ext uri="{FF2B5EF4-FFF2-40B4-BE49-F238E27FC236}">
                <a16:creationId xmlns:a16="http://schemas.microsoft.com/office/drawing/2014/main" id="{F86E1524-556D-457D-94DC-B8BD336315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8902961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9CF762-172F-4803-82FE-E0E937754BA9}"/>
              </a:ext>
            </a:extLst>
          </p:cNvPr>
          <p:cNvSpPr>
            <a:spLocks noGrp="1"/>
          </p:cNvSpPr>
          <p:nvPr>
            <p:ph type="title"/>
          </p:nvPr>
        </p:nvSpPr>
        <p:spPr/>
        <p:txBody>
          <a:bodyPr/>
          <a:lstStyle/>
          <a:p>
            <a:r>
              <a:rPr lang="de-DE"/>
              <a:t>equals-Methode</a:t>
            </a:r>
            <a:endParaRPr lang="de-DE" dirty="0"/>
          </a:p>
        </p:txBody>
      </p:sp>
      <p:graphicFrame>
        <p:nvGraphicFramePr>
          <p:cNvPr id="7" name="Table 4">
            <a:extLst>
              <a:ext uri="{FF2B5EF4-FFF2-40B4-BE49-F238E27FC236}">
                <a16:creationId xmlns:a16="http://schemas.microsoft.com/office/drawing/2014/main" id="{F468432F-8BF3-445C-B4A5-63ABEDD4D20B}"/>
              </a:ext>
            </a:extLst>
          </p:cNvPr>
          <p:cNvGraphicFramePr>
            <a:graphicFrameLocks noGrp="1"/>
          </p:cNvGraphicFramePr>
          <p:nvPr>
            <p:ph idx="1"/>
            <p:extLst>
              <p:ext uri="{D42A27DB-BD31-4B8C-83A1-F6EECF244321}">
                <p14:modId xmlns:p14="http://schemas.microsoft.com/office/powerpoint/2010/main" val="3380805017"/>
              </p:ext>
            </p:extLst>
          </p:nvPr>
        </p:nvGraphicFramePr>
        <p:xfrm>
          <a:off x="809105" y="2117995"/>
          <a:ext cx="10515600" cy="148336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604490164"/>
                    </a:ext>
                  </a:extLst>
                </a:gridCol>
                <a:gridCol w="5257800">
                  <a:extLst>
                    <a:ext uri="{9D8B030D-6E8A-4147-A177-3AD203B41FA5}">
                      <a16:colId xmlns:a16="http://schemas.microsoft.com/office/drawing/2014/main" val="135970129"/>
                    </a:ext>
                  </a:extLst>
                </a:gridCol>
              </a:tblGrid>
              <a:tr h="370840">
                <a:tc>
                  <a:txBody>
                    <a:bodyPr/>
                    <a:lstStyle/>
                    <a:p>
                      <a:r>
                        <a:rPr lang="de-DE" dirty="0" err="1">
                          <a:solidFill>
                            <a:schemeClr val="tx1"/>
                          </a:solidFill>
                          <a:latin typeface="IBM Plex Sans" panose="020B0503050203000203" pitchFamily="34" charset="0"/>
                        </a:rPr>
                        <a:t>equals</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9307233"/>
                  </a:ext>
                </a:extLst>
              </a:tr>
              <a:tr h="370840">
                <a:tc>
                  <a:txBody>
                    <a:bodyPr/>
                    <a:lstStyle/>
                    <a:p>
                      <a:r>
                        <a:rPr lang="de-DE" dirty="0">
                          <a:solidFill>
                            <a:schemeClr val="tx1"/>
                          </a:solidFill>
                          <a:latin typeface="IBM Plex Sans" panose="020B0503050203000203" pitchFamily="34" charset="0"/>
                        </a:rPr>
                        <a:t>Methode der Klasse </a:t>
                      </a:r>
                      <a:r>
                        <a:rPr lang="de-DE" dirty="0" err="1">
                          <a:solidFill>
                            <a:schemeClr val="tx1"/>
                          </a:solidFill>
                          <a:latin typeface="IBM Plex Sans" panose="020B0503050203000203" pitchFamily="34" charset="0"/>
                          <a:hlinkClick r:id="rId2" action="ppaction://hlinksldjump"/>
                        </a:rPr>
                        <a:t>Object</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Operator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519517"/>
                  </a:ext>
                </a:extLst>
              </a:tr>
              <a:tr h="370840">
                <a:tc>
                  <a:txBody>
                    <a:bodyPr/>
                    <a:lstStyle/>
                    <a:p>
                      <a:r>
                        <a:rPr lang="de-DE" dirty="0">
                          <a:solidFill>
                            <a:schemeClr val="tx1"/>
                          </a:solidFill>
                          <a:latin typeface="IBM Plex Sans" panose="020B0503050203000203" pitchFamily="34" charset="0"/>
                        </a:rPr>
                        <a:t>Sind zwei Objekte gleich aufgebaut?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Sind zwei Werte identisch?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42193517"/>
                  </a:ext>
                </a:extLst>
              </a:tr>
              <a:tr h="370840">
                <a:tc>
                  <a:txBody>
                    <a:bodyPr/>
                    <a:lstStyle/>
                    <a:p>
                      <a:pPr algn="l"/>
                      <a:r>
                        <a:rPr lang="de-DE" dirty="0">
                          <a:solidFill>
                            <a:schemeClr val="tx1"/>
                          </a:solidFill>
                          <a:latin typeface="IBM Plex Sans" panose="020B0503050203000203" pitchFamily="34" charset="0"/>
                        </a:rPr>
                        <a:t>Verhalten wird von </a:t>
                      </a:r>
                      <a:r>
                        <a:rPr lang="de-DE" dirty="0">
                          <a:solidFill>
                            <a:schemeClr val="tx1"/>
                          </a:solidFill>
                          <a:latin typeface="IBM Plex Sans" panose="020B0503050203000203" pitchFamily="34" charset="0"/>
                          <a:hlinkClick r:id="rId3" action="ppaction://hlinksldjump"/>
                        </a:rPr>
                        <a:t>Klassen</a:t>
                      </a:r>
                      <a:r>
                        <a:rPr lang="de-DE" dirty="0">
                          <a:solidFill>
                            <a:schemeClr val="tx1"/>
                          </a:solidFill>
                        </a:rPr>
                        <a:t> definiert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de-DE" dirty="0">
                          <a:solidFill>
                            <a:schemeClr val="tx1"/>
                          </a:solidFill>
                          <a:latin typeface="IBM Plex Sans" panose="020B0503050203000203" pitchFamily="34" charset="0"/>
                        </a:rPr>
                        <a:t>In die Sprache eingebaut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0952137"/>
                  </a:ext>
                </a:extLst>
              </a:tr>
            </a:tbl>
          </a:graphicData>
        </a:graphic>
      </p:graphicFrame>
      <p:sp>
        <p:nvSpPr>
          <p:cNvPr id="8" name="TextBox 7">
            <a:extLst>
              <a:ext uri="{FF2B5EF4-FFF2-40B4-BE49-F238E27FC236}">
                <a16:creationId xmlns:a16="http://schemas.microsoft.com/office/drawing/2014/main" id="{0BFB5FF8-6D68-4533-87CB-E4F9E309DA81}"/>
              </a:ext>
            </a:extLst>
          </p:cNvPr>
          <p:cNvSpPr txBox="1"/>
          <p:nvPr/>
        </p:nvSpPr>
        <p:spPr>
          <a:xfrm>
            <a:off x="809105" y="5969655"/>
            <a:ext cx="5997176" cy="523220"/>
          </a:xfrm>
          <a:prstGeom prst="rect">
            <a:avLst/>
          </a:prstGeom>
          <a:noFill/>
        </p:spPr>
        <p:txBody>
          <a:bodyPr wrap="square" rtlCol="0">
            <a:spAutoFit/>
          </a:bodyPr>
          <a:lstStyle/>
          <a:p>
            <a:r>
              <a:rPr lang="de-DE" sz="2800" dirty="0">
                <a:latin typeface="IBM Plex Sans" panose="020B0503050203000203" pitchFamily="34" charset="0"/>
              </a:rPr>
              <a:t>Beide geben einen </a:t>
            </a:r>
            <a:r>
              <a:rPr kumimoji="0" lang="de-DE" altLang="de-DE" sz="2800" b="0" i="0" u="none" strike="noStrike" cap="none" normalizeH="0" baseline="0" dirty="0" err="1">
                <a:ln>
                  <a:noFill/>
                </a:ln>
                <a:solidFill>
                  <a:srgbClr val="CC7E47"/>
                </a:solidFill>
                <a:effectLst/>
                <a:latin typeface="Roboto Mono" panose="00000009000000000000" pitchFamily="50" charset="0"/>
              </a:rPr>
              <a:t>boolean</a:t>
            </a:r>
            <a:r>
              <a:rPr lang="de-DE" sz="2800" dirty="0">
                <a:latin typeface="IBM Plex Sans" panose="020B0503050203000203" pitchFamily="34" charset="0"/>
              </a:rPr>
              <a:t> zurück.</a:t>
            </a:r>
          </a:p>
        </p:txBody>
      </p:sp>
      <p:pic>
        <p:nvPicPr>
          <p:cNvPr id="5" name="Graphic 4" descr="Books with solid fill">
            <a:extLst>
              <a:ext uri="{FF2B5EF4-FFF2-40B4-BE49-F238E27FC236}">
                <a16:creationId xmlns:a16="http://schemas.microsoft.com/office/drawing/2014/main" id="{D401CF43-1A21-4DCD-9305-9E57DD936A4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pic>
        <p:nvPicPr>
          <p:cNvPr id="1028" name="Picture 4" descr="Preview">
            <a:extLst>
              <a:ext uri="{FF2B5EF4-FFF2-40B4-BE49-F238E27FC236}">
                <a16:creationId xmlns:a16="http://schemas.microsoft.com/office/drawing/2014/main" id="{38AC1540-6E87-4D88-BDE6-3E0E9715F4C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9105" y="3928583"/>
            <a:ext cx="1190625" cy="119062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Preview">
            <a:extLst>
              <a:ext uri="{FF2B5EF4-FFF2-40B4-BE49-F238E27FC236}">
                <a16:creationId xmlns:a16="http://schemas.microsoft.com/office/drawing/2014/main" id="{1238683B-D1E7-4845-BF63-A83CD308E6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130554" y="3928582"/>
            <a:ext cx="1190625" cy="119062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Preview">
            <a:extLst>
              <a:ext uri="{FF2B5EF4-FFF2-40B4-BE49-F238E27FC236}">
                <a16:creationId xmlns:a16="http://schemas.microsoft.com/office/drawing/2014/main" id="{0577222F-B503-4043-BEBB-F97177CEE8A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76280" y="3928583"/>
            <a:ext cx="1190625" cy="119062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5317FD65-7561-47EE-824D-09D5CB54BEC9}"/>
              </a:ext>
            </a:extLst>
          </p:cNvPr>
          <p:cNvSpPr/>
          <p:nvPr/>
        </p:nvSpPr>
        <p:spPr>
          <a:xfrm>
            <a:off x="2628108" y="4654700"/>
            <a:ext cx="1619794"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die gleichen</a:t>
            </a:r>
          </a:p>
        </p:txBody>
      </p:sp>
      <p:cxnSp>
        <p:nvCxnSpPr>
          <p:cNvPr id="6" name="Straight Arrow Connector 5">
            <a:extLst>
              <a:ext uri="{FF2B5EF4-FFF2-40B4-BE49-F238E27FC236}">
                <a16:creationId xmlns:a16="http://schemas.microsoft.com/office/drawing/2014/main" id="{E1ACFE5F-CFD1-4214-8F71-8639232F86BE}"/>
              </a:ext>
            </a:extLst>
          </p:cNvPr>
          <p:cNvCxnSpPr>
            <a:cxnSpLocks/>
            <a:stCxn id="3" idx="1"/>
            <a:endCxn id="1028" idx="3"/>
          </p:cNvCxnSpPr>
          <p:nvPr/>
        </p:nvCxnSpPr>
        <p:spPr>
          <a:xfrm flipH="1" flipV="1">
            <a:off x="1999730" y="4523896"/>
            <a:ext cx="628378" cy="3924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21F0EE94-ED86-4A5B-8009-8998B3EC2422}"/>
              </a:ext>
            </a:extLst>
          </p:cNvPr>
          <p:cNvCxnSpPr>
            <a:stCxn id="3" idx="3"/>
            <a:endCxn id="9" idx="1"/>
          </p:cNvCxnSpPr>
          <p:nvPr/>
        </p:nvCxnSpPr>
        <p:spPr>
          <a:xfrm flipV="1">
            <a:off x="4247902" y="4523896"/>
            <a:ext cx="628378" cy="3924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6B8CECF9-45C4-45F8-9324-4D2C663D3CF9}"/>
              </a:ext>
            </a:extLst>
          </p:cNvPr>
          <p:cNvSpPr/>
          <p:nvPr/>
        </p:nvSpPr>
        <p:spPr>
          <a:xfrm>
            <a:off x="6314555" y="4262285"/>
            <a:ext cx="1619794" cy="5232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die selben</a:t>
            </a:r>
          </a:p>
        </p:txBody>
      </p:sp>
      <p:cxnSp>
        <p:nvCxnSpPr>
          <p:cNvPr id="13" name="Straight Arrow Connector 12">
            <a:extLst>
              <a:ext uri="{FF2B5EF4-FFF2-40B4-BE49-F238E27FC236}">
                <a16:creationId xmlns:a16="http://schemas.microsoft.com/office/drawing/2014/main" id="{7234E9CA-C1B3-4464-AB39-F60323262808}"/>
              </a:ext>
            </a:extLst>
          </p:cNvPr>
          <p:cNvCxnSpPr>
            <a:cxnSpLocks/>
            <a:stCxn id="15" idx="0"/>
            <a:endCxn id="1030" idx="1"/>
          </p:cNvCxnSpPr>
          <p:nvPr/>
        </p:nvCxnSpPr>
        <p:spPr>
          <a:xfrm>
            <a:off x="7124452" y="4262285"/>
            <a:ext cx="2006102" cy="2616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D8DF019-D7EF-49E3-B587-014780AFC171}"/>
              </a:ext>
            </a:extLst>
          </p:cNvPr>
          <p:cNvCxnSpPr>
            <a:cxnSpLocks/>
            <a:stCxn id="15" idx="2"/>
            <a:endCxn id="1030" idx="1"/>
          </p:cNvCxnSpPr>
          <p:nvPr/>
        </p:nvCxnSpPr>
        <p:spPr>
          <a:xfrm flipV="1">
            <a:off x="7124452" y="4523895"/>
            <a:ext cx="2006102" cy="2616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9" name="Graphic 18" descr="Large paint brush with solid fill">
            <a:extLst>
              <a:ext uri="{FF2B5EF4-FFF2-40B4-BE49-F238E27FC236}">
                <a16:creationId xmlns:a16="http://schemas.microsoft.com/office/drawing/2014/main" id="{CEB15CF7-231C-43F4-A784-E4E4106AB59B}"/>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rot="10800000">
            <a:off x="351905" y="4916310"/>
            <a:ext cx="914400" cy="914400"/>
          </a:xfrm>
          <a:prstGeom prst="rect">
            <a:avLst/>
          </a:prstGeom>
        </p:spPr>
      </p:pic>
      <p:pic>
        <p:nvPicPr>
          <p:cNvPr id="38" name="Graphic 37" descr="Large paint brush with solid fill">
            <a:extLst>
              <a:ext uri="{FF2B5EF4-FFF2-40B4-BE49-F238E27FC236}">
                <a16:creationId xmlns:a16="http://schemas.microsoft.com/office/drawing/2014/main" id="{39E727B8-9F77-4536-8F43-5BAD52D8BDCA}"/>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rot="10800000">
            <a:off x="8811466" y="4785505"/>
            <a:ext cx="914400" cy="914400"/>
          </a:xfrm>
          <a:prstGeom prst="rect">
            <a:avLst/>
          </a:prstGeom>
        </p:spPr>
      </p:pic>
    </p:spTree>
    <p:extLst>
      <p:ext uri="{BB962C8B-B14F-4D97-AF65-F5344CB8AC3E}">
        <p14:creationId xmlns:p14="http://schemas.microsoft.com/office/powerpoint/2010/main" val="22190685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2B652F-212A-491B-9A04-2EF0B1CF3507}"/>
              </a:ext>
            </a:extLst>
          </p:cNvPr>
          <p:cNvSpPr>
            <a:spLocks noGrp="1"/>
          </p:cNvSpPr>
          <p:nvPr>
            <p:ph type="title"/>
          </p:nvPr>
        </p:nvSpPr>
        <p:spPr/>
        <p:txBody>
          <a:bodyPr/>
          <a:lstStyle/>
          <a:p>
            <a:r>
              <a:rPr lang="de-DE" dirty="0"/>
              <a:t>Kontrollstrukturen</a:t>
            </a:r>
          </a:p>
        </p:txBody>
      </p:sp>
      <p:graphicFrame>
        <p:nvGraphicFramePr>
          <p:cNvPr id="4" name="Tabelle 3">
            <a:extLst>
              <a:ext uri="{FF2B5EF4-FFF2-40B4-BE49-F238E27FC236}">
                <a16:creationId xmlns:a16="http://schemas.microsoft.com/office/drawing/2014/main" id="{2F6FFA6E-64B8-4891-A1C3-8410B828529B}"/>
              </a:ext>
            </a:extLst>
          </p:cNvPr>
          <p:cNvGraphicFramePr>
            <a:graphicFrameLocks noGrp="1"/>
          </p:cNvGraphicFramePr>
          <p:nvPr>
            <p:extLst>
              <p:ext uri="{D42A27DB-BD31-4B8C-83A1-F6EECF244321}">
                <p14:modId xmlns:p14="http://schemas.microsoft.com/office/powerpoint/2010/main" val="4148017574"/>
              </p:ext>
            </p:extLst>
          </p:nvPr>
        </p:nvGraphicFramePr>
        <p:xfrm>
          <a:off x="838200" y="1825625"/>
          <a:ext cx="10515600" cy="4784409"/>
        </p:xfrm>
        <a:graphic>
          <a:graphicData uri="http://schemas.openxmlformats.org/drawingml/2006/table">
            <a:tbl>
              <a:tblPr firstRow="1" bandRow="1">
                <a:tableStyleId>{5C22544A-7EE6-4342-B048-85BDC9FD1C3A}</a:tableStyleId>
              </a:tblPr>
              <a:tblGrid>
                <a:gridCol w="3794760">
                  <a:extLst>
                    <a:ext uri="{9D8B030D-6E8A-4147-A177-3AD203B41FA5}">
                      <a16:colId xmlns:a16="http://schemas.microsoft.com/office/drawing/2014/main" val="340987855"/>
                    </a:ext>
                  </a:extLst>
                </a:gridCol>
                <a:gridCol w="6720840">
                  <a:extLst>
                    <a:ext uri="{9D8B030D-6E8A-4147-A177-3AD203B41FA5}">
                      <a16:colId xmlns:a16="http://schemas.microsoft.com/office/drawing/2014/main" val="3238039161"/>
                    </a:ext>
                  </a:extLst>
                </a:gridCol>
              </a:tblGrid>
              <a:tr h="436563">
                <a:tc>
                  <a:txBody>
                    <a:bodyPr/>
                    <a:lstStyle/>
                    <a:p>
                      <a:r>
                        <a:rPr lang="de-D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lang="de-DE" u="sng" dirty="0" err="1">
                          <a:solidFill>
                            <a:schemeClr val="tx1"/>
                          </a:solidFill>
                          <a:latin typeface="IBM Plex Sans" panose="020B0503050203000203" pitchFamily="34" charset="0"/>
                        </a:rPr>
                        <a:t>if</a:t>
                      </a:r>
                      <a:r>
                        <a:rPr lang="de-DE" u="sng" dirty="0">
                          <a:solidFill>
                            <a:schemeClr val="tx1"/>
                          </a:solidFill>
                          <a:latin typeface="IBM Plex Sans" panose="020B0503050203000203" pitchFamily="34" charset="0"/>
                        </a:rPr>
                        <a:t> (&lt;Wahrheitswert&gt;) &lt;Befehl&gt;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nur dann aus, wenn der Wahrheitswert </a:t>
                      </a:r>
                      <a:r>
                        <a:rPr lang="de-DE" u="none" dirty="0" err="1">
                          <a:solidFill>
                            <a:schemeClr val="tx1"/>
                          </a:solidFill>
                          <a:latin typeface="IBM Plex Sans" panose="020B0503050203000203" pitchFamily="34" charset="0"/>
                        </a:rPr>
                        <a:t>true</a:t>
                      </a:r>
                      <a:r>
                        <a:rPr lang="de-DE" u="none" dirty="0">
                          <a:solidFill>
                            <a:schemeClr val="tx1"/>
                          </a:solidFill>
                        </a:rPr>
                        <a: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lang="de-DE" u="sng" dirty="0">
                          <a:solidFill>
                            <a:schemeClr val="tx1"/>
                          </a:solidFill>
                          <a:latin typeface="IBM Plex Sans" panose="020B0503050203000203" pitchFamily="34" charset="0"/>
                        </a:rPr>
                        <a:t>… </a:t>
                      </a:r>
                      <a:r>
                        <a:rPr lang="de-DE" u="sng" dirty="0" err="1">
                          <a:solidFill>
                            <a:schemeClr val="tx1"/>
                          </a:solidFill>
                          <a:latin typeface="IBM Plex Sans" panose="020B0503050203000203" pitchFamily="34" charset="0"/>
                        </a:rPr>
                        <a:t>else</a:t>
                      </a:r>
                      <a:r>
                        <a:rPr lang="de-DE" u="sng" dirty="0">
                          <a:solidFill>
                            <a:schemeClr val="tx1"/>
                          </a:solidFill>
                        </a:rPr>
                        <a:t> &lt;Befehl&gt;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Sonst und nur sonst führe den anderen Befehl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a:txBody>
                    <a:bodyPr/>
                    <a:lstStyle/>
                    <a:p>
                      <a:r>
                        <a:rPr lang="de-DE" u="sng" dirty="0" err="1">
                          <a:solidFill>
                            <a:schemeClr val="tx1"/>
                          </a:solidFill>
                          <a:latin typeface="IBM Plex Sans" panose="020B0503050203000203" pitchFamily="34" charset="0"/>
                        </a:rPr>
                        <a:t>while</a:t>
                      </a:r>
                      <a:r>
                        <a:rPr lang="de-DE" u="sng" dirty="0">
                          <a:solidFill>
                            <a:schemeClr val="tx1"/>
                          </a:solidFill>
                          <a:latin typeface="IBM Plex Sans" panose="020B0503050203000203" pitchFamily="34" charset="0"/>
                        </a:rPr>
                        <a:t> (&lt;Bedingung&gt;) &lt;Befehl&gt;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aus,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lang="de-DE" u="sng" dirty="0" err="1">
                          <a:solidFill>
                            <a:schemeClr val="tx1"/>
                          </a:solidFill>
                          <a:latin typeface="IBM Plex Sans" panose="020B0503050203000203" pitchFamily="34" charset="0"/>
                        </a:rPr>
                        <a:t>for</a:t>
                      </a:r>
                      <a:r>
                        <a:rPr lang="de-DE" u="sng" dirty="0">
                          <a:solidFill>
                            <a:schemeClr val="tx1"/>
                          </a:solidFill>
                          <a:latin typeface="IBM Plex Sans" panose="020B0503050203000203" pitchFamily="34" charset="0"/>
                        </a:rPr>
                        <a:t> (&lt;Datentyp&gt; &lt;Name&gt; : &lt;Array&gt;) &lt;Befehl&gt;</a:t>
                      </a:r>
                      <a:r>
                        <a:rPr lang="de-DE" u="none" dirty="0">
                          <a:solidFill>
                            <a:schemeClr val="tx1"/>
                          </a:solidFill>
                        </a:rPr>
                        <a:t> (genannt: </a:t>
                      </a:r>
                      <a:r>
                        <a:rPr lang="de-DE" u="none" dirty="0" err="1">
                          <a:solidFill>
                            <a:schemeClr val="tx1"/>
                          </a:solidFill>
                        </a:rPr>
                        <a:t>foreach</a:t>
                      </a:r>
                      <a:r>
                        <a:rPr lang="de-DE" u="none" dirty="0">
                          <a:solidFill>
                            <a:schemeClr val="tx1"/>
                          </a:solidFill>
                        </a:rPr>
                        <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Führt den Befehl für jedes Element des Arrays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lang="de-DE" u="none" dirty="0">
                          <a:solidFill>
                            <a:schemeClr val="tx1"/>
                          </a:solidFill>
                          <a:latin typeface="IBM Plex Sans" panose="020B0503050203000203" pitchFamily="34" charset="0"/>
                        </a:rPr>
                        <a:t>do &lt;Befehl&gt; </a:t>
                      </a:r>
                      <a:r>
                        <a:rPr lang="de-DE" u="none" dirty="0" err="1">
                          <a:solidFill>
                            <a:schemeClr val="tx1"/>
                          </a:solidFill>
                          <a:latin typeface="IBM Plex Sans" panose="020B0503050203000203" pitchFamily="34" charset="0"/>
                        </a:rPr>
                        <a:t>while</a:t>
                      </a:r>
                      <a:r>
                        <a:rPr lang="de-DE" u="none" dirty="0">
                          <a:solidFill>
                            <a:schemeClr val="tx1"/>
                          </a:solidFill>
                        </a:rPr>
                        <a:t> (&lt;Bedingung&gt;)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aus und wiederhole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r h="436563">
                <a:tc>
                  <a:txBody>
                    <a:bodyPr/>
                    <a:lstStyle/>
                    <a:p>
                      <a:r>
                        <a:rPr lang="de-DE" u="none" dirty="0">
                          <a:solidFill>
                            <a:schemeClr val="tx1"/>
                          </a:solidFill>
                          <a:latin typeface="IBM Plex Sans" panose="020B0503050203000203" pitchFamily="34" charset="0"/>
                        </a:rPr>
                        <a:t>x = &lt;Bedingung&gt; ? &lt;Wert1&gt; : &lt;Wert2&gt;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Wenn die Bedingung gilt, soll x Wert1 sein, sonst soll x Wert2 sein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758047"/>
                  </a:ext>
                </a:extLst>
              </a:tr>
              <a:tr h="436563">
                <a:tc>
                  <a:txBody>
                    <a:bodyPr/>
                    <a:lstStyle/>
                    <a:p>
                      <a:r>
                        <a:rPr lang="de-DE" u="none" dirty="0">
                          <a:solidFill>
                            <a:schemeClr val="tx1"/>
                          </a:solidFill>
                          <a:latin typeface="IBM Plex Sans" panose="020B0503050203000203" pitchFamily="34" charset="0"/>
                        </a:rPr>
                        <a:t>… 4 weitere</a:t>
                      </a:r>
                    </a:p>
                    <a:p>
                      <a:r>
                        <a:rPr lang="de-DE" u="none" dirty="0">
                          <a:solidFill>
                            <a:schemeClr val="tx1"/>
                          </a:solidFill>
                          <a:latin typeface="IBM Plex Sans" panose="020B0503050203000203" pitchFamily="34" charset="0"/>
                        </a:rPr>
                        <a:t>(</a:t>
                      </a:r>
                      <a:r>
                        <a:rPr lang="de-DE" u="none" dirty="0" err="1">
                          <a:solidFill>
                            <a:schemeClr val="tx1"/>
                          </a:solidFill>
                          <a:latin typeface="IBM Plex Sans" panose="020B0503050203000203" pitchFamily="34" charset="0"/>
                        </a:rPr>
                        <a:t>for</a:t>
                      </a:r>
                      <a:r>
                        <a:rPr lang="de-DE" u="none" dirty="0">
                          <a:solidFill>
                            <a:schemeClr val="tx1"/>
                          </a:solidFill>
                        </a:rPr>
                        <a:t>, switch, </a:t>
                      </a:r>
                      <a:r>
                        <a:rPr lang="de-DE" u="none" dirty="0" err="1">
                          <a:solidFill>
                            <a:schemeClr val="tx1"/>
                          </a:solidFill>
                        </a:rPr>
                        <a:t>ternary</a:t>
                      </a:r>
                      <a:r>
                        <a:rPr lang="de-DE" u="none" dirty="0">
                          <a:solidFill>
                            <a:schemeClr val="tx1"/>
                          </a:solidFill>
                        </a:rPr>
                        <a:t>, </a:t>
                      </a:r>
                      <a:r>
                        <a:rPr lang="de-DE" u="none" dirty="0" err="1">
                          <a:solidFill>
                            <a:schemeClr val="tx1"/>
                          </a:solidFill>
                        </a:rPr>
                        <a:t>try</a:t>
                      </a:r>
                      <a:r>
                        <a:rPr lang="de-DE" u="none" dirty="0">
                          <a:solidFill>
                            <a:schemeClr val="tx1"/>
                          </a:solidFill>
                        </a:rPr>
                        <a:t>-catch)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593697"/>
                  </a:ext>
                </a:extLst>
              </a:tr>
            </a:tbl>
          </a:graphicData>
        </a:graphic>
      </p:graphicFrame>
      <p:pic>
        <p:nvPicPr>
          <p:cNvPr id="5" name="Graphic 4" descr="Books with solid fill">
            <a:extLst>
              <a:ext uri="{FF2B5EF4-FFF2-40B4-BE49-F238E27FC236}">
                <a16:creationId xmlns:a16="http://schemas.microsoft.com/office/drawing/2014/main" id="{FD72A200-0650-41AC-B22B-F7CB0B0892C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9765251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34C9A-F08C-42B5-881B-1ECACF15C303}"/>
              </a:ext>
            </a:extLst>
          </p:cNvPr>
          <p:cNvSpPr>
            <a:spLocks noGrp="1"/>
          </p:cNvSpPr>
          <p:nvPr>
            <p:ph type="title"/>
          </p:nvPr>
        </p:nvSpPr>
        <p:spPr/>
        <p:txBody>
          <a:bodyPr/>
          <a:lstStyle/>
          <a:p>
            <a:r>
              <a:rPr lang="de-DE" dirty="0"/>
              <a:t>Ausnahmen: Reihenfolge der Ausführung</a:t>
            </a:r>
          </a:p>
        </p:txBody>
      </p:sp>
      <p:sp>
        <p:nvSpPr>
          <p:cNvPr id="3" name="Content Placeholder 2">
            <a:extLst>
              <a:ext uri="{FF2B5EF4-FFF2-40B4-BE49-F238E27FC236}">
                <a16:creationId xmlns:a16="http://schemas.microsoft.com/office/drawing/2014/main" id="{140E9F40-9B76-41B4-9960-5CB804044B0F}"/>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Zuweisung von Variablen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dreiIstVier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897BB"/>
                </a:solidFill>
                <a:effectLst/>
                <a:latin typeface="Roboto Mono" panose="00000009000000000000" pitchFamily="50" charset="0"/>
              </a:rPr>
              <a:t>3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a:t>
            </a:r>
            <a:r>
              <a:rPr kumimoji="0" lang="de-DE" altLang="de-DE" sz="1800" b="0" i="0" u="none" strike="noStrike" cap="none" normalizeH="0" baseline="0" dirty="0" err="1">
                <a:ln>
                  <a:noFill/>
                </a:ln>
                <a:solidFill>
                  <a:srgbClr val="808080"/>
                </a:solidFill>
                <a:effectLst/>
                <a:latin typeface="Roboto Mono" panose="00000009000000000000" pitchFamily="50" charset="0"/>
              </a:rPr>
              <a:t>false</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Punkt vor Strich</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wert = </a:t>
            </a:r>
            <a:r>
              <a:rPr kumimoji="0" lang="de-DE" altLang="de-DE" sz="1800" b="0" i="0" u="none" strike="noStrike" cap="none" normalizeH="0" baseline="0" dirty="0">
                <a:ln>
                  <a:noFill/>
                </a:ln>
                <a:solidFill>
                  <a:srgbClr val="6897BB"/>
                </a:solidFill>
                <a:effectLst/>
                <a:latin typeface="Roboto Mono" panose="00000009000000000000" pitchFamily="50" charset="0"/>
              </a:rPr>
              <a:t>1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2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5, nicht 6</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Aufruf von Methoden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Wartet erst, macht dann weiter</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Verwendung von Kontrollstrukturen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"stopp"</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"weiter"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lang="de-DE" altLang="de-DE" sz="1800" dirty="0">
                <a:solidFill>
                  <a:srgbClr val="CC7E47"/>
                </a:solidFill>
                <a:latin typeface="Roboto Mono" panose="00000009000000000000" pitchFamily="50" charset="0"/>
              </a:rPr>
              <a:t>;</a:t>
            </a:r>
            <a:br>
              <a:rPr lang="de-DE" altLang="de-DE" sz="1800" dirty="0">
                <a:solidFill>
                  <a:srgbClr val="CC7E47"/>
                </a:solidFill>
                <a:latin typeface="Roboto Mono" panose="00000009000000000000" pitchFamily="50" charset="0"/>
              </a:rPr>
            </a:br>
            <a:r>
              <a:rPr lang="de-DE" altLang="de-DE" sz="1800" dirty="0">
                <a:solidFill>
                  <a:srgbClr val="CC7E47"/>
                </a:solidFill>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Springt zur Bedingung der Schleife zurück</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altLang="de-DE" sz="1800" dirty="0">
              <a:solidFill>
                <a:srgbClr val="CC7E47"/>
              </a:solidFill>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975AB5BF-0984-4DD3-A5AB-65184E7587E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0819330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06FB0-7BCB-4B8B-9CC5-2002CB3378B0}"/>
              </a:ext>
            </a:extLst>
          </p:cNvPr>
          <p:cNvSpPr>
            <a:spLocks noGrp="1"/>
          </p:cNvSpPr>
          <p:nvPr>
            <p:ph type="title"/>
          </p:nvPr>
        </p:nvSpPr>
        <p:spPr/>
        <p:txBody>
          <a:bodyPr/>
          <a:lstStyle/>
          <a:p>
            <a:r>
              <a:rPr lang="de-DE" dirty="0"/>
              <a:t>Threading</a:t>
            </a:r>
          </a:p>
        </p:txBody>
      </p:sp>
      <p:sp>
        <p:nvSpPr>
          <p:cNvPr id="3" name="Content Placeholder 2">
            <a:extLst>
              <a:ext uri="{FF2B5EF4-FFF2-40B4-BE49-F238E27FC236}">
                <a16:creationId xmlns:a16="http://schemas.microsoft.com/office/drawing/2014/main" id="{5BD1721E-3DFB-4944-9EF8-388D9BB1589D}"/>
              </a:ext>
            </a:extLst>
          </p:cNvPr>
          <p:cNvSpPr>
            <a:spLocks noGrp="1"/>
          </p:cNvSpPr>
          <p:nvPr>
            <p:ph idx="1"/>
          </p:nvPr>
        </p:nvSpPr>
        <p:spPr/>
        <p:txBody>
          <a:bodyPr/>
          <a:lstStyle/>
          <a:p>
            <a:r>
              <a:rPr lang="de-DE" dirty="0"/>
              <a:t>… (unterschiedliche Aufgaben gleichzeitig, </a:t>
            </a:r>
            <a:r>
              <a:rPr lang="de-DE" dirty="0" err="1"/>
              <a:t>sleep</a:t>
            </a:r>
            <a:r>
              <a:rPr lang="de-DE" dirty="0"/>
              <a:t>, aufeinander warten, kompliziert, bessere Lösungen)</a:t>
            </a:r>
          </a:p>
        </p:txBody>
      </p:sp>
    </p:spTree>
    <p:extLst>
      <p:ext uri="{BB962C8B-B14F-4D97-AF65-F5344CB8AC3E}">
        <p14:creationId xmlns:p14="http://schemas.microsoft.com/office/powerpoint/2010/main" val="22506923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E89B4C1-15EB-45BD-979D-CFCDD7C7D109}"/>
              </a:ext>
            </a:extLst>
          </p:cNvPr>
          <p:cNvSpPr>
            <a:spLocks noGrp="1"/>
          </p:cNvSpPr>
          <p:nvPr>
            <p:ph type="title"/>
          </p:nvPr>
        </p:nvSpPr>
        <p:spPr/>
        <p:txBody>
          <a:bodyPr/>
          <a:lstStyle/>
          <a:p>
            <a:r>
              <a:rPr lang="de-DE" dirty="0"/>
              <a:t>Blöcke</a:t>
            </a:r>
          </a:p>
        </p:txBody>
      </p:sp>
      <p:sp>
        <p:nvSpPr>
          <p:cNvPr id="3" name="Inhaltsplatzhalter 2">
            <a:extLst>
              <a:ext uri="{FF2B5EF4-FFF2-40B4-BE49-F238E27FC236}">
                <a16:creationId xmlns:a16="http://schemas.microsoft.com/office/drawing/2014/main" id="{E3AA2FA2-C585-4830-BAEC-41B685E1984D}"/>
              </a:ext>
            </a:extLst>
          </p:cNvPr>
          <p:cNvSpPr>
            <a:spLocks noGrp="1"/>
          </p:cNvSpPr>
          <p:nvPr>
            <p:ph idx="1"/>
          </p:nvPr>
        </p:nvSpPr>
        <p:spPr/>
        <p:txBody>
          <a:bodyPr>
            <a:normAutofit fontScale="92500" lnSpcReduction="20000"/>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900" b="0" i="0" u="none" strike="noStrike" cap="none" normalizeH="0" baseline="0" dirty="0">
                <a:ln>
                  <a:noFill/>
                </a:ln>
                <a:solidFill>
                  <a:srgbClr val="808080"/>
                </a:solidFill>
                <a:effectLst/>
                <a:latin typeface="Roboto Mono" panose="00000009000000000000" pitchFamily="50" charset="0"/>
              </a:rPr>
              <a:t>// Um mehrere Befehle in Kontrollstrukturen auszuführen, werden Blöcke verwendet:</a:t>
            </a:r>
            <a:br>
              <a:rPr kumimoji="0" lang="de-DE" altLang="de-DE" sz="1900" b="0" i="0" u="none" strike="noStrike" cap="none" normalizeH="0" baseline="0" dirty="0">
                <a:ln>
                  <a:noFill/>
                </a:ln>
                <a:solidFill>
                  <a:srgbClr val="808080"/>
                </a:solidFill>
                <a:effectLst/>
                <a:latin typeface="Roboto Mono" panose="00000009000000000000" pitchFamily="50" charset="0"/>
              </a:rPr>
            </a:br>
            <a:r>
              <a:rPr kumimoji="0" lang="de-DE" altLang="de-DE" sz="1900" b="0" i="0" u="none" strike="noStrike" cap="none" normalizeH="0" baseline="0" dirty="0" err="1">
                <a:ln>
                  <a:noFill/>
                </a:ln>
                <a:solidFill>
                  <a:srgbClr val="CC7E47"/>
                </a:solidFill>
                <a:effectLst/>
                <a:latin typeface="Roboto Mono" panose="00000009000000000000" pitchFamily="50" charset="0"/>
              </a:rPr>
              <a:t>if</a:t>
            </a:r>
            <a:r>
              <a:rPr kumimoji="0" lang="de-DE" altLang="de-DE" sz="1900" b="0" i="0" u="none" strike="noStrike" cap="none" normalizeH="0" baseline="0" dirty="0">
                <a:ln>
                  <a:noFill/>
                </a:ln>
                <a:solidFill>
                  <a:srgbClr val="CC7E47"/>
                </a:solidFill>
                <a:effectLst/>
                <a:latin typeface="Roboto Mono" panose="00000009000000000000" pitchFamily="50" charset="0"/>
              </a:rPr>
              <a:t> </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err="1">
                <a:ln>
                  <a:noFill/>
                </a:ln>
                <a:solidFill>
                  <a:srgbClr val="A9B7C6"/>
                </a:solidFill>
                <a:effectLst/>
                <a:latin typeface="Roboto Mono" panose="00000009000000000000" pitchFamily="50" charset="0"/>
              </a:rPr>
              <a:t>scanner</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equals</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6A8759"/>
                </a:solidFill>
                <a:effectLst/>
                <a:latin typeface="Roboto Mono" panose="00000009000000000000" pitchFamily="50" charset="0"/>
              </a:rPr>
              <a:t>"Mach mir nach!"</a:t>
            </a:r>
            <a:r>
              <a:rPr kumimoji="0" lang="de-DE" altLang="de-DE" sz="1900" b="0" i="0" u="none" strike="noStrike" cap="none" normalizeH="0" baseline="0" dirty="0">
                <a:ln>
                  <a:noFill/>
                </a:ln>
                <a:solidFill>
                  <a:srgbClr val="B0BA8C"/>
                </a:solidFill>
                <a:effectLst/>
                <a:latin typeface="Roboto Mono" panose="00000009000000000000" pitchFamily="50" charset="0"/>
              </a:rPr>
              <a:t>)) </a:t>
            </a:r>
            <a:r>
              <a:rPr kumimoji="0" lang="de-DE" altLang="de-DE" sz="1900" b="0" i="0" u="none" strike="noStrike" cap="none" normalizeH="0" baseline="0" dirty="0">
                <a:ln>
                  <a:noFill/>
                </a:ln>
                <a:solidFill>
                  <a:srgbClr val="507874"/>
                </a:solidFill>
                <a:effectLst/>
                <a:latin typeface="Roboto Mono" panose="00000009000000000000" pitchFamily="50" charset="0"/>
              </a:rPr>
              <a:t>{</a:t>
            </a:r>
            <a:br>
              <a:rPr kumimoji="0" lang="de-DE" altLang="de-DE" sz="1900" b="0" i="0" u="none" strike="noStrike" cap="none" normalizeH="0" baseline="0" dirty="0">
                <a:ln>
                  <a:noFill/>
                </a:ln>
                <a:solidFill>
                  <a:srgbClr val="507874"/>
                </a:solidFill>
                <a:effectLst/>
                <a:latin typeface="Roboto Mono" panose="00000009000000000000" pitchFamily="50" charset="0"/>
              </a:rPr>
            </a:br>
            <a:r>
              <a:rPr kumimoji="0" lang="de-DE" altLang="de-DE" sz="1900" b="0" i="0" u="none" strike="noStrike" cap="none" normalizeH="0" baseline="0" dirty="0">
                <a:ln>
                  <a:noFill/>
                </a:ln>
                <a:solidFill>
                  <a:srgbClr val="507874"/>
                </a:solidFill>
                <a:effectLst/>
                <a:latin typeface="Roboto Mono" panose="00000009000000000000" pitchFamily="50" charset="0"/>
              </a:rPr>
              <a:t>    </a:t>
            </a:r>
            <a:r>
              <a:rPr kumimoji="0" lang="de-DE" altLang="de-DE" sz="1900" b="0" i="0" u="none" strike="noStrike" cap="none" normalizeH="0" baseline="0" dirty="0">
                <a:ln>
                  <a:noFill/>
                </a:ln>
                <a:solidFill>
                  <a:srgbClr val="808080"/>
                </a:solidFill>
                <a:effectLst/>
                <a:latin typeface="Roboto Mono" panose="00000009000000000000" pitchFamily="50" charset="0"/>
              </a:rPr>
              <a:t>// Die Befehle werden </a:t>
            </a:r>
            <a:r>
              <a:rPr kumimoji="0" lang="de-DE" altLang="de-DE" sz="1900" b="0" i="0" u="none" strike="noStrike" cap="none" normalizeH="0" baseline="0" dirty="0">
                <a:ln>
                  <a:noFill/>
                </a:ln>
                <a:solidFill>
                  <a:srgbClr val="507874"/>
                </a:solidFill>
                <a:effectLst/>
                <a:latin typeface="Roboto Mono" panose="00000009000000000000" pitchFamily="50" charset="0"/>
              </a:rPr>
              <a:t>{</a:t>
            </a:r>
            <a:r>
              <a:rPr kumimoji="0" lang="de-DE" altLang="de-DE" sz="1900" b="0" i="0" u="none" strike="noStrike" cap="none" normalizeH="0" baseline="0" dirty="0">
                <a:ln>
                  <a:noFill/>
                </a:ln>
                <a:solidFill>
                  <a:srgbClr val="808080"/>
                </a:solidFill>
                <a:effectLst/>
                <a:latin typeface="Roboto Mono" panose="00000009000000000000" pitchFamily="50" charset="0"/>
              </a:rPr>
              <a:t>in geschweifte Klammern</a:t>
            </a:r>
            <a:r>
              <a:rPr kumimoji="0" lang="de-DE" altLang="de-DE" sz="1900" b="0" i="0" u="none" strike="noStrike" cap="none" normalizeH="0" baseline="0" dirty="0">
                <a:ln>
                  <a:noFill/>
                </a:ln>
                <a:solidFill>
                  <a:srgbClr val="507874"/>
                </a:solidFill>
                <a:effectLst/>
                <a:latin typeface="Roboto Mono" panose="00000009000000000000" pitchFamily="50" charset="0"/>
              </a:rPr>
              <a:t>}</a:t>
            </a:r>
            <a:r>
              <a:rPr kumimoji="0" lang="de-DE" altLang="de-DE" sz="1900" b="0" i="0" u="none" strike="noStrike" cap="none" normalizeH="0" baseline="0" dirty="0">
                <a:ln>
                  <a:noFill/>
                </a:ln>
                <a:solidFill>
                  <a:srgbClr val="808080"/>
                </a:solidFill>
                <a:effectLst/>
                <a:latin typeface="Roboto Mono" panose="00000009000000000000" pitchFamily="50" charset="0"/>
              </a:rPr>
              <a:t> geschrieben.</a:t>
            </a:r>
            <a:br>
              <a:rPr kumimoji="0" lang="de-DE" altLang="de-DE" sz="1900" b="0" i="0" u="none" strike="noStrike" cap="none" normalizeH="0" baseline="0" dirty="0">
                <a:ln>
                  <a:noFill/>
                </a:ln>
                <a:solidFill>
                  <a:srgbClr val="808080"/>
                </a:solidFill>
                <a:effectLst/>
                <a:latin typeface="Roboto Mono" panose="00000009000000000000" pitchFamily="50" charset="0"/>
              </a:rPr>
            </a:br>
            <a:r>
              <a:rPr kumimoji="0" lang="de-DE" altLang="de-DE" sz="1900" b="0" i="0" u="none" strike="noStrike" cap="none" normalizeH="0" baseline="0" dirty="0">
                <a:ln>
                  <a:noFill/>
                </a:ln>
                <a:solidFill>
                  <a:srgbClr val="808080"/>
                </a:solidFill>
                <a:effectLst/>
                <a:latin typeface="Roboto Mono" panose="00000009000000000000" pitchFamily="50" charset="0"/>
              </a:rPr>
              <a:t>    </a:t>
            </a:r>
            <a:r>
              <a:rPr kumimoji="0" lang="de-DE" altLang="de-DE" sz="1900" b="0" i="0" u="none" strike="noStrike" cap="none" normalizeH="0" baseline="0" dirty="0" err="1">
                <a:ln>
                  <a:noFill/>
                </a:ln>
                <a:solidFill>
                  <a:srgbClr val="5FB1DA"/>
                </a:solidFill>
                <a:effectLst/>
                <a:latin typeface="Roboto Mono" panose="00000009000000000000" pitchFamily="50" charset="0"/>
              </a:rPr>
              <a:t>System</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1" u="none" strike="noStrike" cap="none" normalizeH="0" baseline="0" dirty="0" err="1">
                <a:ln>
                  <a:noFill/>
                </a:ln>
                <a:solidFill>
                  <a:srgbClr val="9876AA"/>
                </a:solidFill>
                <a:effectLst/>
                <a:latin typeface="Roboto Mono" panose="00000009000000000000" pitchFamily="50" charset="0"/>
              </a:rPr>
              <a:t>out</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println</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6A8759"/>
                </a:solidFill>
                <a:effectLst/>
                <a:latin typeface="Roboto Mono" panose="00000009000000000000" pitchFamily="50" charset="0"/>
              </a:rPr>
              <a:t>"Okay!"</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CC7E47"/>
                </a:solidFill>
                <a:effectLst/>
                <a:latin typeface="Roboto Mono" panose="00000009000000000000" pitchFamily="50" charset="0"/>
              </a:rPr>
              <a:t>;</a:t>
            </a:r>
            <a:br>
              <a:rPr kumimoji="0" lang="de-DE" altLang="de-DE" sz="1900" b="0" i="0" u="none" strike="noStrike" cap="none" normalizeH="0" baseline="0" dirty="0">
                <a:ln>
                  <a:noFill/>
                </a:ln>
                <a:solidFill>
                  <a:srgbClr val="CC7E47"/>
                </a:solidFill>
                <a:effectLst/>
                <a:latin typeface="Roboto Mono" panose="00000009000000000000" pitchFamily="50" charset="0"/>
              </a:rPr>
            </a:br>
            <a:r>
              <a:rPr kumimoji="0" lang="de-DE" altLang="de-DE" sz="1900" b="0" i="0" u="none" strike="noStrike" cap="none" normalizeH="0" baseline="0" dirty="0">
                <a:ln>
                  <a:noFill/>
                </a:ln>
                <a:solidFill>
                  <a:srgbClr val="CC7E47"/>
                </a:solidFill>
                <a:effectLst/>
                <a:latin typeface="Roboto Mono" panose="00000009000000000000" pitchFamily="50" charset="0"/>
              </a:rPr>
              <a:t>    </a:t>
            </a:r>
            <a:r>
              <a:rPr kumimoji="0" lang="de-DE" altLang="de-DE" sz="1900" b="0" i="0" u="none" strike="noStrike" cap="none" normalizeH="0" baseline="0" dirty="0" err="1">
                <a:ln>
                  <a:noFill/>
                </a:ln>
                <a:solidFill>
                  <a:srgbClr val="5FB1DA"/>
                </a:solidFill>
                <a:effectLst/>
                <a:latin typeface="Roboto Mono" panose="00000009000000000000" pitchFamily="50" charset="0"/>
              </a:rPr>
              <a:t>System</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1" u="none" strike="noStrike" cap="none" normalizeH="0" baseline="0" dirty="0" err="1">
                <a:ln>
                  <a:noFill/>
                </a:ln>
                <a:solidFill>
                  <a:srgbClr val="9876AA"/>
                </a:solidFill>
                <a:effectLst/>
                <a:latin typeface="Roboto Mono" panose="00000009000000000000" pitchFamily="50" charset="0"/>
              </a:rPr>
              <a:t>out</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println</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err="1">
                <a:ln>
                  <a:noFill/>
                </a:ln>
                <a:solidFill>
                  <a:srgbClr val="A9B7C6"/>
                </a:solidFill>
                <a:effectLst/>
                <a:latin typeface="Roboto Mono" panose="00000009000000000000" pitchFamily="50" charset="0"/>
              </a:rPr>
              <a:t>scanner</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CC7E47"/>
                </a:solidFill>
                <a:effectLst/>
                <a:latin typeface="Roboto Mono" panose="00000009000000000000" pitchFamily="50" charset="0"/>
              </a:rPr>
              <a:t>;</a:t>
            </a:r>
            <a:br>
              <a:rPr kumimoji="0" lang="de-DE" altLang="de-DE" sz="1900" b="0" i="0" u="none" strike="noStrike" cap="none" normalizeH="0" baseline="0" dirty="0">
                <a:ln>
                  <a:noFill/>
                </a:ln>
                <a:solidFill>
                  <a:srgbClr val="CC7E47"/>
                </a:solidFill>
                <a:effectLst/>
                <a:latin typeface="Roboto Mono" panose="00000009000000000000" pitchFamily="50" charset="0"/>
              </a:rPr>
            </a:br>
            <a:r>
              <a:rPr kumimoji="0" lang="de-DE" altLang="de-DE" sz="1900" b="0" i="0" u="none" strike="noStrike" cap="none" normalizeH="0" baseline="0" dirty="0">
                <a:ln>
                  <a:noFill/>
                </a:ln>
                <a:solidFill>
                  <a:srgbClr val="507874"/>
                </a:solidFill>
                <a:effectLst/>
                <a:latin typeface="Roboto Mono" panose="00000009000000000000" pitchFamily="50" charset="0"/>
              </a:rPr>
              <a:t>}</a:t>
            </a:r>
            <a:endParaRPr lang="de-DE" dirty="0"/>
          </a:p>
          <a:p>
            <a:r>
              <a:rPr lang="de-DE" dirty="0"/>
              <a:t>Blöcke gruppieren mehrere Befehle zusammen.</a:t>
            </a:r>
          </a:p>
          <a:p>
            <a:r>
              <a:rPr lang="de-DE" dirty="0"/>
              <a:t>Jede Methode ist ein Block.</a:t>
            </a:r>
          </a:p>
          <a:p>
            <a:r>
              <a:rPr lang="de-DE" dirty="0"/>
              <a:t>Alle Variablen innerhalb eines Blocks sind nach dessen Ausführung weg.</a:t>
            </a:r>
          </a:p>
          <a:p>
            <a:pPr lvl="1"/>
            <a:r>
              <a:rPr lang="de-DE" dirty="0"/>
              <a:t>Achtung: Das betrifft nur die Variablen, weil sie nicht mehr verwendet werden. Objekte innerhalb der Variablen, die noch von woanders im Programm (zum Beispiel in einer Attributvariable der Klasse) </a:t>
            </a:r>
            <a:r>
              <a:rPr lang="de-DE" dirty="0">
                <a:solidFill>
                  <a:srgbClr val="FFCCFF"/>
                </a:solidFill>
              </a:rPr>
              <a:t>referenziert</a:t>
            </a:r>
            <a:r>
              <a:rPr lang="de-DE" dirty="0"/>
              <a:t> werden, werden nicht gelöscht.</a:t>
            </a:r>
          </a:p>
        </p:txBody>
      </p:sp>
      <p:pic>
        <p:nvPicPr>
          <p:cNvPr id="4" name="Graphic 3" descr="Document with solid fill">
            <a:extLst>
              <a:ext uri="{FF2B5EF4-FFF2-40B4-BE49-F238E27FC236}">
                <a16:creationId xmlns:a16="http://schemas.microsoft.com/office/drawing/2014/main" id="{C6C1D0E8-247F-4BB0-BEC6-9BD05CF3A0B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108369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05940-8FE9-4115-BA85-14F905D0627D}"/>
              </a:ext>
            </a:extLst>
          </p:cNvPr>
          <p:cNvSpPr>
            <a:spLocks noGrp="1"/>
          </p:cNvSpPr>
          <p:nvPr>
            <p:ph type="title"/>
          </p:nvPr>
        </p:nvSpPr>
        <p:spPr/>
        <p:txBody>
          <a:bodyPr/>
          <a:lstStyle/>
          <a:p>
            <a:r>
              <a:rPr lang="de-DE" dirty="0"/>
              <a:t>Beispiele für Blöcke</a:t>
            </a:r>
          </a:p>
        </p:txBody>
      </p:sp>
      <p:sp>
        <p:nvSpPr>
          <p:cNvPr id="3" name="Content Placeholder 2">
            <a:extLst>
              <a:ext uri="{FF2B5EF4-FFF2-40B4-BE49-F238E27FC236}">
                <a16:creationId xmlns:a16="http://schemas.microsoft.com/office/drawing/2014/main" id="{D70E6E16-AC19-4B72-88A7-ED4587647F92}"/>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i="0" u="none" strike="noStrike" cap="none" normalizeH="0" baseline="0" dirty="0">
                <a:ln>
                  <a:noFill/>
                </a:ln>
                <a:solidFill>
                  <a:srgbClr val="5FB1DA"/>
                </a:solidFill>
                <a:effectLst/>
                <a:latin typeface="Roboto Mono" panose="00000009000000000000" pitchFamily="50" charset="0"/>
              </a:rPr>
              <a:t>Scanner</a:t>
            </a:r>
            <a:r>
              <a:rPr kumimoji="0" lang="de-DE" altLang="de-DE" sz="1800" b="0" i="0" u="none" strike="noStrike" cap="none" normalizeH="0" baseline="0" dirty="0">
                <a:ln>
                  <a:noFill/>
                </a:ln>
                <a:solidFill>
                  <a:srgbClr val="5FB1DA"/>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"Mach mir nach, bis ich stopp sage."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"Okay, mache ich."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00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"stopp"</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"Okay, ich höre auf."</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break;</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00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FFFF"/>
                </a:highlight>
                <a:latin typeface="Roboto Mono" panose="00000009000000000000" pitchFamily="50" charset="0"/>
              </a:rPr>
              <a:t>}</a:t>
            </a:r>
            <a:endParaRPr kumimoji="0" lang="de-DE" altLang="de-DE" sz="4000" b="0" i="0" u="none" strike="noStrike" cap="none" normalizeH="0" baseline="0" dirty="0">
              <a:ln>
                <a:noFill/>
              </a:ln>
              <a:solidFill>
                <a:schemeClr val="tx1"/>
              </a:solidFill>
              <a:effectLst/>
              <a:highlight>
                <a:srgbClr val="00FFFF"/>
              </a:highlight>
              <a:latin typeface="Roboto Mono" panose="00000009000000000000" pitchFamily="50" charset="0"/>
            </a:endParaRPr>
          </a:p>
        </p:txBody>
      </p:sp>
      <p:pic>
        <p:nvPicPr>
          <p:cNvPr id="5" name="Graphic 4" descr="Lightbulb with solid fill">
            <a:extLst>
              <a:ext uri="{FF2B5EF4-FFF2-40B4-BE49-F238E27FC236}">
                <a16:creationId xmlns:a16="http://schemas.microsoft.com/office/drawing/2014/main" id="{8947EBC6-4C11-4EDD-A787-FC8D2CFC7BB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526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E4040F-DA6C-4632-BB2C-AC920BE84EC6}"/>
              </a:ext>
            </a:extLst>
          </p:cNvPr>
          <p:cNvSpPr>
            <a:spLocks noGrp="1"/>
          </p:cNvSpPr>
          <p:nvPr>
            <p:ph type="title"/>
          </p:nvPr>
        </p:nvSpPr>
        <p:spPr/>
        <p:txBody>
          <a:bodyPr/>
          <a:lstStyle/>
          <a:p>
            <a:r>
              <a:rPr lang="de-DE" dirty="0"/>
              <a:t>Arten von Variablen</a:t>
            </a:r>
          </a:p>
        </p:txBody>
      </p:sp>
      <p:graphicFrame>
        <p:nvGraphicFramePr>
          <p:cNvPr id="6" name="Tabelle 7">
            <a:extLst>
              <a:ext uri="{FF2B5EF4-FFF2-40B4-BE49-F238E27FC236}">
                <a16:creationId xmlns:a16="http://schemas.microsoft.com/office/drawing/2014/main" id="{2BF05063-F9F7-490C-A55E-58958302473C}"/>
              </a:ext>
            </a:extLst>
          </p:cNvPr>
          <p:cNvGraphicFramePr>
            <a:graphicFrameLocks noGrp="1"/>
          </p:cNvGraphicFramePr>
          <p:nvPr>
            <p:extLst>
              <p:ext uri="{D42A27DB-BD31-4B8C-83A1-F6EECF244321}">
                <p14:modId xmlns:p14="http://schemas.microsoft.com/office/powerpoint/2010/main" val="988169138"/>
              </p:ext>
            </p:extLst>
          </p:nvPr>
        </p:nvGraphicFramePr>
        <p:xfrm>
          <a:off x="838200" y="1684656"/>
          <a:ext cx="10515600" cy="464280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4163030904"/>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latin typeface="IBM Plex Sans" panose="020B0503050203000203" pitchFamily="34" charset="0"/>
                        </a:rPr>
                        <a:t>Lokale 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eines Blocks.</a:t>
                      </a:r>
                    </a:p>
                    <a:p>
                      <a:r>
                        <a:rPr lang="de-DE" u="none" dirty="0">
                          <a:solidFill>
                            <a:schemeClr val="tx1"/>
                          </a:solidFill>
                          <a:latin typeface="IBM Plex Sans" panose="020B0503050203000203" pitchFamily="34" charset="0"/>
                        </a:rPr>
                        <a:t>(Methoden sind auch ein Block)</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Um die kleinste Zahl aus einem Array zu finden, verwenden wir eine Schleife. Wir speichern dabei immer die aktuell kleinste 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Attribut / Instanzvariable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einer Klasse. Sie wird für jedes Objekt einmal gespeichert.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 „Baum“ könnte das Attribut „Höhe“ haben. Jeder Baum hat eine andere Höhe.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latin typeface="IBM Plex Sans" panose="020B0503050203000203" pitchFamily="34" charset="0"/>
                        </a:rPr>
                        <a:t>Statische Variable / Klassenvariable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einer Klasse. Sie speichert, unabhängig vom Projekt, nur einen Wert.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Zahl </a:t>
                      </a:r>
                      <a:r>
                        <a:rPr lang="el-GR" u="none" dirty="0">
                          <a:solidFill>
                            <a:schemeClr val="tx1"/>
                          </a:solidFill>
                          <a:latin typeface="IBM Plex Sans" panose="020B0503050203000203" pitchFamily="34" charset="0"/>
                        </a:rPr>
                        <a:t>π</a:t>
                      </a:r>
                      <a:r>
                        <a:rPr lang="en-US" u="none" dirty="0">
                          <a:solidFill>
                            <a:schemeClr val="tx1"/>
                          </a:solidFill>
                        </a:rPr>
                        <a:t> </a:t>
                      </a:r>
                      <a:r>
                        <a:rPr lang="de-DE" u="none" dirty="0">
                          <a:solidFill>
                            <a:schemeClr val="tx1"/>
                          </a:solidFill>
                        </a:rPr>
                        <a:t>ist unabhängig vom Objekt immer gleich.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Parameter / Argument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die einer Methode übergeben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Methode „frag“ bekommt den Parameter „</a:t>
                      </a:r>
                      <a:r>
                        <a:rPr lang="de-DE" u="none" dirty="0" err="1">
                          <a:solidFill>
                            <a:schemeClr val="tx1"/>
                          </a:solidFill>
                          <a:latin typeface="IBM Plex Sans" panose="020B0503050203000203" pitchFamily="34" charset="0"/>
                        </a:rPr>
                        <a:t>text</a:t>
                      </a:r>
                      <a:r>
                        <a:rPr lang="de-DE" u="none" dirty="0">
                          <a:solidFill>
                            <a:schemeClr val="tx1"/>
                          </a:solidFill>
                        </a:rPr>
                        <a:t>“, um den Fragetext zu kennen.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5724485"/>
                  </a:ext>
                </a:extLst>
              </a:tr>
            </a:tbl>
          </a:graphicData>
        </a:graphic>
      </p:graphicFrame>
      <p:pic>
        <p:nvPicPr>
          <p:cNvPr id="4" name="Graphic 3" descr="Books with solid fill">
            <a:extLst>
              <a:ext uri="{FF2B5EF4-FFF2-40B4-BE49-F238E27FC236}">
                <a16:creationId xmlns:a16="http://schemas.microsoft.com/office/drawing/2014/main" id="{6F604223-4B41-4E4D-BA12-9B36AC49E40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809069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237F3-B2D5-45B7-B03C-3FB9FDD06107}"/>
              </a:ext>
            </a:extLst>
          </p:cNvPr>
          <p:cNvSpPr>
            <a:spLocks noGrp="1"/>
          </p:cNvSpPr>
          <p:nvPr>
            <p:ph type="title"/>
          </p:nvPr>
        </p:nvSpPr>
        <p:spPr/>
        <p:txBody>
          <a:bodyPr/>
          <a:lstStyle/>
          <a:p>
            <a:r>
              <a:rPr lang="de-DE" dirty="0"/>
              <a:t>Einlesen anderer Datentypen</a:t>
            </a:r>
          </a:p>
        </p:txBody>
      </p:sp>
      <p:sp>
        <p:nvSpPr>
          <p:cNvPr id="3" name="Text Placeholder 2">
            <a:extLst>
              <a:ext uri="{FF2B5EF4-FFF2-40B4-BE49-F238E27FC236}">
                <a16:creationId xmlns:a16="http://schemas.microsoft.com/office/drawing/2014/main" id="{701A31E4-337B-49B7-A908-E79304E5798C}"/>
              </a:ext>
            </a:extLst>
          </p:cNvPr>
          <p:cNvSpPr>
            <a:spLocks noGrp="1"/>
          </p:cNvSpPr>
          <p:nvPr>
            <p:ph type="body" idx="1"/>
          </p:nvPr>
        </p:nvSpPr>
        <p:spPr/>
        <p:txBody>
          <a:bodyPr>
            <a:normAutofit lnSpcReduction="10000"/>
          </a:bodyPr>
          <a:lstStyle/>
          <a:p>
            <a:pPr marL="0" indent="0">
              <a:buNone/>
            </a:pPr>
            <a:r>
              <a:rPr lang="de-DE" dirty="0"/>
              <a:t>Wir verwenden </a:t>
            </a:r>
            <a:r>
              <a:rPr kumimoji="0" lang="de-DE" altLang="de-DE" sz="2800" b="0" i="0" u="none" strike="noStrike" cap="none" normalizeH="0" baseline="0" dirty="0" err="1">
                <a:ln>
                  <a:noFill/>
                </a:ln>
                <a:solidFill>
                  <a:srgbClr val="A9B7C6"/>
                </a:solidFill>
                <a:effectLst/>
                <a:latin typeface="Roboto Mono" panose="00000009000000000000" pitchFamily="50" charset="0"/>
              </a:rPr>
              <a:t>scanner</a:t>
            </a:r>
            <a:r>
              <a:rPr kumimoji="0" lang="de-DE" altLang="de-DE" sz="2800" b="0" i="0" u="none" strike="noStrike" cap="none" normalizeH="0" baseline="0" dirty="0" err="1">
                <a:ln>
                  <a:noFill/>
                </a:ln>
                <a:solidFill>
                  <a:srgbClr val="AC91E3"/>
                </a:solidFill>
                <a:effectLst/>
                <a:latin typeface="Roboto Mono" panose="00000009000000000000" pitchFamily="50" charset="0"/>
              </a:rPr>
              <a:t>.</a:t>
            </a:r>
            <a:r>
              <a:rPr kumimoji="0" lang="de-DE" altLang="de-DE" sz="2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2800" b="0" i="0" u="none" strike="noStrike" cap="none" normalizeH="0" baseline="0" dirty="0">
                <a:ln>
                  <a:noFill/>
                </a:ln>
                <a:solidFill>
                  <a:srgbClr val="B0BA8C"/>
                </a:solidFill>
                <a:effectLst/>
                <a:latin typeface="Roboto Mono" panose="00000009000000000000" pitchFamily="50" charset="0"/>
              </a:rPr>
              <a:t>()</a:t>
            </a:r>
            <a:r>
              <a:rPr lang="de-DE" dirty="0"/>
              <a:t>, um einen String einzulesen. Es können aber auch andere Datentypen eingelesen werden: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nextInt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indent="0">
              <a:buNone/>
            </a:pPr>
            <a:r>
              <a:rPr lang="de-DE" dirty="0"/>
              <a:t>Allerdings wird eine </a:t>
            </a:r>
            <a:r>
              <a:rPr lang="de-DE" dirty="0" err="1">
                <a:solidFill>
                  <a:srgbClr val="5FB1DA"/>
                </a:solidFill>
                <a:latin typeface="Roboto Mono" panose="00000009000000000000" pitchFamily="50" charset="0"/>
                <a:hlinkClick r:id="rId2" action="ppaction://hlinksldjump">
                  <a:extLst>
                    <a:ext uri="{A12FA001-AC4F-418D-AE19-62706E023703}">
                      <ahyp:hlinkClr xmlns:ahyp="http://schemas.microsoft.com/office/drawing/2018/hyperlinkcolor" val="tx"/>
                    </a:ext>
                  </a:extLst>
                </a:hlinkClick>
              </a:rPr>
              <a:t>InputMismatchException</a:t>
            </a:r>
            <a:r>
              <a:rPr lang="de-DE" dirty="0"/>
              <a:t> geworfen, wenn die Eingabe nicht dem Datentypen entspricht. Daher sollten wir vor dem Einlesen mit Hilfe einer Schleife auf den richtigen Datentyp warten: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hasNextInt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Solange die Eingabe kein </a:t>
            </a:r>
            <a:r>
              <a:rPr kumimoji="0" lang="de-DE" altLang="de-DE" sz="1800" b="0" i="0" u="none" strike="noStrike" cap="none" normalizeH="0" baseline="0" dirty="0" err="1">
                <a:ln>
                  <a:noFill/>
                </a:ln>
                <a:solidFill>
                  <a:srgbClr val="808080"/>
                </a:solidFill>
                <a:effectLst/>
                <a:latin typeface="Roboto Mono" panose="00000009000000000000" pitchFamily="50" charset="0"/>
              </a:rPr>
              <a:t>int</a:t>
            </a:r>
            <a:r>
              <a:rPr kumimoji="0" lang="de-DE" altLang="de-DE" sz="1800" b="0" i="0" u="none" strike="noStrike" cap="none" normalizeH="0" baseline="0" dirty="0">
                <a:ln>
                  <a:noFill/>
                </a:ln>
                <a:solidFill>
                  <a:srgbClr val="808080"/>
                </a:solidFill>
                <a:effectLst/>
                <a:latin typeface="Roboto Mono" panose="00000009000000000000" pitchFamily="50" charset="0"/>
              </a:rPr>
              <a:t> ist: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Überspringe die Eingabe.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"Bitte gib einen </a:t>
            </a:r>
            <a:r>
              <a:rPr kumimoji="0" lang="de-DE" altLang="de-DE" sz="1800" b="0" i="0" u="none" strike="noStrike" cap="none" normalizeH="0" baseline="0" dirty="0" err="1">
                <a:ln>
                  <a:noFill/>
                </a:ln>
                <a:solidFill>
                  <a:srgbClr val="6A8759"/>
                </a:solidFill>
                <a:effectLst/>
                <a:latin typeface="Roboto Mono" panose="00000009000000000000" pitchFamily="50" charset="0"/>
              </a:rPr>
              <a:t>int</a:t>
            </a:r>
            <a:r>
              <a:rPr kumimoji="0" lang="de-DE" altLang="de-DE" sz="1800" b="0" i="0" u="none" strike="noStrike" cap="none" normalizeH="0" baseline="0" dirty="0">
                <a:ln>
                  <a:noFill/>
                </a:ln>
                <a:solidFill>
                  <a:srgbClr val="6A8759"/>
                </a:solidFill>
                <a:effectLst/>
                <a:latin typeface="Roboto Mono" panose="00000009000000000000" pitchFamily="50" charset="0"/>
              </a:rPr>
              <a:t> ein."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nextInt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F3276134-7D81-475F-A047-89E383A0FB7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5459740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08C512-05F2-405A-A241-3B8D71978BE4}"/>
              </a:ext>
            </a:extLst>
          </p:cNvPr>
          <p:cNvSpPr>
            <a:spLocks noGrp="1"/>
          </p:cNvSpPr>
          <p:nvPr>
            <p:ph type="title"/>
          </p:nvPr>
        </p:nvSpPr>
        <p:spPr/>
        <p:txBody>
          <a:bodyPr/>
          <a:lstStyle/>
          <a:p>
            <a:r>
              <a:rPr lang="de-DE" dirty="0"/>
              <a:t>Problem: Alle Geschichten ausgeben</a:t>
            </a:r>
          </a:p>
        </p:txBody>
      </p:sp>
      <p:sp>
        <p:nvSpPr>
          <p:cNvPr id="3" name="Inhaltsplatzhalter 2">
            <a:extLst>
              <a:ext uri="{FF2B5EF4-FFF2-40B4-BE49-F238E27FC236}">
                <a16:creationId xmlns:a16="http://schemas.microsoft.com/office/drawing/2014/main" id="{6974EFE9-EB0B-4955-AD30-E849B059ACEB}"/>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Deklariere ganze Zahl i. (Sie steht für den Index der aktuellen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Solange die Anzahl der Geschichten nicht erreicht ist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Gib die aktuelle Geschichte aus.</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Erhöhe den Index um 1.</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Puzzle pieces with solid fill">
            <a:extLst>
              <a:ext uri="{FF2B5EF4-FFF2-40B4-BE49-F238E27FC236}">
                <a16:creationId xmlns:a16="http://schemas.microsoft.com/office/drawing/2014/main" id="{EA9C22C2-C70D-4394-B823-E54A17D4FE9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1239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1C8A3-F511-43F6-9E5F-13EB6958276C}"/>
              </a:ext>
            </a:extLst>
          </p:cNvPr>
          <p:cNvSpPr>
            <a:spLocks noGrp="1"/>
          </p:cNvSpPr>
          <p:nvPr>
            <p:ph type="title"/>
          </p:nvPr>
        </p:nvSpPr>
        <p:spPr/>
        <p:txBody>
          <a:bodyPr/>
          <a:lstStyle/>
          <a:p>
            <a:r>
              <a:rPr lang="de-DE" dirty="0"/>
              <a:t>Abkürzungen: Variablen verändern</a:t>
            </a:r>
          </a:p>
        </p:txBody>
      </p:sp>
      <p:graphicFrame>
        <p:nvGraphicFramePr>
          <p:cNvPr id="8" name="Tabelle 3">
            <a:extLst>
              <a:ext uri="{FF2B5EF4-FFF2-40B4-BE49-F238E27FC236}">
                <a16:creationId xmlns:a16="http://schemas.microsoft.com/office/drawing/2014/main" id="{98228517-973D-4C8E-B995-EE84A5096E88}"/>
              </a:ext>
            </a:extLst>
          </p:cNvPr>
          <p:cNvGraphicFramePr>
            <a:graphicFrameLocks noGrp="1"/>
          </p:cNvGraphicFramePr>
          <p:nvPr>
            <p:extLst>
              <p:ext uri="{D42A27DB-BD31-4B8C-83A1-F6EECF244321}">
                <p14:modId xmlns:p14="http://schemas.microsoft.com/office/powerpoint/2010/main" val="2923023981"/>
              </p:ext>
            </p:extLst>
          </p:nvPr>
        </p:nvGraphicFramePr>
        <p:xfrm>
          <a:off x="838200" y="1825625"/>
          <a:ext cx="10515600" cy="2619378"/>
        </p:xfrm>
        <a:graphic>
          <a:graphicData uri="http://schemas.openxmlformats.org/drawingml/2006/table">
            <a:tbl>
              <a:tblPr firstRow="1" bandRow="1">
                <a:tableStyleId>{5C22544A-7EE6-4342-B048-85BDC9FD1C3A}</a:tableStyleId>
              </a:tblPr>
              <a:tblGrid>
                <a:gridCol w="2315106">
                  <a:extLst>
                    <a:ext uri="{9D8B030D-6E8A-4147-A177-3AD203B41FA5}">
                      <a16:colId xmlns:a16="http://schemas.microsoft.com/office/drawing/2014/main" val="340987855"/>
                    </a:ext>
                  </a:extLst>
                </a:gridCol>
                <a:gridCol w="4100247">
                  <a:extLst>
                    <a:ext uri="{9D8B030D-6E8A-4147-A177-3AD203B41FA5}">
                      <a16:colId xmlns:a16="http://schemas.microsoft.com/office/drawing/2014/main" val="3238039161"/>
                    </a:ext>
                  </a:extLst>
                </a:gridCol>
                <a:gridCol w="4100247">
                  <a:extLst>
                    <a:ext uri="{9D8B030D-6E8A-4147-A177-3AD203B41FA5}">
                      <a16:colId xmlns:a16="http://schemas.microsoft.com/office/drawing/2014/main" val="366124274"/>
                    </a:ext>
                  </a:extLst>
                </a:gridCol>
              </a:tblGrid>
              <a:tr h="436563">
                <a:tc>
                  <a:txBody>
                    <a:bodyPr/>
                    <a:lstStyle/>
                    <a:p>
                      <a:r>
                        <a:rPr lang="de-DE" dirty="0">
                          <a:solidFill>
                            <a:schemeClr val="tx1"/>
                          </a:solidFill>
                          <a:latin typeface="IBM Plex Sans" panose="020B0503050203000203" pitchFamily="34" charset="0"/>
                        </a:rPr>
                        <a:t>Abkürzung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Langform</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Erhöhe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lang="de-DE" b="0" i="0"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Verzweifache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gridSpan="3">
                  <a:txBody>
                    <a:bodyPr/>
                    <a:lstStyle/>
                    <a:p>
                      <a:r>
                        <a:rPr lang="de-DE" b="0" i="0" u="none" dirty="0">
                          <a:solidFill>
                            <a:schemeClr val="tx1"/>
                          </a:solidFill>
                          <a:latin typeface="IBM Plex Sans" panose="020B0503050203000203" pitchFamily="34" charset="0"/>
                        </a:rPr>
                        <a:t>Das funktioniert auch für andere Operatoren, z.B. Minus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latin typeface="IBM Plex Sans" panose="020B0503050203000203" pitchFamily="34" charset="0"/>
                        </a:rPr>
                        <a:t>), Geteilt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rPr>
                        <a:t>), Teiler Rest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Erhöhe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Verringere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bl>
          </a:graphicData>
        </a:graphic>
      </p:graphicFrame>
      <p:pic>
        <p:nvPicPr>
          <p:cNvPr id="4" name="Graphic 3" descr="Books with solid fill">
            <a:extLst>
              <a:ext uri="{FF2B5EF4-FFF2-40B4-BE49-F238E27FC236}">
                <a16:creationId xmlns:a16="http://schemas.microsoft.com/office/drawing/2014/main" id="{E8814FF6-71F6-4945-A0D3-09435E0D2E7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612069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84393-D9C8-4E02-8E00-1003A64EACE4}"/>
              </a:ext>
            </a:extLst>
          </p:cNvPr>
          <p:cNvSpPr>
            <a:spLocks noGrp="1"/>
          </p:cNvSpPr>
          <p:nvPr>
            <p:ph type="title"/>
          </p:nvPr>
        </p:nvSpPr>
        <p:spPr/>
        <p:txBody>
          <a:bodyPr/>
          <a:lstStyle/>
          <a:p>
            <a:r>
              <a:rPr lang="de-DE" dirty="0" err="1"/>
              <a:t>for</a:t>
            </a:r>
            <a:r>
              <a:rPr lang="de-DE" dirty="0"/>
              <a:t>-Schleife</a:t>
            </a:r>
          </a:p>
        </p:txBody>
      </p:sp>
      <p:sp>
        <p:nvSpPr>
          <p:cNvPr id="3" name="Content Placeholder 2">
            <a:extLst>
              <a:ext uri="{FF2B5EF4-FFF2-40B4-BE49-F238E27FC236}">
                <a16:creationId xmlns:a16="http://schemas.microsoft.com/office/drawing/2014/main" id="{C63925AF-84AA-401F-9E72-65476754730A}"/>
              </a:ext>
            </a:extLst>
          </p:cNvPr>
          <p:cNvSpPr>
            <a:spLocks noGrp="1"/>
          </p:cNvSpPr>
          <p:nvPr>
            <p:ph idx="1"/>
          </p:nvPr>
        </p:nvSpPr>
        <p:spPr/>
        <p:txBody>
          <a:bodyPr>
            <a:normAutofit lnSpcReduction="10000"/>
          </a:bodyPr>
          <a:lstStyle/>
          <a:p>
            <a:pPr marL="0" indent="0">
              <a:buNone/>
            </a:pPr>
            <a:r>
              <a:rPr lang="de-DE" dirty="0"/>
              <a:t>Diese </a:t>
            </a:r>
            <a:r>
              <a:rPr lang="de-DE" dirty="0" err="1"/>
              <a:t>while</a:t>
            </a:r>
            <a:r>
              <a:rPr lang="de-DE" dirty="0"/>
              <a:t>-Schleife gibt die Zahlen von 0 (inkl.) bis 20 (exkl.) aus.</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 &lt;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20</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br>
            <a:br>
              <a:rPr lang="de-DE" dirty="0"/>
            </a:br>
            <a:r>
              <a:rPr lang="de-DE" dirty="0"/>
              <a:t>Diese </a:t>
            </a:r>
            <a:r>
              <a:rPr lang="de-DE" dirty="0" err="1"/>
              <a:t>for</a:t>
            </a:r>
            <a:r>
              <a:rPr lang="de-DE" dirty="0"/>
              <a:t>-Schleife tut das auch.</a:t>
            </a:r>
            <a:endParaRPr lang="de-DE" dirty="0">
              <a:solidFill>
                <a:srgbClr val="507874"/>
              </a:solidFill>
              <a:latin typeface="Roboto Mono" panose="00000009000000000000" pitchFamily="50" charset="0"/>
              <a:cs typeface="Courier New" panose="02070309020205020404" pitchFamily="49" charset="0"/>
            </a:endParaRP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 =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 &lt;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20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endPar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endParaRPr>
          </a:p>
          <a:p>
            <a:pPr marL="0" indent="0">
              <a:buNone/>
            </a:pPr>
            <a:r>
              <a:rPr lang="de-DE" dirty="0" err="1"/>
              <a:t>for</a:t>
            </a:r>
            <a:r>
              <a:rPr lang="de-DE" dirty="0"/>
              <a:t>-Schleifen können verwendet werden, um zu zählen. Aufbau:</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&lt;Deklaration &amp; Initialisierung&gt;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&lt;Bedingung&gt;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&lt;Schritt&gt;</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&lt;Befehl&gt;</a:t>
            </a:r>
            <a:endParaRPr lang="de-DE" sz="1800" dirty="0">
              <a:solidFill>
                <a:srgbClr val="808080"/>
              </a:solidFill>
              <a:latin typeface="Roboto Mono" panose="00000009000000000000" pitchFamily="50" charset="0"/>
              <a:cs typeface="Courier New" panose="02070309020205020404" pitchFamily="49" charset="0"/>
            </a:endParaRPr>
          </a:p>
          <a:p>
            <a:pPr marL="0" indent="0">
              <a:buNone/>
            </a:pPr>
            <a:endParaRPr kumimoji="0" lang="de-DE" altLang="de-DE" sz="4000" b="0" i="0" u="none" strike="noStrike" cap="none" normalizeH="0" baseline="0" dirty="0">
              <a:ln>
                <a:noFill/>
              </a:ln>
              <a:solidFill>
                <a:schemeClr val="tx1"/>
              </a:solidFill>
              <a:effectLst/>
              <a:latin typeface="Roboto Mono" panose="00000009000000000000" pitchFamily="50" charset="0"/>
              <a:cs typeface="Courier New" panose="02070309020205020404" pitchFamily="49" charset="0"/>
            </a:endParaRPr>
          </a:p>
        </p:txBody>
      </p:sp>
      <p:pic>
        <p:nvPicPr>
          <p:cNvPr id="4" name="Graphic 3" descr="Document with solid fill">
            <a:extLst>
              <a:ext uri="{FF2B5EF4-FFF2-40B4-BE49-F238E27FC236}">
                <a16:creationId xmlns:a16="http://schemas.microsoft.com/office/drawing/2014/main" id="{44EB226D-45E7-4869-925D-970CDA2F1F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02655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C6C83D-0E36-41C1-9CF3-1047F0F7CFBC}"/>
              </a:ext>
            </a:extLst>
          </p:cNvPr>
          <p:cNvSpPr>
            <a:spLocks noGrp="1"/>
          </p:cNvSpPr>
          <p:nvPr>
            <p:ph type="title"/>
          </p:nvPr>
        </p:nvSpPr>
        <p:spPr/>
        <p:txBody>
          <a:bodyPr/>
          <a:lstStyle/>
          <a:p>
            <a:r>
              <a:rPr lang="de-DE" dirty="0"/>
              <a:t>Kontrolle von Schleifen</a:t>
            </a:r>
          </a:p>
        </p:txBody>
      </p:sp>
      <p:sp>
        <p:nvSpPr>
          <p:cNvPr id="3" name="Inhaltsplatzhalter 2">
            <a:extLst>
              <a:ext uri="{FF2B5EF4-FFF2-40B4-BE49-F238E27FC236}">
                <a16:creationId xmlns:a16="http://schemas.microsoft.com/office/drawing/2014/main" id="{33559C98-306D-4EBC-85B8-867C4C2E8783}"/>
              </a:ext>
            </a:extLst>
          </p:cNvPr>
          <p:cNvSpPr>
            <a:spLocks noGrp="1"/>
          </p:cNvSpPr>
          <p:nvPr>
            <p:ph idx="1"/>
          </p:nvPr>
        </p:nvSpPr>
        <p:spPr>
          <a:xfrm>
            <a:off x="838200" y="1825625"/>
            <a:ext cx="10515600" cy="4544490"/>
          </a:xfrm>
        </p:spPr>
        <p:txBody>
          <a:bodyPr>
            <a:normAutofit fontScale="62500" lnSpcReduction="20000"/>
          </a:bodyPr>
          <a:lstStyle/>
          <a:p>
            <a:r>
              <a:rPr kumimoji="0" lang="de-DE" altLang="de-DE" sz="2800" b="0" i="0" u="none" strike="noStrike" cap="none" normalizeH="0" baseline="0" dirty="0">
                <a:ln>
                  <a:noFill/>
                </a:ln>
                <a:effectLst/>
              </a:rPr>
              <a:t>"</a:t>
            </a:r>
            <a:r>
              <a:rPr kumimoji="0" lang="de-DE" altLang="de-DE" sz="2800" b="0" i="0" u="none" strike="noStrike" cap="none" normalizeH="0" baseline="0" dirty="0">
                <a:ln>
                  <a:noFill/>
                </a:ln>
                <a:solidFill>
                  <a:srgbClr val="CC7E47"/>
                </a:solidFill>
                <a:effectLst/>
                <a:latin typeface="Roboto Mono" panose="00000009000000000000" pitchFamily="50" charset="0"/>
              </a:rPr>
              <a:t>break;</a:t>
            </a:r>
            <a:r>
              <a:rPr lang="de-DE" altLang="de-DE" dirty="0"/>
              <a:t>" </a:t>
            </a:r>
            <a:r>
              <a:rPr lang="de-DE" dirty="0"/>
              <a:t>bricht eine Schleife früher ab.</a:t>
            </a:r>
          </a:p>
          <a:p>
            <a:r>
              <a:rPr kumimoji="0" lang="de-DE" altLang="de-DE" sz="2800" b="0" i="0" u="none" strike="noStrike" cap="none" normalizeH="0" baseline="0" dirty="0">
                <a:ln>
                  <a:noFill/>
                </a:ln>
                <a:effectLst/>
              </a:rPr>
              <a:t>"</a:t>
            </a:r>
            <a:r>
              <a:rPr kumimoji="0" lang="de-DE" altLang="de-DE" sz="2800" b="0" i="0" u="none" strike="noStrike" cap="none" normalizeH="0" baseline="0" dirty="0" err="1">
                <a:ln>
                  <a:noFill/>
                </a:ln>
                <a:solidFill>
                  <a:srgbClr val="CC7E47"/>
                </a:solidFill>
                <a:effectLst/>
                <a:latin typeface="Roboto Mono" panose="00000009000000000000" pitchFamily="50" charset="0"/>
              </a:rPr>
              <a:t>continue</a:t>
            </a:r>
            <a:r>
              <a:rPr kumimoji="0" lang="de-DE" altLang="de-DE" sz="2800" b="0" i="0" u="none" strike="noStrike" cap="none" normalizeH="0" baseline="0" dirty="0">
                <a:ln>
                  <a:noFill/>
                </a:ln>
                <a:solidFill>
                  <a:srgbClr val="CC7E47"/>
                </a:solidFill>
                <a:effectLst/>
                <a:latin typeface="Roboto Mono" panose="00000009000000000000" pitchFamily="50" charset="0"/>
              </a:rPr>
              <a:t>;</a:t>
            </a:r>
            <a:r>
              <a:rPr lang="de-DE" altLang="de-DE" dirty="0"/>
              <a:t>" </a:t>
            </a:r>
            <a:r>
              <a:rPr lang="de-DE" dirty="0"/>
              <a:t>beendet die aktuelle </a:t>
            </a:r>
            <a:r>
              <a:rPr lang="de-DE" dirty="0">
                <a:solidFill>
                  <a:srgbClr val="FFCCFF"/>
                </a:solidFill>
              </a:rPr>
              <a:t>Iteration</a:t>
            </a:r>
            <a:r>
              <a:rPr lang="de-DE" dirty="0"/>
              <a:t> einer Schleife.</a:t>
            </a:r>
            <a:br>
              <a:rPr lang="de-DE" dirty="0"/>
            </a:b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2900" b="0" i="0" u="none" strike="noStrike" cap="none" normalizeH="0" baseline="0" dirty="0">
                <a:ln>
                  <a:noFill/>
                </a:ln>
                <a:solidFill>
                  <a:srgbClr val="5FB1DA"/>
                </a:solidFill>
                <a:effectLst/>
                <a:latin typeface="Roboto Mono" panose="00000009000000000000" pitchFamily="50" charset="0"/>
              </a:rPr>
              <a:t>String</a:t>
            </a:r>
            <a:r>
              <a:rPr kumimoji="0" lang="de-DE" altLang="de-DE" sz="2900" b="0" i="0" u="none" strike="noStrike" cap="none" normalizeH="0" baseline="0" dirty="0">
                <a:ln>
                  <a:noFill/>
                </a:ln>
                <a:solidFill>
                  <a:srgbClr val="8552D3"/>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a:ln>
                  <a:noFill/>
                </a:ln>
                <a:solidFill>
                  <a:srgbClr val="507874"/>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"Die Wahrheit."</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"Fake News!"</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"WOW!"</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"Oh nein."</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"Achtung, Wahrheit."</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"Was?"</a:t>
            </a:r>
            <a:r>
              <a:rPr kumimoji="0" lang="de-DE" altLang="de-DE" sz="2900" b="0" i="0" u="none" strike="noStrike" cap="none" normalizeH="0" baseline="0" dirty="0">
                <a:ln>
                  <a:noFill/>
                </a:ln>
                <a:solidFill>
                  <a:srgbClr val="507874"/>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808080"/>
                </a:solidFill>
                <a:effectLst/>
                <a:latin typeface="Roboto Mono" panose="00000009000000000000" pitchFamily="50" charset="0"/>
              </a:rPr>
              <a:t>// Zensiere wahre Neuigkeiten.</a:t>
            </a:r>
            <a:br>
              <a:rPr kumimoji="0" lang="de-DE" altLang="de-DE" sz="2900" b="0" i="0" u="none" strike="noStrike" cap="none" normalizeH="0" baseline="0" dirty="0">
                <a:ln>
                  <a:noFill/>
                </a:ln>
                <a:solidFill>
                  <a:srgbClr val="808080"/>
                </a:solidFill>
                <a:effectLst/>
                <a:latin typeface="Roboto Mono" panose="00000009000000000000" pitchFamily="50" charset="0"/>
              </a:rPr>
            </a:br>
            <a:r>
              <a:rPr kumimoji="0" lang="de-DE" altLang="de-DE" sz="2900" b="0" i="0" u="none" strike="noStrike" cap="none" normalizeH="0" baseline="0" dirty="0" err="1">
                <a:ln>
                  <a:noFill/>
                </a:ln>
                <a:solidFill>
                  <a:srgbClr val="CC7E47"/>
                </a:solidFill>
                <a:effectLst/>
                <a:latin typeface="Roboto Mono" panose="00000009000000000000" pitchFamily="50" charset="0"/>
              </a:rPr>
              <a:t>for</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5FB1DA"/>
                </a:solidFill>
                <a:effectLst/>
                <a:latin typeface="Roboto Mono" panose="00000009000000000000" pitchFamily="50" charset="0"/>
              </a:rPr>
              <a:t>String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if</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contains</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"Wahrheit"</a:t>
            </a:r>
            <a:r>
              <a:rPr kumimoji="0" lang="de-DE" altLang="de-DE" sz="2900" b="0" i="0" u="none" strike="noStrike" cap="none" normalizeH="0" baseline="0" dirty="0">
                <a:ln>
                  <a:noFill/>
                </a:ln>
                <a:solidFill>
                  <a:srgbClr val="B0BA8C"/>
                </a:solidFill>
                <a:effectLst/>
                <a:latin typeface="Roboto Mono" panose="00000009000000000000" pitchFamily="50" charset="0"/>
              </a:rPr>
              <a:t>))</a:t>
            </a:r>
            <a:br>
              <a:rPr kumimoji="0" lang="de-DE" altLang="de-DE" sz="2900" b="0" i="0" u="none" strike="noStrike" cap="none" normalizeH="0" baseline="0" dirty="0">
                <a:ln>
                  <a:noFill/>
                </a:ln>
                <a:solidFill>
                  <a:srgbClr val="B0BA8C"/>
                </a:solidFill>
                <a:effectLst/>
                <a:latin typeface="Roboto Mono" panose="00000009000000000000" pitchFamily="50" charset="0"/>
              </a:rPr>
            </a:b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continue</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err="1">
                <a:ln>
                  <a:noFill/>
                </a:ln>
                <a:solidFill>
                  <a:srgbClr val="5FB1DA"/>
                </a:solidFill>
                <a:effectLst/>
                <a:latin typeface="Roboto Mono" panose="00000009000000000000" pitchFamily="50" charset="0"/>
              </a:rPr>
              <a:t>System</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1" u="none" strike="noStrike" cap="none" normalizeH="0" baseline="0" dirty="0" err="1">
                <a:ln>
                  <a:noFill/>
                </a:ln>
                <a:solidFill>
                  <a:srgbClr val="9876AA"/>
                </a:solidFill>
                <a:effectLst/>
                <a:latin typeface="Roboto Mono" panose="00000009000000000000" pitchFamily="50" charset="0"/>
              </a:rPr>
              <a:t>out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println</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"Keine Zensur nötig: " </a:t>
            </a:r>
            <a:r>
              <a:rPr kumimoji="0" lang="de-DE" altLang="de-DE" sz="2900" b="0" i="0" u="none" strike="noStrike" cap="none" normalizeH="0" baseline="0" dirty="0">
                <a:ln>
                  <a:noFill/>
                </a:ln>
                <a:solidFill>
                  <a:srgbClr val="A9B7C6"/>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808080"/>
                </a:solidFill>
                <a:effectLst/>
                <a:latin typeface="Roboto Mono" panose="00000009000000000000" pitchFamily="50" charset="0"/>
              </a:rPr>
              <a:t>// Finde etwas Falsches.</a:t>
            </a:r>
            <a:br>
              <a:rPr kumimoji="0" lang="de-DE" altLang="de-DE" sz="2900" b="0" i="0" u="none" strike="noStrike" cap="none" normalizeH="0" baseline="0" dirty="0">
                <a:ln>
                  <a:noFill/>
                </a:ln>
                <a:solidFill>
                  <a:srgbClr val="808080"/>
                </a:solidFill>
                <a:effectLst/>
                <a:latin typeface="Roboto Mono" panose="00000009000000000000" pitchFamily="50" charset="0"/>
              </a:rPr>
            </a:br>
            <a:r>
              <a:rPr kumimoji="0" lang="de-DE" altLang="de-DE" sz="2900" b="0" i="0" u="none" strike="noStrike" cap="none" normalizeH="0" baseline="0" dirty="0" err="1">
                <a:ln>
                  <a:noFill/>
                </a:ln>
                <a:solidFill>
                  <a:srgbClr val="CC7E47"/>
                </a:solidFill>
                <a:effectLst/>
                <a:latin typeface="Roboto Mono" panose="00000009000000000000" pitchFamily="50" charset="0"/>
              </a:rPr>
              <a:t>for</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5FB1DA"/>
                </a:solidFill>
                <a:effectLst/>
                <a:latin typeface="Roboto Mono" panose="00000009000000000000" pitchFamily="50" charset="0"/>
              </a:rPr>
              <a:t>String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if</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contains</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"Fake"</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5FB1DA"/>
                </a:solidFill>
                <a:effectLst/>
                <a:latin typeface="Roboto Mono" panose="00000009000000000000" pitchFamily="50" charset="0"/>
              </a:rPr>
              <a:t>System</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1" u="none" strike="noStrike" cap="none" normalizeH="0" baseline="0" dirty="0" err="1">
                <a:ln>
                  <a:noFill/>
                </a:ln>
                <a:solidFill>
                  <a:srgbClr val="9876AA"/>
                </a:solidFill>
                <a:effectLst/>
                <a:latin typeface="Roboto Mono" panose="00000009000000000000" pitchFamily="50" charset="0"/>
              </a:rPr>
              <a:t>out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println</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"Die totale Wahrheit: " </a:t>
            </a:r>
            <a:r>
              <a:rPr kumimoji="0" lang="de-DE" altLang="de-DE" sz="2900" b="0" i="0" u="none" strike="noStrike" cap="none" normalizeH="0" baseline="0" dirty="0">
                <a:ln>
                  <a:noFill/>
                </a:ln>
                <a:solidFill>
                  <a:srgbClr val="A9B7C6"/>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break;</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a:t>
            </a:r>
            <a:endParaRPr kumimoji="0" lang="de-DE" altLang="de-DE" sz="26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0FAB911D-A59D-4841-940B-6D837F8ED1E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655957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53328-EA95-49D9-8FA3-FAA90AFD8869}"/>
              </a:ext>
            </a:extLst>
          </p:cNvPr>
          <p:cNvSpPr>
            <a:spLocks noGrp="1"/>
          </p:cNvSpPr>
          <p:nvPr>
            <p:ph type="title"/>
          </p:nvPr>
        </p:nvSpPr>
        <p:spPr/>
        <p:txBody>
          <a:bodyPr/>
          <a:lstStyle/>
          <a:p>
            <a:r>
              <a:rPr lang="de-DE" dirty="0"/>
              <a:t>Verschachtelung</a:t>
            </a:r>
          </a:p>
        </p:txBody>
      </p:sp>
      <p:sp>
        <p:nvSpPr>
          <p:cNvPr id="3" name="Content Placeholder 2">
            <a:extLst>
              <a:ext uri="{FF2B5EF4-FFF2-40B4-BE49-F238E27FC236}">
                <a16:creationId xmlns:a16="http://schemas.microsoft.com/office/drawing/2014/main" id="{C4C409A4-A8BC-42E6-B3F3-1A691DB8581A}"/>
              </a:ext>
            </a:extLst>
          </p:cNvPr>
          <p:cNvSpPr>
            <a:spLocks noGrp="1"/>
          </p:cNvSpPr>
          <p:nvPr>
            <p:ph idx="1"/>
          </p:nvPr>
        </p:nvSpPr>
        <p:spPr/>
        <p:txBody>
          <a:bodyPr/>
          <a:lstStyle/>
          <a:p>
            <a:r>
              <a:rPr lang="de-DE" dirty="0"/>
              <a:t>Mehrere Bedingungen / Schleifen ineinander</a:t>
            </a:r>
          </a:p>
          <a:p>
            <a:r>
              <a:rPr lang="de-DE" dirty="0" err="1"/>
              <a:t>Scope</a:t>
            </a:r>
            <a:endParaRPr lang="de-DE" dirty="0"/>
          </a:p>
          <a:p>
            <a:r>
              <a:rPr lang="de-DE" dirty="0"/>
              <a:t>Labels</a:t>
            </a:r>
          </a:p>
        </p:txBody>
      </p:sp>
      <p:pic>
        <p:nvPicPr>
          <p:cNvPr id="4" name="Graphic 3" descr="Lightbulb with solid fill">
            <a:extLst>
              <a:ext uri="{FF2B5EF4-FFF2-40B4-BE49-F238E27FC236}">
                <a16:creationId xmlns:a16="http://schemas.microsoft.com/office/drawing/2014/main" id="{46FD4A19-2110-42D4-ADCF-CD6FB46D3F7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0522692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CBCA1D-BCE1-40C4-96F4-ACF4FC7F7914}"/>
              </a:ext>
            </a:extLst>
          </p:cNvPr>
          <p:cNvSpPr>
            <a:spLocks noGrp="1"/>
          </p:cNvSpPr>
          <p:nvPr>
            <p:ph type="title"/>
          </p:nvPr>
        </p:nvSpPr>
        <p:spPr/>
        <p:txBody>
          <a:bodyPr/>
          <a:lstStyle/>
          <a:p>
            <a:r>
              <a:rPr lang="de-DE" dirty="0"/>
              <a:t>Der </a:t>
            </a:r>
            <a:r>
              <a:rPr lang="de-DE" dirty="0" err="1"/>
              <a:t>Ternary</a:t>
            </a:r>
            <a:r>
              <a:rPr lang="de-DE" dirty="0"/>
              <a:t>-Operator</a:t>
            </a:r>
          </a:p>
        </p:txBody>
      </p:sp>
      <p:sp>
        <p:nvSpPr>
          <p:cNvPr id="3" name="Inhaltsplatzhalter 2">
            <a:extLst>
              <a:ext uri="{FF2B5EF4-FFF2-40B4-BE49-F238E27FC236}">
                <a16:creationId xmlns:a16="http://schemas.microsoft.com/office/drawing/2014/main" id="{41B0CB41-4AE0-4233-B01F-236D9E731FB9}"/>
              </a:ext>
            </a:extLst>
          </p:cNvPr>
          <p:cNvSpPr>
            <a:spLocks noGrp="1"/>
          </p:cNvSpPr>
          <p:nvPr>
            <p:ph idx="1"/>
          </p:nvPr>
        </p:nvSpPr>
        <p:spPr/>
        <p:txBody>
          <a:bodyPr>
            <a:normAutofit lnSpcReduction="10000"/>
          </a:bodyPr>
          <a:lstStyle/>
          <a:p>
            <a:pPr marL="0" indent="0">
              <a:buNone/>
            </a:pPr>
            <a:r>
              <a:rPr lang="de-DE" dirty="0"/>
              <a:t>Wenn die Bedingung vor dem "?" gilt, wird der Wert links vom ":" zurückgegeben, sonst der Wert rechts vom ":".</a:t>
            </a:r>
          </a:p>
          <a:p>
            <a:pPr marL="0" indent="0">
              <a:buNone/>
            </a:pP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lang (mit </a:t>
            </a:r>
            <a:r>
              <a:rPr kumimoji="0" lang="de-DE" altLang="de-DE" sz="1800" b="0" i="0" u="none" strike="noStrike" cap="none" normalizeH="0" baseline="0" dirty="0" err="1">
                <a:ln>
                  <a:noFill/>
                </a:ln>
                <a:solidFill>
                  <a:srgbClr val="808080"/>
                </a:solidFill>
                <a:effectLst/>
                <a:latin typeface="Roboto Mono" panose="00000009000000000000" pitchFamily="50" charset="0"/>
              </a:rPr>
              <a:t>if-else</a:t>
            </a: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 zurück!"</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else</a:t>
            </a:r>
            <a:br>
              <a:rPr lang="de-DE" altLang="de-DE" sz="1800" dirty="0">
                <a:solidFill>
                  <a:srgbClr val="CC7E47"/>
                </a:solidFill>
                <a:latin typeface="Roboto Mono" panose="00000009000000000000" pitchFamily="50" charset="0"/>
              </a:rPr>
            </a:br>
            <a:r>
              <a:rPr lang="de-DE" altLang="de-DE" sz="1800" dirty="0">
                <a:solidFill>
                  <a:srgbClr val="CC7E47"/>
                </a:solidFill>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"Wie bitte?"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kurz (mit </a:t>
            </a:r>
            <a:r>
              <a:rPr kumimoji="0" lang="de-DE" altLang="de-DE" sz="1800" b="0" i="0" u="none" strike="noStrike" cap="none" normalizeH="0" baseline="0" dirty="0" err="1">
                <a:ln>
                  <a:noFill/>
                </a:ln>
                <a:solidFill>
                  <a:srgbClr val="808080"/>
                </a:solidFill>
                <a:effectLst/>
                <a:latin typeface="Roboto Mono" panose="00000009000000000000" pitchFamily="50" charset="0"/>
              </a:rPr>
              <a:t>ternary</a:t>
            </a: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"Hallo zurück!"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"Wie bitte?"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32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BE92B930-1484-43CE-93BD-2B06F3D9040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258108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4458E-69ED-4468-AC7A-07DAF028EDE9}"/>
              </a:ext>
            </a:extLst>
          </p:cNvPr>
          <p:cNvSpPr>
            <a:spLocks noGrp="1"/>
          </p:cNvSpPr>
          <p:nvPr>
            <p:ph type="title"/>
          </p:nvPr>
        </p:nvSpPr>
        <p:spPr/>
        <p:txBody>
          <a:bodyPr/>
          <a:lstStyle/>
          <a:p>
            <a:r>
              <a:rPr lang="de-DE" dirty="0"/>
              <a:t>Random</a:t>
            </a:r>
          </a:p>
        </p:txBody>
      </p:sp>
      <p:sp>
        <p:nvSpPr>
          <p:cNvPr id="3" name="Content Placeholder 2">
            <a:extLst>
              <a:ext uri="{FF2B5EF4-FFF2-40B4-BE49-F238E27FC236}">
                <a16:creationId xmlns:a16="http://schemas.microsoft.com/office/drawing/2014/main" id="{94AAD2F7-F3BE-49D1-ABAC-545E9A0BF53A}"/>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5FB1DA"/>
                </a:solidFill>
                <a:effectLst/>
                <a:latin typeface="Roboto Mono" panose="00000009000000000000" pitchFamily="50" charset="0"/>
              </a:rPr>
              <a:t>Random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Random</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Zufälliger Wert von 0 (inklusiv) bis 4 (exklusiv),</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also aus {0, 1, 2, 3} (jeweils 25%)</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Zufälliger Wert von 0.0 (inklusiv) bis 4.0 (exklusiv),</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also z.B. 0.75, 2.0, 3.125</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randomFloat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nextFloat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Entweder </a:t>
            </a:r>
            <a:r>
              <a:rPr kumimoji="0" lang="de-DE" altLang="de-DE" sz="1800" b="0" i="0" u="none" strike="noStrike" cap="none" normalizeH="0" baseline="0" dirty="0" err="1">
                <a:ln>
                  <a:noFill/>
                </a:ln>
                <a:solidFill>
                  <a:srgbClr val="808080"/>
                </a:solidFill>
                <a:effectLst/>
                <a:latin typeface="Roboto Mono" panose="00000009000000000000" pitchFamily="50" charset="0"/>
              </a:rPr>
              <a:t>true</a:t>
            </a:r>
            <a:r>
              <a:rPr kumimoji="0" lang="de-DE" altLang="de-DE" sz="1800" b="0" i="0" u="none" strike="noStrike" cap="none" normalizeH="0" baseline="0" dirty="0">
                <a:ln>
                  <a:noFill/>
                </a:ln>
                <a:solidFill>
                  <a:srgbClr val="808080"/>
                </a:solidFill>
                <a:effectLst/>
                <a:latin typeface="Roboto Mono" panose="00000009000000000000" pitchFamily="50" charset="0"/>
              </a:rPr>
              <a:t> (50%) oder </a:t>
            </a:r>
            <a:r>
              <a:rPr kumimoji="0" lang="de-DE" altLang="de-DE" sz="1800" b="0" i="0" u="none" strike="noStrike" cap="none" normalizeH="0" baseline="0" dirty="0" err="1">
                <a:ln>
                  <a:noFill/>
                </a:ln>
                <a:solidFill>
                  <a:srgbClr val="808080"/>
                </a:solidFill>
                <a:effectLst/>
                <a:latin typeface="Roboto Mono" panose="00000009000000000000" pitchFamily="50" charset="0"/>
              </a:rPr>
              <a:t>false</a:t>
            </a:r>
            <a:r>
              <a:rPr kumimoji="0" lang="de-DE" altLang="de-DE" sz="1800" b="0" i="0" u="none" strike="noStrike" cap="none" normalizeH="0" baseline="0" dirty="0">
                <a:ln>
                  <a:noFill/>
                </a:ln>
                <a:solidFill>
                  <a:srgbClr val="808080"/>
                </a:solidFill>
                <a:effectLst/>
                <a:latin typeface="Roboto Mono" panose="00000009000000000000" pitchFamily="50" charset="0"/>
              </a:rPr>
              <a:t> (50%)</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randomBoolean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nextBoolean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randomBoolean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"Glück"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"Pech"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C2AF62F9-8BEF-4C5A-A261-7714A9327D0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782788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D770E0-285A-4873-8DB0-263F3B2FBA2C}"/>
              </a:ext>
            </a:extLst>
          </p:cNvPr>
          <p:cNvSpPr>
            <a:spLocks noGrp="1"/>
          </p:cNvSpPr>
          <p:nvPr>
            <p:ph type="title"/>
          </p:nvPr>
        </p:nvSpPr>
        <p:spPr/>
        <p:txBody>
          <a:bodyPr/>
          <a:lstStyle/>
          <a:p>
            <a:r>
              <a:rPr lang="de-DE" dirty="0"/>
              <a:t>Math-Klasse</a:t>
            </a:r>
          </a:p>
        </p:txBody>
      </p:sp>
      <p:sp>
        <p:nvSpPr>
          <p:cNvPr id="3" name="Inhaltsplatzhalter 2">
            <a:extLst>
              <a:ext uri="{FF2B5EF4-FFF2-40B4-BE49-F238E27FC236}">
                <a16:creationId xmlns:a16="http://schemas.microsoft.com/office/drawing/2014/main" id="{64313AED-7A41-44EA-A623-C12B0EE035D7}"/>
              </a:ext>
            </a:extLst>
          </p:cNvPr>
          <p:cNvSpPr>
            <a:spLocks noGrp="1"/>
          </p:cNvSpPr>
          <p:nvPr>
            <p:ph idx="1"/>
          </p:nvPr>
        </p:nvSpPr>
        <p:spPr>
          <a:xfrm>
            <a:off x="838200" y="1690688"/>
            <a:ext cx="10515600" cy="502708"/>
          </a:xfrm>
        </p:spPr>
        <p:txBody>
          <a:bodyPr/>
          <a:lstStyle/>
          <a:p>
            <a:r>
              <a:rPr lang="de-DE" dirty="0"/>
              <a:t>Stellt hilfreiche Mathe-Funktionen bereit, z.B.:</a:t>
            </a:r>
          </a:p>
        </p:txBody>
      </p:sp>
      <p:graphicFrame>
        <p:nvGraphicFramePr>
          <p:cNvPr id="4" name="Tabelle 7">
            <a:extLst>
              <a:ext uri="{FF2B5EF4-FFF2-40B4-BE49-F238E27FC236}">
                <a16:creationId xmlns:a16="http://schemas.microsoft.com/office/drawing/2014/main" id="{42175F88-D202-4DB1-8B52-E25F2630C807}"/>
              </a:ext>
            </a:extLst>
          </p:cNvPr>
          <p:cNvGraphicFramePr>
            <a:graphicFrameLocks noGrp="1"/>
          </p:cNvGraphicFramePr>
          <p:nvPr>
            <p:extLst>
              <p:ext uri="{D42A27DB-BD31-4B8C-83A1-F6EECF244321}">
                <p14:modId xmlns:p14="http://schemas.microsoft.com/office/powerpoint/2010/main" val="829083477"/>
              </p:ext>
            </p:extLst>
          </p:nvPr>
        </p:nvGraphicFramePr>
        <p:xfrm>
          <a:off x="838201" y="2193396"/>
          <a:ext cx="10515599" cy="4702491"/>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latin typeface="IBM Plex Sans" panose="020B0503050203000203" pitchFamily="34" charset="0"/>
                        </a:rPr>
                        <a:t>min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Kleinere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max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Größere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a:solidFill>
                            <a:schemeClr val="tx1"/>
                          </a:solidFill>
                          <a:latin typeface="IBM Plex Sans" panose="020B0503050203000203" pitchFamily="34" charset="0"/>
                        </a:rPr>
                        <a:t>sin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a:solidFill>
                            <a:schemeClr val="tx1"/>
                          </a:solidFill>
                          <a:latin typeface="IBM Plex Sans" panose="020B0503050203000203" pitchFamily="34" charset="0"/>
                        </a:rPr>
                        <a:t>cos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a:solidFill>
                            <a:schemeClr val="tx1"/>
                          </a:solidFill>
                          <a:latin typeface="IBM Plex Sans" panose="020B0503050203000203" pitchFamily="34" charset="0"/>
                        </a:rPr>
                        <a:t>tan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Tangens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abs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Betrag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latin typeface="IBM Plex Sans" panose="020B0503050203000203" pitchFamily="34" charset="0"/>
                        </a:rPr>
                        <a:t>round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r>
                        <a:rPr lang="de-DE" u="none" dirty="0">
                          <a:solidFill>
                            <a:schemeClr val="tx1"/>
                          </a:solidFill>
                          <a:latin typeface="IBM Plex Sans" panose="020B0503050203000203" pitchFamily="34" charset="0"/>
                        </a:rPr>
                        <a:t>/</a:t>
                      </a:r>
                      <a:r>
                        <a:rPr lang="de-DE" u="none" dirty="0" err="1">
                          <a:solidFill>
                            <a:schemeClr val="tx1"/>
                          </a:solidFill>
                        </a:rPr>
                        <a:t>long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float</a:t>
                      </a:r>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nächste ganze Zahl (rundet bei .5 auf)</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r h="451379">
                <a:tc>
                  <a:txBody>
                    <a:bodyPr/>
                    <a:lstStyle/>
                    <a:p>
                      <a:r>
                        <a:rPr lang="de-DE" u="none" dirty="0" err="1">
                          <a:solidFill>
                            <a:schemeClr val="tx1"/>
                          </a:solidFill>
                          <a:latin typeface="IBM Plex Sans" panose="020B0503050203000203" pitchFamily="34" charset="0"/>
                        </a:rPr>
                        <a:t>pow</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 double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 hoch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4442433"/>
                  </a:ext>
                </a:extLst>
              </a:tr>
              <a:tr h="451379">
                <a:tc>
                  <a:txBody>
                    <a:bodyPr/>
                    <a:lstStyle/>
                    <a:p>
                      <a:r>
                        <a:rPr lang="de-DE" u="none" dirty="0">
                          <a:solidFill>
                            <a:schemeClr val="tx1"/>
                          </a:solidFill>
                          <a:latin typeface="IBM Plex Sans" panose="020B0503050203000203" pitchFamily="34" charset="0"/>
                        </a:rPr>
                        <a:t>PI</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gridSpan="2">
                  <a:txBody>
                    <a:bodyPr/>
                    <a:lstStyle/>
                    <a:p>
                      <a:r>
                        <a:rPr lang="de-DE" u="none" dirty="0">
                          <a:solidFill>
                            <a:schemeClr val="tx1"/>
                          </a:solidFill>
                          <a:latin typeface="IBM Plex Sans" panose="020B0503050203000203" pitchFamily="34" charset="0"/>
                        </a:rPr>
                        <a:t>double (</a:t>
                      </a:r>
                      <a:r>
                        <a:rPr lang="el-GR" u="none" dirty="0">
                          <a:solidFill>
                            <a:schemeClr val="tx1"/>
                          </a:solidFill>
                          <a:latin typeface="IBM Plex Sans" panose="020B0503050203000203" pitchFamily="34" charset="0"/>
                        </a:rPr>
                        <a:t>π</a:t>
                      </a:r>
                      <a:r>
                        <a:rPr lang="de-DE" u="none" dirty="0">
                          <a:solidFill>
                            <a:schemeClr val="tx1"/>
                          </a:solidFill>
                        </a:rPr>
                        <a:t> ist eine Konstante)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Kreiszahl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79311371"/>
                  </a:ext>
                </a:extLst>
              </a:tr>
            </a:tbl>
          </a:graphicData>
        </a:graphic>
      </p:graphicFrame>
      <p:pic>
        <p:nvPicPr>
          <p:cNvPr id="5" name="Graphic 4" descr="Books with solid fill">
            <a:extLst>
              <a:ext uri="{FF2B5EF4-FFF2-40B4-BE49-F238E27FC236}">
                <a16:creationId xmlns:a16="http://schemas.microsoft.com/office/drawing/2014/main" id="{3EE94F5B-5178-41D6-8A3B-DFDC27F2383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693881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DE19C98-3440-4167-8226-B197C6D17238}"/>
              </a:ext>
            </a:extLst>
          </p:cNvPr>
          <p:cNvSpPr>
            <a:spLocks noGrp="1"/>
          </p:cNvSpPr>
          <p:nvPr>
            <p:ph type="title"/>
          </p:nvPr>
        </p:nvSpPr>
        <p:spPr/>
        <p:txBody>
          <a:bodyPr/>
          <a:lstStyle/>
          <a:p>
            <a:r>
              <a:rPr lang="de-DE" dirty="0"/>
              <a:t>Array</a:t>
            </a:r>
          </a:p>
        </p:txBody>
      </p:sp>
      <p:sp>
        <p:nvSpPr>
          <p:cNvPr id="3" name="Inhaltsplatzhalter 2">
            <a:extLst>
              <a:ext uri="{FF2B5EF4-FFF2-40B4-BE49-F238E27FC236}">
                <a16:creationId xmlns:a16="http://schemas.microsoft.com/office/drawing/2014/main" id="{883EB046-4C92-460C-A4D7-88BE402F14FB}"/>
              </a:ext>
            </a:extLst>
          </p:cNvPr>
          <p:cNvSpPr>
            <a:spLocks noGrp="1"/>
          </p:cNvSpPr>
          <p:nvPr>
            <p:ph idx="1"/>
          </p:nvPr>
        </p:nvSpPr>
        <p:spPr/>
        <p:txBody>
          <a:bodyPr>
            <a:normAutofit fontScale="92500" lnSpcReduction="20000"/>
          </a:bodyPr>
          <a:lstStyle/>
          <a:p>
            <a:pPr marL="0" indent="0">
              <a:buNone/>
            </a:pPr>
            <a:r>
              <a:rPr lang="de-DE" sz="1800" b="0" i="0" dirty="0">
                <a:solidFill>
                  <a:srgbClr val="7A7E85"/>
                </a:solidFill>
                <a:latin typeface="Roboto Mono" panose="00000009000000000000" pitchFamily="50" charset="0"/>
                <a:cs typeface="Courier New" panose="02070309020205020404" pitchFamily="49" charset="0"/>
              </a:rPr>
              <a:t>// Array erstellen</a:t>
            </a:r>
            <a:br>
              <a:rPr lang="de-DE" sz="1800" b="0" i="0" dirty="0">
                <a:solidFill>
                  <a:srgbClr val="7A7E85"/>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String[] </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 = {</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"Es war einmal ein schrecklicher Drache. Er lebte in einer dunklen Höhle ..."</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"Tief verborgen im Zauberwald lebte die alte Hexe ..."</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"Vor langer, langer Zeit gab es einen Raben. Er flog nachts über die dunklen Bergkuppen ..."</a:t>
            </a:r>
            <a:br>
              <a:rPr lang="de-DE" sz="1800" b="0" i="0" dirty="0">
                <a:solidFill>
                  <a:srgbClr val="6AAB73"/>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"Welche Geschichte möchtest du hören? (Drache, Hexe, Rabe)"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String </a:t>
            </a:r>
            <a:r>
              <a:rPr lang="de-DE" sz="1800" b="0" i="0" dirty="0" err="1">
                <a:solidFill>
                  <a:srgbClr val="BCBEC4"/>
                </a:solidFill>
                <a:latin typeface="Roboto Mono" panose="00000009000000000000" pitchFamily="50" charset="0"/>
                <a:cs typeface="Courier New" panose="02070309020205020404" pitchFamily="49" charset="0"/>
              </a:rPr>
              <a:t>wahl</a:t>
            </a:r>
            <a:r>
              <a:rPr lang="de-DE" sz="1800" b="0" i="0" dirty="0">
                <a:solidFill>
                  <a:srgbClr val="BCBEC4"/>
                </a:solidFill>
                <a:latin typeface="Roboto Mono" panose="00000009000000000000" pitchFamily="50" charset="0"/>
                <a:cs typeface="Courier New" panose="02070309020205020404" pitchFamily="49" charset="0"/>
              </a:rPr>
              <a:t> = </a:t>
            </a:r>
            <a:r>
              <a:rPr lang="de-DE" sz="1800" b="0" i="0" dirty="0" err="1">
                <a:solidFill>
                  <a:srgbClr val="BCBEC4"/>
                </a:solidFill>
                <a:latin typeface="Roboto Mono" panose="00000009000000000000" pitchFamily="50" charset="0"/>
                <a:cs typeface="Courier New" panose="02070309020205020404" pitchFamily="49" charset="0"/>
              </a:rPr>
              <a:t>scanner.nextLine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7A7E85"/>
                </a:solidFill>
                <a:latin typeface="Roboto Mono" panose="00000009000000000000" pitchFamily="50" charset="0"/>
                <a:cs typeface="Courier New" panose="02070309020205020404" pitchFamily="49" charset="0"/>
              </a:rPr>
              <a:t>// Zugriff auf Arrays mit &lt;Name&gt;[</a:t>
            </a:r>
            <a:r>
              <a:rPr lang="de-DE" sz="1800" b="0" i="0" dirty="0" err="1">
                <a:solidFill>
                  <a:srgbClr val="7A7E85"/>
                </a:solidFill>
                <a:latin typeface="Roboto Mono" panose="00000009000000000000" pitchFamily="50" charset="0"/>
                <a:cs typeface="Courier New" panose="02070309020205020404" pitchFamily="49" charset="0"/>
              </a:rPr>
              <a:t>index</a:t>
            </a:r>
            <a:r>
              <a:rPr lang="de-DE" sz="1800" b="0" i="0" dirty="0">
                <a:solidFill>
                  <a:srgbClr val="7A7E85"/>
                </a:solidFill>
                <a:latin typeface="Roboto Mono" panose="00000009000000000000" pitchFamily="50" charset="0"/>
                <a:cs typeface="Courier New" panose="02070309020205020404" pitchFamily="49" charset="0"/>
              </a:rPr>
              <a:t>]</a:t>
            </a:r>
            <a:br>
              <a:rPr lang="de-DE" sz="1800" b="0" i="0" dirty="0">
                <a:solidFill>
                  <a:srgbClr val="7A7E85"/>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"Drache"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0</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"Hexe"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1</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"Rabe"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2</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br>
              <a:rPr lang="de-DE" sz="1800" dirty="0">
                <a:solidFill>
                  <a:srgbClr val="CF8E6D"/>
                </a:solidFill>
                <a:latin typeface="Roboto Mono" panose="00000009000000000000" pitchFamily="50" charset="0"/>
                <a:cs typeface="Courier New" panose="02070309020205020404" pitchFamily="49" charset="0"/>
              </a:rPr>
            </a:br>
            <a:r>
              <a:rPr lang="de-DE" sz="180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"Diese Geschichte kenne ich nicht."</a:t>
            </a:r>
            <a:r>
              <a:rPr lang="de-DE" sz="1800" b="0" i="0" dirty="0">
                <a:solidFill>
                  <a:srgbClr val="BCBEC4"/>
                </a:solidFill>
                <a:latin typeface="Roboto Mono" panose="00000009000000000000" pitchFamily="50" charset="0"/>
                <a:cs typeface="Courier New" panose="02070309020205020404" pitchFamily="49" charset="0"/>
              </a:rPr>
              <a:t>);</a:t>
            </a:r>
          </a:p>
        </p:txBody>
      </p:sp>
      <p:pic>
        <p:nvPicPr>
          <p:cNvPr id="4" name="Graphic 3" descr="Document with solid fill">
            <a:extLst>
              <a:ext uri="{FF2B5EF4-FFF2-40B4-BE49-F238E27FC236}">
                <a16:creationId xmlns:a16="http://schemas.microsoft.com/office/drawing/2014/main" id="{1426C676-FEC8-46D9-ABA8-4840DD6BE51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05274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5C41-A7E3-4DB7-AEE4-F3B7E2EA1874}"/>
              </a:ext>
            </a:extLst>
          </p:cNvPr>
          <p:cNvSpPr>
            <a:spLocks noGrp="1"/>
          </p:cNvSpPr>
          <p:nvPr>
            <p:ph type="title"/>
          </p:nvPr>
        </p:nvSpPr>
        <p:spPr/>
        <p:txBody>
          <a:bodyPr/>
          <a:lstStyle/>
          <a:p>
            <a:r>
              <a:rPr lang="de-DE" dirty="0"/>
              <a:t>Array-Visualisierung</a:t>
            </a:r>
          </a:p>
        </p:txBody>
      </p:sp>
      <p:graphicFrame>
        <p:nvGraphicFramePr>
          <p:cNvPr id="5" name="Table 5">
            <a:extLst>
              <a:ext uri="{FF2B5EF4-FFF2-40B4-BE49-F238E27FC236}">
                <a16:creationId xmlns:a16="http://schemas.microsoft.com/office/drawing/2014/main" id="{D66C2503-133C-4B03-ADE8-64A572FA910F}"/>
              </a:ext>
            </a:extLst>
          </p:cNvPr>
          <p:cNvGraphicFramePr>
            <a:graphicFrameLocks noGrp="1"/>
          </p:cNvGraphicFramePr>
          <p:nvPr>
            <p:ph idx="1"/>
            <p:extLst>
              <p:ext uri="{D42A27DB-BD31-4B8C-83A1-F6EECF244321}">
                <p14:modId xmlns:p14="http://schemas.microsoft.com/office/powerpoint/2010/main" val="1737471338"/>
              </p:ext>
            </p:extLst>
          </p:nvPr>
        </p:nvGraphicFramePr>
        <p:xfrm>
          <a:off x="838200" y="2784475"/>
          <a:ext cx="1527081" cy="397764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latin typeface="IBM Plex Sans" panose="020B0503050203000203" pitchFamily="34" charset="0"/>
                        </a:rPr>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latin typeface="IBM Plex Sans" panose="020B0503050203000203" pitchFamily="34" charset="0"/>
                        </a:rPr>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4234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latin typeface="IBM Plex Sans" panose="020B0503050203000203" pitchFamily="34"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720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latin typeface="IBM Plex Sans" panose="020B0503050203000203" pitchFamily="34"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latin typeface="IBM Plex Sans" panose="020B0503050203000203" pitchFamily="34" charset="0"/>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latin typeface="IBM Plex Sans" panose="020B0503050203000203" pitchFamily="34"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latin typeface="IBM Plex Sans" panose="020B0503050203000203" pitchFamily="34" charset="0"/>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6" name="TextBox 5">
            <a:extLst>
              <a:ext uri="{FF2B5EF4-FFF2-40B4-BE49-F238E27FC236}">
                <a16:creationId xmlns:a16="http://schemas.microsoft.com/office/drawing/2014/main" id="{3D77D058-3C59-4A83-B441-6BCEC4EA20BE}"/>
              </a:ext>
            </a:extLst>
          </p:cNvPr>
          <p:cNvSpPr txBox="1"/>
          <p:nvPr/>
        </p:nvSpPr>
        <p:spPr>
          <a:xfrm>
            <a:off x="838200" y="2138144"/>
            <a:ext cx="3517669" cy="646331"/>
          </a:xfrm>
          <a:prstGeom prst="rect">
            <a:avLst/>
          </a:prstGeom>
          <a:noFill/>
        </p:spPr>
        <p:txBody>
          <a:bodyPr wrap="square" rtlCol="0">
            <a:spAutoFit/>
          </a:bodyPr>
          <a:lstStyle/>
          <a:p>
            <a:r>
              <a:rPr lang="de-DE" dirty="0">
                <a:latin typeface="IBM Plex Sans" panose="020B0503050203000203" pitchFamily="34" charset="0"/>
              </a:rPr>
              <a:t>Array an primitiven Werten</a:t>
            </a:r>
            <a:br>
              <a:rPr lang="de-DE" dirty="0">
                <a:latin typeface="IBM Plex Sans" panose="020B0503050203000203" pitchFamily="34" charset="0"/>
              </a:rPr>
            </a:br>
            <a:r>
              <a:rPr lang="de-DE" dirty="0">
                <a:latin typeface="IBM Plex Sans" panose="020B0503050203000203" pitchFamily="34" charset="0"/>
              </a:rPr>
              <a:t>Beispiel: </a:t>
            </a:r>
            <a:r>
              <a:rPr lang="de-DE" dirty="0" err="1">
                <a:latin typeface="IBM Plex Sans" panose="020B0503050203000203" pitchFamily="34" charset="0"/>
              </a:rPr>
              <a:t>int</a:t>
            </a:r>
            <a:r>
              <a:rPr lang="de-DE" dirty="0">
                <a:latin typeface="IBM Plex Sans" panose="020B0503050203000203" pitchFamily="34" charset="0"/>
              </a:rPr>
              <a:t>[]</a:t>
            </a:r>
          </a:p>
        </p:txBody>
      </p:sp>
      <p:graphicFrame>
        <p:nvGraphicFramePr>
          <p:cNvPr id="7" name="Table 5">
            <a:extLst>
              <a:ext uri="{FF2B5EF4-FFF2-40B4-BE49-F238E27FC236}">
                <a16:creationId xmlns:a16="http://schemas.microsoft.com/office/drawing/2014/main" id="{00D1B36D-4322-4185-B567-08E68EA07B2A}"/>
              </a:ext>
            </a:extLst>
          </p:cNvPr>
          <p:cNvGraphicFramePr>
            <a:graphicFrameLocks/>
          </p:cNvGraphicFramePr>
          <p:nvPr>
            <p:extLst>
              <p:ext uri="{D42A27DB-BD31-4B8C-83A1-F6EECF244321}">
                <p14:modId xmlns:p14="http://schemas.microsoft.com/office/powerpoint/2010/main" val="1293802838"/>
              </p:ext>
            </p:extLst>
          </p:nvPr>
        </p:nvGraphicFramePr>
        <p:xfrm>
          <a:off x="4355869" y="2784475"/>
          <a:ext cx="1527081" cy="397764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latin typeface="IBM Plex Sans" panose="020B0503050203000203" pitchFamily="34" charset="0"/>
                        </a:rPr>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latin typeface="IBM Plex Sans" panose="020B0503050203000203" pitchFamily="34" charset="0"/>
                        </a:rPr>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latin typeface="IBM Plex Sans" panose="020B0503050203000203" pitchFamily="34"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latin typeface="IBM Plex Sans" panose="020B0503050203000203" pitchFamily="34"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latin typeface="IBM Plex Sans" panose="020B0503050203000203" pitchFamily="34" charset="0"/>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latin typeface="IBM Plex Sans" panose="020B0503050203000203" pitchFamily="34"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null</a:t>
                      </a:r>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latin typeface="IBM Plex Sans" panose="020B0503050203000203" pitchFamily="34" charset="0"/>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8" name="TextBox 7">
            <a:extLst>
              <a:ext uri="{FF2B5EF4-FFF2-40B4-BE49-F238E27FC236}">
                <a16:creationId xmlns:a16="http://schemas.microsoft.com/office/drawing/2014/main" id="{D03628EB-0B31-47F3-A099-E039353ECA07}"/>
              </a:ext>
            </a:extLst>
          </p:cNvPr>
          <p:cNvSpPr txBox="1"/>
          <p:nvPr/>
        </p:nvSpPr>
        <p:spPr>
          <a:xfrm>
            <a:off x="4355869" y="2138144"/>
            <a:ext cx="3517669" cy="646331"/>
          </a:xfrm>
          <a:prstGeom prst="rect">
            <a:avLst/>
          </a:prstGeom>
          <a:noFill/>
        </p:spPr>
        <p:txBody>
          <a:bodyPr wrap="square" rtlCol="0">
            <a:spAutoFit/>
          </a:bodyPr>
          <a:lstStyle/>
          <a:p>
            <a:r>
              <a:rPr lang="de-DE" dirty="0">
                <a:latin typeface="IBM Plex Sans" panose="020B0503050203000203" pitchFamily="34" charset="0"/>
              </a:rPr>
              <a:t>Array an Objektreferenzen</a:t>
            </a:r>
            <a:br>
              <a:rPr lang="de-DE" dirty="0">
                <a:latin typeface="IBM Plex Sans" panose="020B0503050203000203" pitchFamily="34" charset="0"/>
              </a:rPr>
            </a:br>
            <a:r>
              <a:rPr lang="de-DE" dirty="0">
                <a:latin typeface="IBM Plex Sans" panose="020B0503050203000203" pitchFamily="34" charset="0"/>
              </a:rPr>
              <a:t>Beispiel: String[]</a:t>
            </a:r>
          </a:p>
        </p:txBody>
      </p:sp>
      <p:sp>
        <p:nvSpPr>
          <p:cNvPr id="12" name="TextBox 11">
            <a:extLst>
              <a:ext uri="{FF2B5EF4-FFF2-40B4-BE49-F238E27FC236}">
                <a16:creationId xmlns:a16="http://schemas.microsoft.com/office/drawing/2014/main" id="{F364642D-9CE7-49DD-9CBD-F5C3F3508DA9}"/>
              </a:ext>
            </a:extLst>
          </p:cNvPr>
          <p:cNvSpPr txBox="1"/>
          <p:nvPr/>
        </p:nvSpPr>
        <p:spPr>
          <a:xfrm>
            <a:off x="7719407" y="2165134"/>
            <a:ext cx="3062396" cy="646331"/>
          </a:xfrm>
          <a:prstGeom prst="rect">
            <a:avLst/>
          </a:prstGeom>
          <a:noFill/>
        </p:spPr>
        <p:txBody>
          <a:bodyPr wrap="square" rtlCol="0">
            <a:spAutoFit/>
          </a:bodyPr>
          <a:lstStyle/>
          <a:p>
            <a:pPr algn="ctr"/>
            <a:r>
              <a:rPr lang="de-DE" dirty="0">
                <a:latin typeface="IBM Plex Sans" panose="020B0503050203000203" pitchFamily="34" charset="0"/>
              </a:rPr>
              <a:t>Irgendwo anders</a:t>
            </a:r>
            <a:br>
              <a:rPr lang="de-DE" dirty="0">
                <a:latin typeface="IBM Plex Sans" panose="020B0503050203000203" pitchFamily="34" charset="0"/>
              </a:rPr>
            </a:br>
            <a:r>
              <a:rPr lang="de-DE" dirty="0">
                <a:latin typeface="IBM Plex Sans" panose="020B0503050203000203" pitchFamily="34" charset="0"/>
              </a:rPr>
              <a:t>im Speicher</a:t>
            </a:r>
          </a:p>
        </p:txBody>
      </p:sp>
      <p:sp>
        <p:nvSpPr>
          <p:cNvPr id="15" name="TextBox 14">
            <a:extLst>
              <a:ext uri="{FF2B5EF4-FFF2-40B4-BE49-F238E27FC236}">
                <a16:creationId xmlns:a16="http://schemas.microsoft.com/office/drawing/2014/main" id="{37F40E3B-7817-4158-85A3-BD3C0088BAEB}"/>
              </a:ext>
            </a:extLst>
          </p:cNvPr>
          <p:cNvSpPr txBox="1"/>
          <p:nvPr/>
        </p:nvSpPr>
        <p:spPr>
          <a:xfrm>
            <a:off x="7719407" y="3925978"/>
            <a:ext cx="96377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"Erde"</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6" name="TextBox 15">
            <a:extLst>
              <a:ext uri="{FF2B5EF4-FFF2-40B4-BE49-F238E27FC236}">
                <a16:creationId xmlns:a16="http://schemas.microsoft.com/office/drawing/2014/main" id="{90DBD035-5309-4276-BBC7-8064D3026E8C}"/>
              </a:ext>
            </a:extLst>
          </p:cNvPr>
          <p:cNvSpPr txBox="1"/>
          <p:nvPr/>
        </p:nvSpPr>
        <p:spPr>
          <a:xfrm>
            <a:off x="8244148" y="4930433"/>
            <a:ext cx="1095895"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"Feuer"</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7" name="TextBox 16">
            <a:extLst>
              <a:ext uri="{FF2B5EF4-FFF2-40B4-BE49-F238E27FC236}">
                <a16:creationId xmlns:a16="http://schemas.microsoft.com/office/drawing/2014/main" id="{982FD02A-84E4-46DD-802D-54495F385A97}"/>
              </a:ext>
            </a:extLst>
          </p:cNvPr>
          <p:cNvSpPr txBox="1"/>
          <p:nvPr/>
        </p:nvSpPr>
        <p:spPr>
          <a:xfrm>
            <a:off x="9413509" y="4155355"/>
            <a:ext cx="123062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"Wasser"</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8" name="TextBox 17">
            <a:extLst>
              <a:ext uri="{FF2B5EF4-FFF2-40B4-BE49-F238E27FC236}">
                <a16:creationId xmlns:a16="http://schemas.microsoft.com/office/drawing/2014/main" id="{0A9E453A-130E-4420-B939-3B01D45A9E1A}"/>
              </a:ext>
            </a:extLst>
          </p:cNvPr>
          <p:cNvSpPr txBox="1"/>
          <p:nvPr/>
        </p:nvSpPr>
        <p:spPr>
          <a:xfrm>
            <a:off x="7828014" y="4471935"/>
            <a:ext cx="940877"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"Luft"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9" name="TextBox 18">
            <a:extLst>
              <a:ext uri="{FF2B5EF4-FFF2-40B4-BE49-F238E27FC236}">
                <a16:creationId xmlns:a16="http://schemas.microsoft.com/office/drawing/2014/main" id="{2EBDF107-BC22-4FC1-8AEB-3F0725E7E427}"/>
              </a:ext>
            </a:extLst>
          </p:cNvPr>
          <p:cNvSpPr txBox="1"/>
          <p:nvPr/>
        </p:nvSpPr>
        <p:spPr>
          <a:xfrm>
            <a:off x="6762058" y="3338579"/>
            <a:ext cx="1065956"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"Stein"</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0" name="TextBox 19">
            <a:extLst>
              <a:ext uri="{FF2B5EF4-FFF2-40B4-BE49-F238E27FC236}">
                <a16:creationId xmlns:a16="http://schemas.microsoft.com/office/drawing/2014/main" id="{38714648-D64D-4283-B722-183C4DA62EAF}"/>
              </a:ext>
            </a:extLst>
          </p:cNvPr>
          <p:cNvSpPr txBox="1"/>
          <p:nvPr/>
        </p:nvSpPr>
        <p:spPr>
          <a:xfrm>
            <a:off x="7098918" y="5780604"/>
            <a:ext cx="133730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"Pflanze"</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1" name="TextBox 20">
            <a:extLst>
              <a:ext uri="{FF2B5EF4-FFF2-40B4-BE49-F238E27FC236}">
                <a16:creationId xmlns:a16="http://schemas.microsoft.com/office/drawing/2014/main" id="{4FF9EF36-EBAA-4218-A71C-14CEB643D90A}"/>
              </a:ext>
            </a:extLst>
          </p:cNvPr>
          <p:cNvSpPr txBox="1"/>
          <p:nvPr/>
        </p:nvSpPr>
        <p:spPr>
          <a:xfrm>
            <a:off x="9638261" y="5545575"/>
            <a:ext cx="965842"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"Sand"</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2" name="TextBox 21">
            <a:extLst>
              <a:ext uri="{FF2B5EF4-FFF2-40B4-BE49-F238E27FC236}">
                <a16:creationId xmlns:a16="http://schemas.microsoft.com/office/drawing/2014/main" id="{FBAF10CC-B22E-4643-A373-15587C632E8F}"/>
              </a:ext>
            </a:extLst>
          </p:cNvPr>
          <p:cNvSpPr txBox="1"/>
          <p:nvPr/>
        </p:nvSpPr>
        <p:spPr>
          <a:xfrm>
            <a:off x="10195215" y="3125894"/>
            <a:ext cx="1331429"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"Schlamm"</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cxnSp>
        <p:nvCxnSpPr>
          <p:cNvPr id="24" name="Straight Arrow Connector 23">
            <a:extLst>
              <a:ext uri="{FF2B5EF4-FFF2-40B4-BE49-F238E27FC236}">
                <a16:creationId xmlns:a16="http://schemas.microsoft.com/office/drawing/2014/main" id="{8EF822FB-086A-4A09-8976-A37E9AD606A6}"/>
              </a:ext>
            </a:extLst>
          </p:cNvPr>
          <p:cNvCxnSpPr>
            <a:cxnSpLocks/>
            <a:endCxn id="19" idx="1"/>
          </p:cNvCxnSpPr>
          <p:nvPr/>
        </p:nvCxnSpPr>
        <p:spPr>
          <a:xfrm>
            <a:off x="5515495" y="3338579"/>
            <a:ext cx="1246563" cy="323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B037A5B-D807-4C67-AB95-6351BCCB80DE}"/>
              </a:ext>
            </a:extLst>
          </p:cNvPr>
          <p:cNvCxnSpPr>
            <a:cxnSpLocks/>
            <a:endCxn id="18" idx="1"/>
          </p:cNvCxnSpPr>
          <p:nvPr/>
        </p:nvCxnSpPr>
        <p:spPr>
          <a:xfrm>
            <a:off x="5515284" y="3662420"/>
            <a:ext cx="2312730" cy="11326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ADC2F5-CE7B-4DB2-9FA0-F6D4BB5F359F}"/>
              </a:ext>
            </a:extLst>
          </p:cNvPr>
          <p:cNvCxnSpPr>
            <a:cxnSpLocks/>
            <a:endCxn id="15" idx="1"/>
          </p:cNvCxnSpPr>
          <p:nvPr/>
        </p:nvCxnSpPr>
        <p:spPr>
          <a:xfrm>
            <a:off x="5515495" y="4094018"/>
            <a:ext cx="2203912" cy="155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7B3E4CB-1B1B-4042-AC76-103A57F27DAE}"/>
              </a:ext>
            </a:extLst>
          </p:cNvPr>
          <p:cNvCxnSpPr>
            <a:cxnSpLocks/>
            <a:endCxn id="20" idx="1"/>
          </p:cNvCxnSpPr>
          <p:nvPr/>
        </p:nvCxnSpPr>
        <p:spPr>
          <a:xfrm>
            <a:off x="5584961" y="4372084"/>
            <a:ext cx="1513957" cy="17316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659D9B-693F-48B4-B68E-F395C7A220D7}"/>
              </a:ext>
            </a:extLst>
          </p:cNvPr>
          <p:cNvCxnSpPr>
            <a:cxnSpLocks/>
            <a:endCxn id="16" idx="1"/>
          </p:cNvCxnSpPr>
          <p:nvPr/>
        </p:nvCxnSpPr>
        <p:spPr>
          <a:xfrm>
            <a:off x="5515495" y="4846320"/>
            <a:ext cx="2728653" cy="407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3071FCE-CDE7-4A1B-80CD-EE7D0E4166CC}"/>
              </a:ext>
            </a:extLst>
          </p:cNvPr>
          <p:cNvCxnSpPr>
            <a:cxnSpLocks/>
            <a:endCxn id="15" idx="1"/>
          </p:cNvCxnSpPr>
          <p:nvPr/>
        </p:nvCxnSpPr>
        <p:spPr>
          <a:xfrm flipV="1">
            <a:off x="5515495" y="4249144"/>
            <a:ext cx="2203912" cy="93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71B2BB4-5588-4AC2-B665-B76E26712188}"/>
              </a:ext>
            </a:extLst>
          </p:cNvPr>
          <p:cNvCxnSpPr>
            <a:cxnSpLocks/>
            <a:endCxn id="22" idx="1"/>
          </p:cNvCxnSpPr>
          <p:nvPr/>
        </p:nvCxnSpPr>
        <p:spPr>
          <a:xfrm flipV="1">
            <a:off x="5515495" y="3449060"/>
            <a:ext cx="4679720" cy="21370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EB6C2C5-DBE4-46DE-B3AA-32E582550A96}"/>
              </a:ext>
            </a:extLst>
          </p:cNvPr>
          <p:cNvCxnSpPr>
            <a:cxnSpLocks/>
            <a:endCxn id="20" idx="1"/>
          </p:cNvCxnSpPr>
          <p:nvPr/>
        </p:nvCxnSpPr>
        <p:spPr>
          <a:xfrm flipV="1">
            <a:off x="5551710" y="6103770"/>
            <a:ext cx="1547208" cy="135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3" name="Ink 42">
                <a:extLst>
                  <a:ext uri="{FF2B5EF4-FFF2-40B4-BE49-F238E27FC236}">
                    <a16:creationId xmlns:a16="http://schemas.microsoft.com/office/drawing/2014/main" id="{9CABC56B-282F-4FC5-82C0-F30294F734E8}"/>
                  </a:ext>
                </a:extLst>
              </p14:cNvPr>
              <p14:cNvContentPartPr/>
              <p14:nvPr/>
            </p14:nvContentPartPr>
            <p14:xfrm>
              <a:off x="6620564" y="2069804"/>
              <a:ext cx="4906080" cy="4223880"/>
            </p14:xfrm>
          </p:contentPart>
        </mc:Choice>
        <mc:Fallback xmlns="">
          <p:pic>
            <p:nvPicPr>
              <p:cNvPr id="43" name="Ink 42">
                <a:extLst>
                  <a:ext uri="{FF2B5EF4-FFF2-40B4-BE49-F238E27FC236}">
                    <a16:creationId xmlns:a16="http://schemas.microsoft.com/office/drawing/2014/main" id="{9CABC56B-282F-4FC5-82C0-F30294F734E8}"/>
                  </a:ext>
                </a:extLst>
              </p:cNvPr>
              <p:cNvPicPr/>
              <p:nvPr/>
            </p:nvPicPr>
            <p:blipFill>
              <a:blip r:embed="rId3"/>
              <a:stretch>
                <a:fillRect/>
              </a:stretch>
            </p:blipFill>
            <p:spPr>
              <a:xfrm>
                <a:off x="6614444" y="2063324"/>
                <a:ext cx="4918320" cy="4236120"/>
              </a:xfrm>
              <a:prstGeom prst="rect">
                <a:avLst/>
              </a:prstGeom>
            </p:spPr>
          </p:pic>
        </mc:Fallback>
      </mc:AlternateContent>
      <p:pic>
        <p:nvPicPr>
          <p:cNvPr id="25" name="Graphic 24" descr="Lightbulb with solid fill">
            <a:extLst>
              <a:ext uri="{FF2B5EF4-FFF2-40B4-BE49-F238E27FC236}">
                <a16:creationId xmlns:a16="http://schemas.microsoft.com/office/drawing/2014/main" id="{85FB25C5-DD64-4940-8C1D-7B99457C004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52140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9FDB93-FE17-4F5F-9195-4DE14B7A54B7}"/>
              </a:ext>
            </a:extLst>
          </p:cNvPr>
          <p:cNvSpPr>
            <a:spLocks noGrp="1"/>
          </p:cNvSpPr>
          <p:nvPr>
            <p:ph type="title"/>
          </p:nvPr>
        </p:nvSpPr>
        <p:spPr/>
        <p:txBody>
          <a:bodyPr/>
          <a:lstStyle/>
          <a:p>
            <a:r>
              <a:rPr lang="de-DE" dirty="0"/>
              <a:t>Array-Inhalte verändern</a:t>
            </a:r>
          </a:p>
        </p:txBody>
      </p:sp>
      <p:sp>
        <p:nvSpPr>
          <p:cNvPr id="3" name="Inhaltsplatzhalter 2">
            <a:extLst>
              <a:ext uri="{FF2B5EF4-FFF2-40B4-BE49-F238E27FC236}">
                <a16:creationId xmlns:a16="http://schemas.microsoft.com/office/drawing/2014/main" id="{7852041E-93B1-43F1-A516-F20876999404}"/>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100</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808080"/>
                </a:solidFill>
                <a:effectLst/>
                <a:latin typeface="Roboto Mono" panose="00000009000000000000" pitchFamily="50" charset="0"/>
              </a:rPr>
              <a:t>quadrate</a:t>
            </a:r>
            <a:r>
              <a:rPr kumimoji="0" lang="de-DE" altLang="de-DE" sz="1800" b="0" i="0" u="none" strike="noStrike" cap="none" normalizeH="0" baseline="0" dirty="0">
                <a:ln>
                  <a:noFill/>
                </a:ln>
                <a:solidFill>
                  <a:srgbClr val="808080"/>
                </a:solidFill>
                <a:effectLst/>
                <a:latin typeface="Roboto Mono" panose="00000009000000000000" pitchFamily="50" charset="0"/>
              </a:rPr>
              <a:t>[0] .. </a:t>
            </a:r>
            <a:r>
              <a:rPr kumimoji="0" lang="de-DE" altLang="de-DE" sz="1800" b="0" i="0" u="none" strike="noStrike" cap="none" normalizeH="0" baseline="0" dirty="0" err="1">
                <a:ln>
                  <a:noFill/>
                </a:ln>
                <a:solidFill>
                  <a:srgbClr val="808080"/>
                </a:solidFill>
                <a:effectLst/>
                <a:latin typeface="Roboto Mono" panose="00000009000000000000" pitchFamily="50" charset="0"/>
              </a:rPr>
              <a:t>quadrate</a:t>
            </a:r>
            <a:r>
              <a:rPr kumimoji="0" lang="de-DE" altLang="de-DE" sz="1800" b="0" i="0" u="none" strike="noStrike" cap="none" normalizeH="0" baseline="0" dirty="0">
                <a:ln>
                  <a:noFill/>
                </a:ln>
                <a:solidFill>
                  <a:srgbClr val="808080"/>
                </a:solidFill>
                <a:effectLst/>
                <a:latin typeface="Roboto Mono" panose="00000009000000000000" pitchFamily="50" charset="0"/>
              </a:rPr>
              <a:t>[99]</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i * i</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3</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Ausgabe: 9</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Ausgabe: 16</a:t>
            </a:r>
            <a:endParaRPr kumimoji="0" lang="de-DE" altLang="de-DE" sz="32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DADE6AD9-F492-4704-A265-C851CA102C8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4234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AF34C-CCA9-4241-9CDD-EFA75D55336C}"/>
              </a:ext>
            </a:extLst>
          </p:cNvPr>
          <p:cNvSpPr>
            <a:spLocks noGrp="1"/>
          </p:cNvSpPr>
          <p:nvPr>
            <p:ph type="title"/>
          </p:nvPr>
        </p:nvSpPr>
        <p:spPr/>
        <p:txBody>
          <a:bodyPr/>
          <a:lstStyle/>
          <a:p>
            <a:r>
              <a:rPr lang="de-DE" dirty="0"/>
              <a:t>Beliebig viele Argumente</a:t>
            </a:r>
          </a:p>
        </p:txBody>
      </p:sp>
      <p:sp>
        <p:nvSpPr>
          <p:cNvPr id="3" name="Content Placeholder 2">
            <a:extLst>
              <a:ext uri="{FF2B5EF4-FFF2-40B4-BE49-F238E27FC236}">
                <a16:creationId xmlns:a16="http://schemas.microsoft.com/office/drawing/2014/main" id="{4E0B0E26-FBE0-4CB4-932A-EE983591BCDB}"/>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4133264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1EAF8-434C-4628-B16B-75309C9CE66E}"/>
              </a:ext>
            </a:extLst>
          </p:cNvPr>
          <p:cNvSpPr>
            <a:spLocks noGrp="1"/>
          </p:cNvSpPr>
          <p:nvPr>
            <p:ph type="title"/>
          </p:nvPr>
        </p:nvSpPr>
        <p:spPr/>
        <p:txBody>
          <a:bodyPr/>
          <a:lstStyle/>
          <a:p>
            <a:r>
              <a:rPr lang="de-DE" dirty="0"/>
              <a:t>Mehrdimensionale Arrays</a:t>
            </a:r>
          </a:p>
        </p:txBody>
      </p:sp>
      <p:sp>
        <p:nvSpPr>
          <p:cNvPr id="3" name="Content Placeholder 2">
            <a:extLst>
              <a:ext uri="{FF2B5EF4-FFF2-40B4-BE49-F238E27FC236}">
                <a16:creationId xmlns:a16="http://schemas.microsoft.com/office/drawing/2014/main" id="{8324483D-F7AE-4B77-BB94-907ACC6FE376}"/>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910480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09DD83-7B83-4278-8996-8907C5E65CDF}"/>
              </a:ext>
            </a:extLst>
          </p:cNvPr>
          <p:cNvSpPr>
            <a:spLocks noGrp="1"/>
          </p:cNvSpPr>
          <p:nvPr>
            <p:ph type="title"/>
          </p:nvPr>
        </p:nvSpPr>
        <p:spPr/>
        <p:txBody>
          <a:bodyPr/>
          <a:lstStyle/>
          <a:p>
            <a:r>
              <a:rPr lang="de-DE" dirty="0"/>
              <a:t>Algorithmus</a:t>
            </a:r>
          </a:p>
        </p:txBody>
      </p:sp>
      <p:sp>
        <p:nvSpPr>
          <p:cNvPr id="3" name="Inhaltsplatzhalter 2">
            <a:extLst>
              <a:ext uri="{FF2B5EF4-FFF2-40B4-BE49-F238E27FC236}">
                <a16:creationId xmlns:a16="http://schemas.microsoft.com/office/drawing/2014/main" id="{605C84C4-0001-40AA-98A1-0D500E954B9A}"/>
              </a:ext>
            </a:extLst>
          </p:cNvPr>
          <p:cNvSpPr>
            <a:spLocks noGrp="1"/>
          </p:cNvSpPr>
          <p:nvPr>
            <p:ph idx="1"/>
          </p:nvPr>
        </p:nvSpPr>
        <p:spPr/>
        <p:txBody>
          <a:bodyPr/>
          <a:lstStyle/>
          <a:p>
            <a:pPr marL="0" indent="0">
              <a:buNone/>
            </a:pPr>
            <a:r>
              <a:rPr lang="de-DE" dirty="0"/>
              <a:t>Ablauf von Befehlen, der ein (mathematisches) Problem löst</a:t>
            </a:r>
          </a:p>
          <a:p>
            <a:pPr marL="0" indent="0">
              <a:buNone/>
            </a:pPr>
            <a:endParaRPr lang="de-DE" dirty="0"/>
          </a:p>
          <a:p>
            <a:pPr marL="0" indent="0">
              <a:buNone/>
            </a:pPr>
            <a:r>
              <a:rPr lang="de-DE" dirty="0"/>
              <a:t>Beispiele:</a:t>
            </a:r>
          </a:p>
          <a:p>
            <a:r>
              <a:rPr lang="de-DE" dirty="0"/>
              <a:t>Durchschnitt mehrerer Zahlen berechnen</a:t>
            </a:r>
          </a:p>
          <a:p>
            <a:r>
              <a:rPr lang="de-DE" dirty="0"/>
              <a:t>Besten Tick-Tack-Toe Zug finden</a:t>
            </a:r>
          </a:p>
          <a:p>
            <a:r>
              <a:rPr lang="de-DE" dirty="0"/>
              <a:t>Ausgang eines Labyrinths finden</a:t>
            </a:r>
          </a:p>
        </p:txBody>
      </p:sp>
      <p:pic>
        <p:nvPicPr>
          <p:cNvPr id="4" name="Graphic 3" descr="Lightbulb with solid fill">
            <a:extLst>
              <a:ext uri="{FF2B5EF4-FFF2-40B4-BE49-F238E27FC236}">
                <a16:creationId xmlns:a16="http://schemas.microsoft.com/office/drawing/2014/main" id="{C513A054-9CA0-48CD-A9CA-46ED797FEAF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1158244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53667-8FD8-44C3-9A3C-254DFAA624A0}"/>
              </a:ext>
            </a:extLst>
          </p:cNvPr>
          <p:cNvSpPr>
            <a:spLocks noGrp="1"/>
          </p:cNvSpPr>
          <p:nvPr>
            <p:ph type="title"/>
          </p:nvPr>
        </p:nvSpPr>
        <p:spPr/>
        <p:txBody>
          <a:bodyPr/>
          <a:lstStyle/>
          <a:p>
            <a:r>
              <a:rPr lang="de-DE" dirty="0"/>
              <a:t>Beispiel: Durchschnitt mehrerer Zahlen</a:t>
            </a:r>
          </a:p>
        </p:txBody>
      </p:sp>
      <p:sp>
        <p:nvSpPr>
          <p:cNvPr id="3" name="Content Placeholder 2">
            <a:extLst>
              <a:ext uri="{FF2B5EF4-FFF2-40B4-BE49-F238E27FC236}">
                <a16:creationId xmlns:a16="http://schemas.microsoft.com/office/drawing/2014/main" id="{F220A0A4-6527-4C67-893E-08EEA4FA3E9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D6AF72"/>
                </a:solidFill>
                <a:effectLst/>
                <a:latin typeface="Roboto Mono" panose="00000009000000000000" pitchFamily="50" charset="0"/>
              </a:rPr>
              <a:t>durchschnitt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zahlen</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sz="1800" dirty="0">
              <a:latin typeface="Roboto Mono" panose="00000009000000000000" pitchFamily="50" charset="0"/>
            </a:endParaRPr>
          </a:p>
        </p:txBody>
      </p:sp>
      <p:pic>
        <p:nvPicPr>
          <p:cNvPr id="6" name="Graphic 5" descr="Lightbulb with solid fill">
            <a:extLst>
              <a:ext uri="{FF2B5EF4-FFF2-40B4-BE49-F238E27FC236}">
                <a16:creationId xmlns:a16="http://schemas.microsoft.com/office/drawing/2014/main" id="{91187DED-BB80-4DD7-849C-D29ABBE2808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95646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528C-FAE7-481A-90C7-DD0865545BBA}"/>
              </a:ext>
            </a:extLst>
          </p:cNvPr>
          <p:cNvSpPr>
            <a:spLocks noGrp="1"/>
          </p:cNvSpPr>
          <p:nvPr>
            <p:ph type="title"/>
          </p:nvPr>
        </p:nvSpPr>
        <p:spPr/>
        <p:txBody>
          <a:bodyPr/>
          <a:lstStyle/>
          <a:p>
            <a:r>
              <a:rPr lang="de-DE" dirty="0" err="1"/>
              <a:t>foreach</a:t>
            </a:r>
            <a:r>
              <a:rPr lang="de-DE" dirty="0"/>
              <a:t>-Schleife</a:t>
            </a:r>
          </a:p>
        </p:txBody>
      </p:sp>
      <p:sp>
        <p:nvSpPr>
          <p:cNvPr id="3" name="Content Placeholder 2">
            <a:extLst>
              <a:ext uri="{FF2B5EF4-FFF2-40B4-BE49-F238E27FC236}">
                <a16:creationId xmlns:a16="http://schemas.microsoft.com/office/drawing/2014/main" id="{F1079E1A-FE59-4FFC-96C4-A3BEBC20DF68}"/>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Ich will alle Geschichten hören.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Ich will die längste Geschichte hören.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Für jede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Ist sie länger als die aktuell längste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&gt;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Gib die längste aus</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A63E1CEC-6956-4EC6-9CCD-B241A1A13B9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493489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C0B96-A400-4E35-862B-CA6DDBEA277F}"/>
              </a:ext>
            </a:extLst>
          </p:cNvPr>
          <p:cNvSpPr>
            <a:spLocks noGrp="1"/>
          </p:cNvSpPr>
          <p:nvPr>
            <p:ph type="title"/>
          </p:nvPr>
        </p:nvSpPr>
        <p:spPr/>
        <p:txBody>
          <a:bodyPr/>
          <a:lstStyle/>
          <a:p>
            <a:r>
              <a:rPr lang="de-DE" dirty="0"/>
              <a:t>Iterator</a:t>
            </a:r>
          </a:p>
        </p:txBody>
      </p:sp>
      <p:sp>
        <p:nvSpPr>
          <p:cNvPr id="3" name="Content Placeholder 2">
            <a:extLst>
              <a:ext uri="{FF2B5EF4-FFF2-40B4-BE49-F238E27FC236}">
                <a16:creationId xmlns:a16="http://schemas.microsoft.com/office/drawing/2014/main" id="{6B38E255-618A-4DBD-B6A1-D929F1825DF0}"/>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7870769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8D408-2E39-47DC-9885-F5FBEABA1374}"/>
              </a:ext>
            </a:extLst>
          </p:cNvPr>
          <p:cNvSpPr>
            <a:spLocks noGrp="1"/>
          </p:cNvSpPr>
          <p:nvPr>
            <p:ph type="title"/>
          </p:nvPr>
        </p:nvSpPr>
        <p:spPr/>
        <p:txBody>
          <a:bodyPr/>
          <a:lstStyle/>
          <a:p>
            <a:r>
              <a:rPr lang="de-DE" dirty="0"/>
              <a:t>Verbessert: Durchschnitt mehrerer Zahlen</a:t>
            </a:r>
          </a:p>
        </p:txBody>
      </p:sp>
      <p:sp>
        <p:nvSpPr>
          <p:cNvPr id="3" name="Content Placeholder 2">
            <a:extLst>
              <a:ext uri="{FF2B5EF4-FFF2-40B4-BE49-F238E27FC236}">
                <a16:creationId xmlns:a16="http://schemas.microsoft.com/office/drawing/2014/main" id="{18F8450A-7D32-4A90-B417-113668FBBB50}"/>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D6AF72"/>
                </a:solidFill>
                <a:effectLst/>
                <a:latin typeface="Roboto Mono" panose="00000009000000000000" pitchFamily="50" charset="0"/>
              </a:rPr>
              <a:t>durchschnitt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 : zahlen</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zahl</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Puzzle pieces with solid fill">
            <a:extLst>
              <a:ext uri="{FF2B5EF4-FFF2-40B4-BE49-F238E27FC236}">
                <a16:creationId xmlns:a16="http://schemas.microsoft.com/office/drawing/2014/main" id="{A350A0F6-B300-4933-969E-91575BA93D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61653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descr="Arrow circle with solid fill">
            <a:extLst>
              <a:ext uri="{FF2B5EF4-FFF2-40B4-BE49-F238E27FC236}">
                <a16:creationId xmlns:a16="http://schemas.microsoft.com/office/drawing/2014/main" id="{BDCE9FB2-B682-49A2-B1D0-87520BFEBC7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5978" y="570706"/>
            <a:ext cx="914400" cy="914400"/>
          </a:xfrm>
          <a:prstGeom prst="rect">
            <a:avLst/>
          </a:prstGeom>
        </p:spPr>
      </p:pic>
      <p:sp>
        <p:nvSpPr>
          <p:cNvPr id="2" name="Title 1">
            <a:extLst>
              <a:ext uri="{FF2B5EF4-FFF2-40B4-BE49-F238E27FC236}">
                <a16:creationId xmlns:a16="http://schemas.microsoft.com/office/drawing/2014/main" id="{DB994218-72F7-48DA-BFB2-98EE4C384609}"/>
              </a:ext>
            </a:extLst>
          </p:cNvPr>
          <p:cNvSpPr>
            <a:spLocks noGrp="1"/>
          </p:cNvSpPr>
          <p:nvPr>
            <p:ph type="title"/>
          </p:nvPr>
        </p:nvSpPr>
        <p:spPr/>
        <p:txBody>
          <a:bodyPr/>
          <a:lstStyle/>
          <a:p>
            <a:r>
              <a:rPr lang="de-DE" dirty="0"/>
              <a:t>Rekursion</a:t>
            </a:r>
          </a:p>
        </p:txBody>
      </p:sp>
      <p:sp>
        <p:nvSpPr>
          <p:cNvPr id="3" name="Content Placeholder 2">
            <a:extLst>
              <a:ext uri="{FF2B5EF4-FFF2-40B4-BE49-F238E27FC236}">
                <a16:creationId xmlns:a16="http://schemas.microsoft.com/office/drawing/2014/main" id="{7A21FD65-2DAF-4BD1-A35A-AFC245CC8F68}"/>
              </a:ext>
            </a:extLst>
          </p:cNvPr>
          <p:cNvSpPr>
            <a:spLocks noGrp="1"/>
          </p:cNvSpPr>
          <p:nvPr>
            <p:ph idx="1"/>
          </p:nvPr>
        </p:nvSpPr>
        <p:spPr/>
        <p:txBody>
          <a:bodyPr/>
          <a:lstStyle/>
          <a:p>
            <a:r>
              <a:rPr lang="de-DE" dirty="0"/>
              <a:t>Methode ruft sich selbst auf</a:t>
            </a:r>
          </a:p>
        </p:txBody>
      </p:sp>
      <p:pic>
        <p:nvPicPr>
          <p:cNvPr id="4" name="Graphic 3" descr="Lightbulb with solid fill">
            <a:extLst>
              <a:ext uri="{FF2B5EF4-FFF2-40B4-BE49-F238E27FC236}">
                <a16:creationId xmlns:a16="http://schemas.microsoft.com/office/drawing/2014/main" id="{6250E774-6BD7-4BA0-8DBB-B56E7A4B90A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9316907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FB229-758C-412B-942A-7AA7E30323A0}"/>
              </a:ext>
            </a:extLst>
          </p:cNvPr>
          <p:cNvSpPr>
            <a:spLocks noGrp="1"/>
          </p:cNvSpPr>
          <p:nvPr>
            <p:ph type="title"/>
          </p:nvPr>
        </p:nvSpPr>
        <p:spPr/>
        <p:txBody>
          <a:bodyPr/>
          <a:lstStyle/>
          <a:p>
            <a:r>
              <a:rPr lang="de-DE" dirty="0"/>
              <a:t>Polymorphismus</a:t>
            </a:r>
          </a:p>
        </p:txBody>
      </p:sp>
      <p:sp>
        <p:nvSpPr>
          <p:cNvPr id="3" name="Content Placeholder 2">
            <a:extLst>
              <a:ext uri="{FF2B5EF4-FFF2-40B4-BE49-F238E27FC236}">
                <a16:creationId xmlns:a16="http://schemas.microsoft.com/office/drawing/2014/main" id="{33BF376B-1690-4EC9-AE6C-46307C810147}"/>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7481662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9A50829-2536-4CC4-9995-20789DFCD30A}"/>
              </a:ext>
            </a:extLst>
          </p:cNvPr>
          <p:cNvSpPr>
            <a:spLocks noGrp="1"/>
          </p:cNvSpPr>
          <p:nvPr>
            <p:ph type="title"/>
          </p:nvPr>
        </p:nvSpPr>
        <p:spPr/>
        <p:txBody>
          <a:bodyPr/>
          <a:lstStyle/>
          <a:p>
            <a:r>
              <a:rPr lang="de-DE" dirty="0"/>
              <a:t>Vererbung</a:t>
            </a:r>
          </a:p>
        </p:txBody>
      </p:sp>
      <p:sp>
        <p:nvSpPr>
          <p:cNvPr id="3" name="Inhaltsplatzhalter 2">
            <a:extLst>
              <a:ext uri="{FF2B5EF4-FFF2-40B4-BE49-F238E27FC236}">
                <a16:creationId xmlns:a16="http://schemas.microsoft.com/office/drawing/2014/main" id="{5F12857A-A633-4502-A405-D96EA4677657}"/>
              </a:ext>
            </a:extLst>
          </p:cNvPr>
          <p:cNvSpPr>
            <a:spLocks noGrp="1"/>
          </p:cNvSpPr>
          <p:nvPr>
            <p:ph idx="1"/>
          </p:nvPr>
        </p:nvSpPr>
        <p:spPr/>
        <p:txBody>
          <a:bodyPr>
            <a:normAutofit/>
          </a:bodyPr>
          <a:lstStyle/>
          <a:p>
            <a:r>
              <a:rPr lang="de-DE" dirty="0"/>
              <a:t>Klassen können andere Klassen erweitern. Beispiele:</a:t>
            </a:r>
          </a:p>
          <a:p>
            <a:pPr lvl="1"/>
            <a:r>
              <a:rPr lang="de-DE" dirty="0"/>
              <a:t>„Main“ erweitert „</a:t>
            </a:r>
            <a:r>
              <a:rPr lang="de-DE" dirty="0" err="1"/>
              <a:t>ApplicationListener</a:t>
            </a:r>
            <a:r>
              <a:rPr lang="de-DE" dirty="0"/>
              <a:t>“, um Lifecycle-Methoden zu überschreiben.</a:t>
            </a:r>
          </a:p>
          <a:p>
            <a:pPr lvl="1"/>
            <a:r>
              <a:rPr lang="de-DE" dirty="0"/>
              <a:t>„</a:t>
            </a:r>
            <a:r>
              <a:rPr lang="de-DE" dirty="0" err="1"/>
              <a:t>ExtendViewport</a:t>
            </a:r>
            <a:r>
              <a:rPr lang="de-DE" dirty="0"/>
              <a:t>“ erweitert „Viewport“, um den Rest des Bildschirms auszufüllen.</a:t>
            </a:r>
          </a:p>
          <a:p>
            <a:pPr lvl="1"/>
            <a:r>
              <a:rPr lang="de-DE" dirty="0"/>
              <a:t>„</a:t>
            </a:r>
            <a:r>
              <a:rPr lang="de-DE" dirty="0" err="1"/>
              <a:t>DefaultAndroidInput</a:t>
            </a:r>
            <a:r>
              <a:rPr lang="de-DE" dirty="0"/>
              <a:t>“ erweitert „Input“, um Fingerbewegungen und Handydrehungen auszulesen und „DefaultLwjgl3Input“ erweitert „Input“, um Mausklicks und Tastatureingaben auszulesen.</a:t>
            </a:r>
          </a:p>
          <a:p>
            <a:r>
              <a:rPr lang="de-DE" dirty="0"/>
              <a:t>Bei Vererbung können Klassen Methoden überschreiben. So tun Objekte dieser Klasse nicht das, was in der Basisklasse, sondern was in der </a:t>
            </a:r>
            <a:r>
              <a:rPr lang="de-DE" dirty="0">
                <a:solidFill>
                  <a:srgbClr val="FFCCFF"/>
                </a:solidFill>
              </a:rPr>
              <a:t>abgeleiteten</a:t>
            </a:r>
            <a:r>
              <a:rPr lang="de-DE" dirty="0"/>
              <a:t> Klasse festgelegt wurde.</a:t>
            </a:r>
          </a:p>
        </p:txBody>
      </p:sp>
      <p:pic>
        <p:nvPicPr>
          <p:cNvPr id="4" name="Graphic 3" descr="Books with solid fill">
            <a:extLst>
              <a:ext uri="{FF2B5EF4-FFF2-40B4-BE49-F238E27FC236}">
                <a16:creationId xmlns:a16="http://schemas.microsoft.com/office/drawing/2014/main" id="{276FA7B7-42E6-46F3-B8EC-183ECA0AB1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762997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F1CD60-6E34-45DD-84D3-404116C6D21A}"/>
              </a:ext>
            </a:extLst>
          </p:cNvPr>
          <p:cNvSpPr>
            <a:spLocks noGrp="1"/>
          </p:cNvSpPr>
          <p:nvPr>
            <p:ph type="title"/>
          </p:nvPr>
        </p:nvSpPr>
        <p:spPr/>
        <p:txBody>
          <a:bodyPr/>
          <a:lstStyle/>
          <a:p>
            <a:r>
              <a:rPr lang="de-DE" dirty="0"/>
              <a:t>Begriffe - Vererbung</a:t>
            </a:r>
          </a:p>
        </p:txBody>
      </p:sp>
      <p:graphicFrame>
        <p:nvGraphicFramePr>
          <p:cNvPr id="4" name="Tabelle 7">
            <a:extLst>
              <a:ext uri="{FF2B5EF4-FFF2-40B4-BE49-F238E27FC236}">
                <a16:creationId xmlns:a16="http://schemas.microsoft.com/office/drawing/2014/main" id="{0FC56745-A5CC-4315-9B67-58BDF1E248CB}"/>
              </a:ext>
            </a:extLst>
          </p:cNvPr>
          <p:cNvGraphicFramePr>
            <a:graphicFrameLocks noGrp="1"/>
          </p:cNvGraphicFramePr>
          <p:nvPr/>
        </p:nvGraphicFramePr>
        <p:xfrm>
          <a:off x="838200" y="2459038"/>
          <a:ext cx="10515600" cy="2905443"/>
        </p:xfrm>
        <a:graphic>
          <a:graphicData uri="http://schemas.openxmlformats.org/drawingml/2006/table">
            <a:tbl>
              <a:tblPr firstRow="1" bandRow="1">
                <a:tableStyleId>{5C22544A-7EE6-4342-B048-85BDC9FD1C3A}</a:tableStyleId>
              </a:tblPr>
              <a:tblGrid>
                <a:gridCol w="2084858">
                  <a:extLst>
                    <a:ext uri="{9D8B030D-6E8A-4147-A177-3AD203B41FA5}">
                      <a16:colId xmlns:a16="http://schemas.microsoft.com/office/drawing/2014/main" val="2317810761"/>
                    </a:ext>
                  </a:extLst>
                </a:gridCol>
                <a:gridCol w="4215371">
                  <a:extLst>
                    <a:ext uri="{9D8B030D-6E8A-4147-A177-3AD203B41FA5}">
                      <a16:colId xmlns:a16="http://schemas.microsoft.com/office/drawing/2014/main" val="3760803087"/>
                    </a:ext>
                  </a:extLst>
                </a:gridCol>
                <a:gridCol w="4215371">
                  <a:extLst>
                    <a:ext uri="{9D8B030D-6E8A-4147-A177-3AD203B41FA5}">
                      <a16:colId xmlns:a16="http://schemas.microsoft.com/office/drawing/2014/main" val="2878832364"/>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latin typeface="IBM Plex Sans" panose="020B0503050203000203" pitchFamily="34" charset="0"/>
                        </a:rPr>
                        <a:t>Superklasse / Basisklasse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Klasse A ist eine Superklasse bzw. Basisklasse von Klasse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Klassen „Pflanze“ und „Baum“ sind Superklassen der Klasse „Eiche“.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a:solidFill>
                            <a:schemeClr val="tx1"/>
                          </a:solidFill>
                          <a:latin typeface="IBM Plex Sans" panose="020B0503050203000203" pitchFamily="34" charset="0"/>
                        </a:rPr>
                        <a:t>Subklasse / abgeleitete 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Klasse B ist eine Subklasse bzw. abgeleitete Klasse von Klasse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Klassen „Baum“ und „Eiche“ sind Subklassen der Klasse „Pflanze“.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32830645"/>
                  </a:ext>
                </a:extLst>
              </a:tr>
              <a:tr h="451379">
                <a:tc>
                  <a:txBody>
                    <a:bodyPr/>
                    <a:lstStyle/>
                    <a:p>
                      <a:r>
                        <a:rPr lang="de-DE" u="none" dirty="0">
                          <a:solidFill>
                            <a:schemeClr val="tx1"/>
                          </a:solidFill>
                          <a:latin typeface="IBM Plex Sans" panose="020B0503050203000203" pitchFamily="34" charset="0"/>
                        </a:rPr>
                        <a:t>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Eine Methode aus Klasse A wird in Klasse B mit der gleichen Vorschrift deklariert. Ihr Verhalten wird so für alle Objekte von B neu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Wir überschreiben die Lifecycle-Methoden und definieren damit deren Verhalten neu.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29467603"/>
                  </a:ext>
                </a:extLst>
              </a:tr>
            </a:tbl>
          </a:graphicData>
        </a:graphic>
      </p:graphicFrame>
      <p:sp>
        <p:nvSpPr>
          <p:cNvPr id="5" name="Textfeld 4">
            <a:extLst>
              <a:ext uri="{FF2B5EF4-FFF2-40B4-BE49-F238E27FC236}">
                <a16:creationId xmlns:a16="http://schemas.microsoft.com/office/drawing/2014/main" id="{B2B69D6B-A555-4C71-A50E-93D2132820D2}"/>
              </a:ext>
            </a:extLst>
          </p:cNvPr>
          <p:cNvSpPr txBox="1"/>
          <p:nvPr/>
        </p:nvSpPr>
        <p:spPr>
          <a:xfrm>
            <a:off x="838200" y="1690688"/>
            <a:ext cx="3049233" cy="369332"/>
          </a:xfrm>
          <a:prstGeom prst="rect">
            <a:avLst/>
          </a:prstGeom>
          <a:noFill/>
        </p:spPr>
        <p:txBody>
          <a:bodyPr wrap="none" rtlCol="0">
            <a:spAutoFit/>
          </a:bodyPr>
          <a:lstStyle/>
          <a:p>
            <a:r>
              <a:rPr lang="de-DE" dirty="0">
                <a:latin typeface="IBM Plex Sans" panose="020B0503050203000203" pitchFamily="34" charset="0"/>
              </a:rPr>
              <a:t>Klasse B erweitert Klasse A</a:t>
            </a:r>
          </a:p>
        </p:txBody>
      </p:sp>
      <p:pic>
        <p:nvPicPr>
          <p:cNvPr id="6" name="Graphic 5" descr="Books with solid fill">
            <a:extLst>
              <a:ext uri="{FF2B5EF4-FFF2-40B4-BE49-F238E27FC236}">
                <a16:creationId xmlns:a16="http://schemas.microsoft.com/office/drawing/2014/main" id="{B5E1D30A-A9CB-411B-AD29-5175D0C2B5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0310829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78A049F-B707-4BF9-AE48-6221789AD3D7}"/>
              </a:ext>
            </a:extLst>
          </p:cNvPr>
          <p:cNvSpPr>
            <a:spLocks noGrp="1"/>
          </p:cNvSpPr>
          <p:nvPr>
            <p:ph type="title"/>
          </p:nvPr>
        </p:nvSpPr>
        <p:spPr/>
        <p:txBody>
          <a:bodyPr/>
          <a:lstStyle/>
          <a:p>
            <a:r>
              <a:rPr lang="de-DE" dirty="0"/>
              <a:t>final-Modifikator</a:t>
            </a:r>
          </a:p>
        </p:txBody>
      </p:sp>
      <p:sp>
        <p:nvSpPr>
          <p:cNvPr id="3" name="Inhaltsplatzhalter 2">
            <a:extLst>
              <a:ext uri="{FF2B5EF4-FFF2-40B4-BE49-F238E27FC236}">
                <a16:creationId xmlns:a16="http://schemas.microsoft.com/office/drawing/2014/main" id="{7C24BEBF-B385-4CF8-B02A-184DF8CEF9A0}"/>
              </a:ext>
            </a:extLst>
          </p:cNvPr>
          <p:cNvSpPr>
            <a:spLocks noGrp="1"/>
          </p:cNvSpPr>
          <p:nvPr>
            <p:ph idx="1"/>
          </p:nvPr>
        </p:nvSpPr>
        <p:spPr/>
        <p:txBody>
          <a:bodyPr/>
          <a:lstStyle/>
          <a:p>
            <a:pPr marL="0" indent="0">
              <a:buNone/>
            </a:pPr>
            <a:r>
              <a:rPr lang="de-DE" dirty="0"/>
              <a:t>Sorgt dafür, dass …</a:t>
            </a:r>
          </a:p>
          <a:p>
            <a:pPr marL="0" indent="0">
              <a:buNone/>
            </a:pPr>
            <a:r>
              <a:rPr lang="de-DE" dirty="0"/>
              <a:t>… Variablen kein neuer Wert zugewiesen werden kann.</a:t>
            </a:r>
          </a:p>
          <a:p>
            <a:pPr lvl="1"/>
            <a:r>
              <a:rPr lang="de-DE" dirty="0"/>
              <a:t>Achtung: Referenzierte Objekte können ihren Zustand ändern, es können nur keine neuen Objekte zugewiesen werden.</a:t>
            </a:r>
          </a:p>
          <a:p>
            <a:pPr marL="0" indent="0">
              <a:buNone/>
            </a:pPr>
            <a:r>
              <a:rPr lang="de-DE" dirty="0"/>
              <a:t>… Methoden nicht überschrieben werden können. (siehe </a:t>
            </a:r>
            <a:r>
              <a:rPr lang="de-DE" dirty="0">
                <a:hlinkClick r:id="rId2" action="ppaction://hlinksldjump"/>
              </a:rPr>
              <a:t>Vererbung</a:t>
            </a:r>
            <a:r>
              <a:rPr lang="de-DE" dirty="0"/>
              <a:t>)</a:t>
            </a:r>
          </a:p>
          <a:p>
            <a:pPr marL="0" indent="0">
              <a:buNone/>
            </a:pPr>
            <a:r>
              <a:rPr lang="de-DE" dirty="0"/>
              <a:t>… Klassen nicht erweitert werden können. (siehe </a:t>
            </a:r>
            <a:r>
              <a:rPr lang="de-DE" dirty="0">
                <a:hlinkClick r:id="rId2" action="ppaction://hlinksldjump"/>
              </a:rPr>
              <a:t>Vererbung</a:t>
            </a:r>
            <a:r>
              <a:rPr lang="de-DE" dirty="0"/>
              <a:t>)</a:t>
            </a:r>
          </a:p>
        </p:txBody>
      </p:sp>
      <p:pic>
        <p:nvPicPr>
          <p:cNvPr id="4" name="Graphic 3" descr="Books with solid fill">
            <a:extLst>
              <a:ext uri="{FF2B5EF4-FFF2-40B4-BE49-F238E27FC236}">
                <a16:creationId xmlns:a16="http://schemas.microsoft.com/office/drawing/2014/main" id="{35D95804-4CB3-4D9D-8343-473782C9E89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152867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399959-112B-4AEE-8900-955B304BCAB9}"/>
              </a:ext>
            </a:extLst>
          </p:cNvPr>
          <p:cNvSpPr>
            <a:spLocks noGrp="1"/>
          </p:cNvSpPr>
          <p:nvPr>
            <p:ph type="title"/>
          </p:nvPr>
        </p:nvSpPr>
        <p:spPr/>
        <p:txBody>
          <a:bodyPr/>
          <a:lstStyle/>
          <a:p>
            <a:r>
              <a:rPr lang="de-DE" dirty="0" err="1"/>
              <a:t>Object</a:t>
            </a:r>
            <a:r>
              <a:rPr lang="de-DE" dirty="0"/>
              <a:t>-Klasse</a:t>
            </a:r>
          </a:p>
        </p:txBody>
      </p:sp>
      <p:sp>
        <p:nvSpPr>
          <p:cNvPr id="3" name="Inhaltsplatzhalter 2">
            <a:extLst>
              <a:ext uri="{FF2B5EF4-FFF2-40B4-BE49-F238E27FC236}">
                <a16:creationId xmlns:a16="http://schemas.microsoft.com/office/drawing/2014/main" id="{77CC8868-0E80-4AB3-AF49-A9794EDCFCCB}"/>
              </a:ext>
            </a:extLst>
          </p:cNvPr>
          <p:cNvSpPr>
            <a:spLocks noGrp="1"/>
          </p:cNvSpPr>
          <p:nvPr>
            <p:ph idx="1"/>
          </p:nvPr>
        </p:nvSpPr>
        <p:spPr>
          <a:xfrm>
            <a:off x="838200" y="1825625"/>
            <a:ext cx="10515600" cy="549275"/>
          </a:xfrm>
        </p:spPr>
        <p:txBody>
          <a:bodyPr/>
          <a:lstStyle/>
          <a:p>
            <a:r>
              <a:rPr lang="de-DE" dirty="0"/>
              <a:t>Alle Klassen erweitern standardmäßig die Objekt-Klasse</a:t>
            </a:r>
          </a:p>
        </p:txBody>
      </p:sp>
      <p:graphicFrame>
        <p:nvGraphicFramePr>
          <p:cNvPr id="4" name="Tabelle 7">
            <a:extLst>
              <a:ext uri="{FF2B5EF4-FFF2-40B4-BE49-F238E27FC236}">
                <a16:creationId xmlns:a16="http://schemas.microsoft.com/office/drawing/2014/main" id="{B2EE7343-4913-4211-8A5B-14A53C7B4D76}"/>
              </a:ext>
            </a:extLst>
          </p:cNvPr>
          <p:cNvGraphicFramePr>
            <a:graphicFrameLocks noGrp="1"/>
          </p:cNvGraphicFramePr>
          <p:nvPr>
            <p:extLst>
              <p:ext uri="{D42A27DB-BD31-4B8C-83A1-F6EECF244321}">
                <p14:modId xmlns:p14="http://schemas.microsoft.com/office/powerpoint/2010/main" val="3542993296"/>
              </p:ext>
            </p:extLst>
          </p:nvPr>
        </p:nvGraphicFramePr>
        <p:xfrm>
          <a:off x="838200" y="2509837"/>
          <a:ext cx="10515599" cy="3179763"/>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492250">
                  <a:extLst>
                    <a:ext uri="{9D8B030D-6E8A-4147-A177-3AD203B41FA5}">
                      <a16:colId xmlns:a16="http://schemas.microsoft.com/office/drawing/2014/main" val="4025835444"/>
                    </a:ext>
                  </a:extLst>
                </a:gridCol>
                <a:gridCol w="14478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toString</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Wandelt das Objekt in Text um, damit wir es ausgeben können.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36563">
                <a:tc>
                  <a:txBody>
                    <a:bodyPr/>
                    <a:lstStyle/>
                    <a:p>
                      <a:r>
                        <a:rPr lang="de-DE" u="none" dirty="0" err="1">
                          <a:solidFill>
                            <a:schemeClr val="tx1"/>
                          </a:solidFill>
                          <a:latin typeface="IBM Plex Sans" panose="020B0503050203000203" pitchFamily="34" charset="0"/>
                        </a:rPr>
                        <a:t>equals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other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Siehe </a:t>
                      </a:r>
                      <a:r>
                        <a:rPr lang="de-DE" u="none" dirty="0" err="1">
                          <a:solidFill>
                            <a:schemeClr val="tx1"/>
                          </a:solidFill>
                          <a:latin typeface="IBM Plex Sans" panose="020B0503050203000203" pitchFamily="34" charset="0"/>
                          <a:hlinkClick r:id="rId2" action="ppaction://hlinksldjump"/>
                        </a:rPr>
                        <a:t>equals</a:t>
                      </a:r>
                      <a:r>
                        <a:rPr lang="de-DE" u="none" dirty="0">
                          <a:solidFill>
                            <a:schemeClr val="tx1"/>
                          </a:solidFill>
                          <a:hlinkClick r:id="rId2" action="ppaction://hlinksldjump"/>
                        </a:rPr>
                        <a:t>-Methode</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latin typeface="IBM Plex Sans" panose="020B0503050203000203" pitchFamily="34" charset="0"/>
                        </a:rPr>
                        <a:t>hashCode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Wandelt das Objekt in eine ganze Zahl (</a:t>
                      </a:r>
                      <a:r>
                        <a:rPr lang="de-DE" u="none" dirty="0" err="1">
                          <a:solidFill>
                            <a:schemeClr val="tx1"/>
                          </a:solidFill>
                          <a:latin typeface="IBM Plex Sans" panose="020B0503050203000203" pitchFamily="34" charset="0"/>
                        </a:rPr>
                        <a:t>int</a:t>
                      </a:r>
                      <a:r>
                        <a:rPr lang="de-DE" u="none" dirty="0">
                          <a:solidFill>
                            <a:schemeClr val="tx1"/>
                          </a:solidFill>
                        </a:rPr>
                        <a:t>) um. Die Umwandlung ist nicht zwingend </a:t>
                      </a:r>
                      <a:r>
                        <a:rPr lang="de-DE" u="none" dirty="0" err="1">
                          <a:solidFill>
                            <a:schemeClr val="tx1"/>
                          </a:solidFill>
                        </a:rPr>
                        <a:t>injektiv</a:t>
                      </a:r>
                      <a:r>
                        <a:rPr lang="de-DE" u="none" dirty="0">
                          <a:solidFill>
                            <a:schemeClr val="tx1"/>
                          </a:solidFill>
                        </a:rPr>
                        <a:t>. Diese kann verwendet werden, um das Objekt schnell wiederzufinden, ähnlich wie Bücher in einer Bibliothek, die nach Genre und Textart sortiert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7145346"/>
                  </a:ext>
                </a:extLst>
              </a:tr>
            </a:tbl>
          </a:graphicData>
        </a:graphic>
      </p:graphicFrame>
      <p:pic>
        <p:nvPicPr>
          <p:cNvPr id="5" name="Graphic 4" descr="Books with solid fill">
            <a:extLst>
              <a:ext uri="{FF2B5EF4-FFF2-40B4-BE49-F238E27FC236}">
                <a16:creationId xmlns:a16="http://schemas.microsoft.com/office/drawing/2014/main" id="{7AE8A1D0-96DC-4E08-A858-0ED1B658093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62235345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2004A-A67E-403F-9DAA-B6760E436D57}"/>
              </a:ext>
            </a:extLst>
          </p:cNvPr>
          <p:cNvSpPr>
            <a:spLocks noGrp="1"/>
          </p:cNvSpPr>
          <p:nvPr>
            <p:ph type="title"/>
          </p:nvPr>
        </p:nvSpPr>
        <p:spPr/>
        <p:txBody>
          <a:bodyPr/>
          <a:lstStyle/>
          <a:p>
            <a:r>
              <a:rPr lang="de-DE" dirty="0"/>
              <a:t>Zugriffsfunktionen</a:t>
            </a:r>
          </a:p>
        </p:txBody>
      </p:sp>
      <p:sp>
        <p:nvSpPr>
          <p:cNvPr id="3" name="Content Placeholder 2">
            <a:extLst>
              <a:ext uri="{FF2B5EF4-FFF2-40B4-BE49-F238E27FC236}">
                <a16:creationId xmlns:a16="http://schemas.microsoft.com/office/drawing/2014/main" id="{10A106AA-17F3-4F59-A8E6-8AF340F0BC42}"/>
              </a:ext>
            </a:extLst>
          </p:cNvPr>
          <p:cNvSpPr>
            <a:spLocks noGrp="1"/>
          </p:cNvSpPr>
          <p:nvPr>
            <p:ph idx="1"/>
          </p:nvPr>
        </p:nvSpPr>
        <p:spPr/>
        <p:txBody>
          <a:bodyPr/>
          <a:lstStyle/>
          <a:p>
            <a:pPr marL="0" indent="0">
              <a:buNone/>
            </a:pPr>
            <a:r>
              <a:rPr lang="de-DE" dirty="0"/>
              <a:t>Eine Methode heißt </a:t>
            </a:r>
            <a:r>
              <a:rPr lang="de-DE" u="sng" dirty="0" err="1"/>
              <a:t>getter</a:t>
            </a:r>
            <a:r>
              <a:rPr lang="de-DE" dirty="0"/>
              <a:t>, wenn sie genau ein Attribut liefert:</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getPoints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9876AA"/>
                </a:solidFill>
                <a:effectLst/>
                <a:latin typeface="Roboto Mono" panose="00000009000000000000" pitchFamily="50" charset="0"/>
              </a:rPr>
              <a:t>points</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dirty="0"/>
          </a:p>
          <a:p>
            <a:pPr marL="0" indent="0">
              <a:buNone/>
            </a:pPr>
            <a:r>
              <a:rPr lang="de-DE" dirty="0"/>
              <a:t>Eine Methode heißt </a:t>
            </a:r>
            <a:r>
              <a:rPr lang="de-DE" u="sng" dirty="0" err="1"/>
              <a:t>setter</a:t>
            </a:r>
            <a:r>
              <a:rPr lang="de-DE" dirty="0"/>
              <a:t>, wenn sie genau ein Attribut setzt:</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setPoints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value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this</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points</a:t>
            </a:r>
            <a:r>
              <a:rPr kumimoji="0" lang="de-DE" altLang="de-DE" sz="1800" b="0" i="0" u="none" strike="noStrike" cap="none" normalizeH="0" baseline="0" dirty="0">
                <a:ln>
                  <a:noFill/>
                </a:ln>
                <a:solidFill>
                  <a:srgbClr val="9876AA"/>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value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Lightbulb with solid fill">
            <a:extLst>
              <a:ext uri="{FF2B5EF4-FFF2-40B4-BE49-F238E27FC236}">
                <a16:creationId xmlns:a16="http://schemas.microsoft.com/office/drawing/2014/main" id="{C31E30CC-BA73-4100-8558-044C198C2A2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41121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 2</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2520590971"/>
              </p:ext>
            </p:extLst>
          </p:nvPr>
        </p:nvGraphicFramePr>
        <p:xfrm>
          <a:off x="838200" y="1690688"/>
          <a:ext cx="10439400" cy="1513206"/>
        </p:xfrm>
        <a:graphic>
          <a:graphicData uri="http://schemas.openxmlformats.org/drawingml/2006/table">
            <a:tbl>
              <a:tblPr firstRow="1" bandRow="1">
                <a:tableStyleId>{5C22544A-7EE6-4342-B048-85BDC9FD1C3A}</a:tableStyleId>
              </a:tblPr>
              <a:tblGrid>
                <a:gridCol w="3412067">
                  <a:extLst>
                    <a:ext uri="{9D8B030D-6E8A-4147-A177-3AD203B41FA5}">
                      <a16:colId xmlns:a16="http://schemas.microsoft.com/office/drawing/2014/main" val="2317810761"/>
                    </a:ext>
                  </a:extLst>
                </a:gridCol>
                <a:gridCol w="7027333">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latin typeface="IBM Plex Sans" panose="020B0503050203000203" pitchFamily="34" charset="0"/>
                        </a:rPr>
                        <a:t>Finale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die nicht überschrieben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Abstrakte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die überschrieben werden muss, weil sie keine Definition hat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D86D1834-1266-432C-AD5A-017D0E40AE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810088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C3905A-64C6-48B1-8704-5A47FB88047F}"/>
              </a:ext>
            </a:extLst>
          </p:cNvPr>
          <p:cNvSpPr>
            <a:spLocks noGrp="1"/>
          </p:cNvSpPr>
          <p:nvPr>
            <p:ph type="title"/>
          </p:nvPr>
        </p:nvSpPr>
        <p:spPr/>
        <p:txBody>
          <a:bodyPr/>
          <a:lstStyle/>
          <a:p>
            <a:r>
              <a:rPr lang="de-DE" dirty="0"/>
              <a:t>super</a:t>
            </a:r>
          </a:p>
        </p:txBody>
      </p:sp>
      <p:sp>
        <p:nvSpPr>
          <p:cNvPr id="3" name="Inhaltsplatzhalter 2">
            <a:extLst>
              <a:ext uri="{FF2B5EF4-FFF2-40B4-BE49-F238E27FC236}">
                <a16:creationId xmlns:a16="http://schemas.microsoft.com/office/drawing/2014/main" id="{AAC20A67-2E29-4DC3-A246-0DA7C44564CE}"/>
              </a:ext>
            </a:extLst>
          </p:cNvPr>
          <p:cNvSpPr>
            <a:spLocks noGrp="1"/>
          </p:cNvSpPr>
          <p:nvPr>
            <p:ph idx="1"/>
          </p:nvPr>
        </p:nvSpPr>
        <p:spPr/>
        <p:txBody>
          <a:bodyPr/>
          <a:lstStyle/>
          <a:p>
            <a:pPr marL="0" indent="0">
              <a:buNone/>
            </a:pPr>
            <a:r>
              <a:rPr lang="de-DE" dirty="0"/>
              <a:t>Wenn man eine Methode überschreibt, die überschriebene Methode aber noch verwenden möchte, kann man super verwenden:</a:t>
            </a:r>
          </a:p>
        </p:txBody>
      </p:sp>
      <p:pic>
        <p:nvPicPr>
          <p:cNvPr id="7" name="Grafik 6">
            <a:extLst>
              <a:ext uri="{FF2B5EF4-FFF2-40B4-BE49-F238E27FC236}">
                <a16:creationId xmlns:a16="http://schemas.microsoft.com/office/drawing/2014/main" id="{EE236CC6-3B65-4B10-A0E6-B3C1752871F9}"/>
              </a:ext>
            </a:extLst>
          </p:cNvPr>
          <p:cNvPicPr>
            <a:picLocks noChangeAspect="1"/>
          </p:cNvPicPr>
          <p:nvPr/>
        </p:nvPicPr>
        <p:blipFill>
          <a:blip r:embed="rId2"/>
          <a:stretch>
            <a:fillRect/>
          </a:stretch>
        </p:blipFill>
        <p:spPr>
          <a:xfrm>
            <a:off x="4997915" y="4000500"/>
            <a:ext cx="7194085" cy="2857500"/>
          </a:xfrm>
          <a:prstGeom prst="rect">
            <a:avLst/>
          </a:prstGeom>
        </p:spPr>
      </p:pic>
      <p:pic>
        <p:nvPicPr>
          <p:cNvPr id="5" name="Grafik 4">
            <a:extLst>
              <a:ext uri="{FF2B5EF4-FFF2-40B4-BE49-F238E27FC236}">
                <a16:creationId xmlns:a16="http://schemas.microsoft.com/office/drawing/2014/main" id="{EE79B9EB-79A9-41B9-BC21-6891CE2A26B8}"/>
              </a:ext>
            </a:extLst>
          </p:cNvPr>
          <p:cNvPicPr>
            <a:picLocks noChangeAspect="1"/>
          </p:cNvPicPr>
          <p:nvPr/>
        </p:nvPicPr>
        <p:blipFill>
          <a:blip r:embed="rId3"/>
          <a:stretch>
            <a:fillRect/>
          </a:stretch>
        </p:blipFill>
        <p:spPr>
          <a:xfrm>
            <a:off x="1" y="4285450"/>
            <a:ext cx="4997914" cy="2572549"/>
          </a:xfrm>
          <a:prstGeom prst="rect">
            <a:avLst/>
          </a:prstGeom>
        </p:spPr>
      </p:pic>
      <p:sp>
        <p:nvSpPr>
          <p:cNvPr id="6" name="Oval 5">
            <a:extLst>
              <a:ext uri="{FF2B5EF4-FFF2-40B4-BE49-F238E27FC236}">
                <a16:creationId xmlns:a16="http://schemas.microsoft.com/office/drawing/2014/main" id="{8B72F7D9-929D-4903-BC05-D9E6D7F08C12}"/>
              </a:ext>
            </a:extLst>
          </p:cNvPr>
          <p:cNvSpPr/>
          <p:nvPr/>
        </p:nvSpPr>
        <p:spPr>
          <a:xfrm>
            <a:off x="9646920" y="5274425"/>
            <a:ext cx="648393" cy="27847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rgbClr val="FF0000"/>
              </a:solidFill>
              <a:latin typeface="IBM Plex Sans" panose="020B0503050203000203" pitchFamily="34" charset="0"/>
            </a:endParaRPr>
          </a:p>
        </p:txBody>
      </p:sp>
      <p:pic>
        <p:nvPicPr>
          <p:cNvPr id="8" name="Graphic 7" descr="Books with solid fill">
            <a:extLst>
              <a:ext uri="{FF2B5EF4-FFF2-40B4-BE49-F238E27FC236}">
                <a16:creationId xmlns:a16="http://schemas.microsoft.com/office/drawing/2014/main" id="{67802B30-D499-4F74-99BC-5BE7D7DFE85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443952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74158-80A9-4264-8ECB-CC73B26736FC}"/>
              </a:ext>
            </a:extLst>
          </p:cNvPr>
          <p:cNvSpPr>
            <a:spLocks noGrp="1"/>
          </p:cNvSpPr>
          <p:nvPr>
            <p:ph type="title"/>
          </p:nvPr>
        </p:nvSpPr>
        <p:spPr/>
        <p:txBody>
          <a:bodyPr/>
          <a:lstStyle/>
          <a:p>
            <a:r>
              <a:rPr lang="de-DE" dirty="0" err="1"/>
              <a:t>object</a:t>
            </a:r>
            <a:r>
              <a:rPr lang="de-DE" dirty="0"/>
              <a:t>/</a:t>
            </a:r>
            <a:r>
              <a:rPr lang="de-DE" dirty="0" err="1"/>
              <a:t>class</a:t>
            </a:r>
            <a:r>
              <a:rPr lang="de-DE" dirty="0"/>
              <a:t> type </a:t>
            </a:r>
            <a:r>
              <a:rPr lang="de-DE" dirty="0" err="1"/>
              <a:t>casting</a:t>
            </a:r>
            <a:endParaRPr lang="de-DE" dirty="0"/>
          </a:p>
        </p:txBody>
      </p:sp>
      <p:sp>
        <p:nvSpPr>
          <p:cNvPr id="3" name="Content Placeholder 2">
            <a:extLst>
              <a:ext uri="{FF2B5EF4-FFF2-40B4-BE49-F238E27FC236}">
                <a16:creationId xmlns:a16="http://schemas.microsoft.com/office/drawing/2014/main" id="{40873388-7CDE-4926-9DF1-374DA4F26547}"/>
              </a:ext>
            </a:extLst>
          </p:cNvPr>
          <p:cNvSpPr>
            <a:spLocks noGrp="1"/>
          </p:cNvSpPr>
          <p:nvPr>
            <p:ph idx="1"/>
          </p:nvPr>
        </p:nvSpPr>
        <p:spPr/>
        <p:txBody>
          <a:bodyPr/>
          <a:lstStyle/>
          <a:p>
            <a:r>
              <a:rPr lang="de-DE" dirty="0"/>
              <a:t>Automatisch</a:t>
            </a:r>
          </a:p>
          <a:p>
            <a:pPr lvl="1"/>
            <a:r>
              <a:rPr lang="de-DE" dirty="0"/>
              <a:t>Objekte von Unterklassen sind gleichzeitig Objekte der Basisklasse.</a:t>
            </a:r>
          </a:p>
          <a:p>
            <a:pPr lvl="1"/>
            <a:r>
              <a:rPr lang="de-DE" dirty="0"/>
              <a:t>Das Objekt verändert sich nicht.</a:t>
            </a:r>
          </a:p>
          <a:p>
            <a:pPr lvl="1"/>
            <a:r>
              <a:rPr lang="de-DE" dirty="0"/>
              <a:t>Beispiel: Eine Eiche ist ein Baum, bleibt deshalb aber trotzdem eine Eiche.</a:t>
            </a:r>
          </a:p>
          <a:p>
            <a:r>
              <a:rPr lang="de-DE" dirty="0"/>
              <a:t>Manuell</a:t>
            </a:r>
          </a:p>
          <a:p>
            <a:pPr lvl="1"/>
            <a:r>
              <a:rPr lang="de-DE" dirty="0"/>
              <a:t>Wenn das Objekt nicht den Typen hat, zu dem umgewandelt wird, wird eine </a:t>
            </a:r>
            <a:r>
              <a:rPr lang="de-DE" dirty="0" err="1">
                <a:solidFill>
                  <a:srgbClr val="5FB1DA"/>
                </a:solidFill>
                <a:latin typeface="Roboto Mono" panose="00000009000000000000" pitchFamily="50" charset="0"/>
                <a:hlinkClick r:id="rId2" action="ppaction://hlinksldjump">
                  <a:extLst>
                    <a:ext uri="{A12FA001-AC4F-418D-AE19-62706E023703}">
                      <ahyp:hlinkClr xmlns:ahyp="http://schemas.microsoft.com/office/drawing/2018/hyperlinkcolor" val="tx"/>
                    </a:ext>
                  </a:extLst>
                </a:hlinkClick>
              </a:rPr>
              <a:t>ClassCastException</a:t>
            </a:r>
            <a:r>
              <a:rPr lang="de-DE" dirty="0"/>
              <a:t> geworfen.</a:t>
            </a:r>
          </a:p>
          <a:p>
            <a:pPr lvl="2"/>
            <a:r>
              <a:rPr lang="de-DE" dirty="0"/>
              <a:t>Beispiel: Casten einer Birke zu einer Eiche</a:t>
            </a:r>
          </a:p>
        </p:txBody>
      </p:sp>
      <p:pic>
        <p:nvPicPr>
          <p:cNvPr id="4" name="Graphic 3" descr="Books with solid fill">
            <a:extLst>
              <a:ext uri="{FF2B5EF4-FFF2-40B4-BE49-F238E27FC236}">
                <a16:creationId xmlns:a16="http://schemas.microsoft.com/office/drawing/2014/main" id="{F778A7BB-F078-4233-87C4-250CD0EA270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975274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4D39B-8832-4B86-82E5-E841853E495C}"/>
              </a:ext>
            </a:extLst>
          </p:cNvPr>
          <p:cNvSpPr>
            <a:spLocks noGrp="1"/>
          </p:cNvSpPr>
          <p:nvPr>
            <p:ph type="title"/>
          </p:nvPr>
        </p:nvSpPr>
        <p:spPr/>
        <p:txBody>
          <a:bodyPr/>
          <a:lstStyle/>
          <a:p>
            <a:r>
              <a:rPr lang="de-DE" dirty="0"/>
              <a:t>Klasse Position 🤮</a:t>
            </a:r>
          </a:p>
        </p:txBody>
      </p:sp>
      <p:graphicFrame>
        <p:nvGraphicFramePr>
          <p:cNvPr id="6" name="Table 6">
            <a:extLst>
              <a:ext uri="{FF2B5EF4-FFF2-40B4-BE49-F238E27FC236}">
                <a16:creationId xmlns:a16="http://schemas.microsoft.com/office/drawing/2014/main" id="{7C5E739D-3595-4803-954A-AD77BFBBCB31}"/>
              </a:ext>
            </a:extLst>
          </p:cNvPr>
          <p:cNvGraphicFramePr>
            <a:graphicFrameLocks noGrp="1"/>
          </p:cNvGraphicFramePr>
          <p:nvPr>
            <p:ph idx="1"/>
            <p:extLst>
              <p:ext uri="{D42A27DB-BD31-4B8C-83A1-F6EECF244321}">
                <p14:modId xmlns:p14="http://schemas.microsoft.com/office/powerpoint/2010/main" val="3281120124"/>
              </p:ext>
            </p:extLst>
          </p:nvPr>
        </p:nvGraphicFramePr>
        <p:xfrm>
          <a:off x="838200" y="1825625"/>
          <a:ext cx="10515600" cy="469392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796760968"/>
                    </a:ext>
                  </a:extLst>
                </a:gridCol>
                <a:gridCol w="5257800">
                  <a:extLst>
                    <a:ext uri="{9D8B030D-6E8A-4147-A177-3AD203B41FA5}">
                      <a16:colId xmlns:a16="http://schemas.microsoft.com/office/drawing/2014/main" val="3177935489"/>
                    </a:ext>
                  </a:extLst>
                </a:gridCol>
              </a:tblGrid>
              <a:tr h="4637520">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class</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FB1DA"/>
                          </a:solidFill>
                          <a:effectLst/>
                          <a:uLnTx/>
                          <a:uFillTx/>
                          <a:latin typeface="Roboto Mono" panose="00000009000000000000" pitchFamily="50" charset="0"/>
                          <a:ea typeface="+mn-ea"/>
                          <a:cs typeface="+mn-cs"/>
                        </a:rPr>
                        <a:t>Position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private final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DD8E6"/>
                          </a:solidFill>
                          <a:effectLst/>
                          <a:uLnTx/>
                          <a:uFillTx/>
                          <a:latin typeface="Roboto Mono" panose="00000009000000000000" pitchFamily="50" charset="0"/>
                          <a:ea typeface="+mn-ea"/>
                          <a:cs typeface="+mn-cs"/>
                        </a:rPr>
                        <a:t>Position</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 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 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Roboto Mono" panose="00000009000000000000" pitchFamily="50" charset="0"/>
                          <a:ea typeface="+mn-ea"/>
                          <a:cs typeface="+mn-cs"/>
                        </a:rPr>
                        <a:t>getX</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Roboto Mono" panose="00000009000000000000" pitchFamily="50" charset="0"/>
                          <a:ea typeface="+mn-ea"/>
                          <a:cs typeface="+mn-cs"/>
                        </a:rPr>
                        <a:t>getY</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D6AF72"/>
                          </a:solidFill>
                          <a:effectLst/>
                          <a:latin typeface="Roboto Mono" panose="00000009000000000000" pitchFamily="50" charset="0"/>
                        </a:rPr>
                        <a:t>add</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new</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ADD8E6"/>
                          </a:solidFill>
                          <a:effectLst/>
                          <a:latin typeface="Roboto Mono" panose="00000009000000000000" pitchFamily="50" charset="0"/>
                        </a:rPr>
                        <a:t>Position</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9876AA"/>
                          </a:solidFill>
                          <a:effectLst/>
                          <a:latin typeface="Roboto Mono" panose="00000009000000000000" pitchFamily="50" charset="0"/>
                        </a:rPr>
                        <a:t>x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9876AA"/>
                          </a:solidFill>
                          <a:effectLst/>
                          <a:latin typeface="Roboto Mono" panose="00000009000000000000" pitchFamily="50" charset="0"/>
                        </a:rPr>
                        <a:t>y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endParaRPr kumimoji="0" lang="de-DE" altLang="de-DE" sz="1400" b="0" i="0" u="none" strike="noStrike" kern="1200" cap="none" spc="0" normalizeH="0" baseline="0" noProof="0" dirty="0">
                        <a:ln>
                          <a:noFill/>
                        </a:ln>
                        <a:solidFill>
                          <a:prstClr val="white"/>
                        </a:solidFill>
                        <a:effectLst/>
                        <a:uLnTx/>
                        <a:uFillTx/>
                        <a:latin typeface="Roboto Mono" panose="00000009000000000000" pitchFamily="50" charset="0"/>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A9B7C6"/>
                          </a:solidFill>
                          <a:effectLst/>
                          <a:latin typeface="Roboto Mono" panose="00000009000000000000" pitchFamily="50" charset="0"/>
                        </a:rPr>
                      </a:b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a:ln>
                            <a:noFill/>
                          </a:ln>
                          <a:solidFill>
                            <a:srgbClr val="BBB529"/>
                          </a:solidFill>
                          <a:effectLst/>
                          <a:latin typeface="Roboto Mono" panose="00000009000000000000" pitchFamily="50" charset="0"/>
                        </a:rPr>
                        <a:t>@Override</a:t>
                      </a:r>
                      <a:br>
                        <a:rPr kumimoji="0" lang="de-DE" altLang="de-DE" sz="1400" b="0" i="0" u="none" strike="noStrike" cap="none" normalizeH="0" baseline="0" dirty="0">
                          <a:ln>
                            <a:noFill/>
                          </a:ln>
                          <a:solidFill>
                            <a:srgbClr val="BBB529"/>
                          </a:solidFill>
                          <a:effectLst/>
                          <a:latin typeface="Roboto Mono" panose="00000009000000000000" pitchFamily="50" charset="0"/>
                        </a:rPr>
                      </a:br>
                      <a:r>
                        <a:rPr kumimoji="0" lang="de-DE" altLang="de-DE" sz="1400" b="0" i="0" u="none" strike="noStrike" cap="none" normalizeH="0" baseline="0" dirty="0">
                          <a:ln>
                            <a:noFill/>
                          </a:ln>
                          <a:solidFill>
                            <a:srgbClr val="BBB529"/>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boolean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D6AF72"/>
                          </a:solidFill>
                          <a:effectLst/>
                          <a:latin typeface="Roboto Mono" panose="00000009000000000000" pitchFamily="50" charset="0"/>
                        </a:rPr>
                        <a:t>equals</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err="1">
                          <a:ln>
                            <a:noFill/>
                          </a:ln>
                          <a:solidFill>
                            <a:srgbClr val="5FB1DA"/>
                          </a:solidFill>
                          <a:effectLst/>
                          <a:latin typeface="Roboto Mono" panose="00000009000000000000" pitchFamily="50" charset="0"/>
                        </a:rPr>
                        <a:t>Object</a:t>
                      </a:r>
                      <a:r>
                        <a:rPr kumimoji="0" lang="de-DE" altLang="de-DE" sz="1400" b="0" i="0" u="none" strike="noStrike" cap="none" normalizeH="0" baseline="0" dirty="0">
                          <a:ln>
                            <a:noFill/>
                          </a:ln>
                          <a:solidFill>
                            <a:srgbClr val="5FB1DA"/>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o</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if</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err="1">
                          <a:ln>
                            <a:noFill/>
                          </a:ln>
                          <a:solidFill>
                            <a:srgbClr val="CC7E47"/>
                          </a:solidFill>
                          <a:effectLst/>
                          <a:latin typeface="Roboto Mono" panose="00000009000000000000" pitchFamily="50" charset="0"/>
                        </a:rPr>
                        <a:t>this</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 o</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true</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if</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A9B7C6"/>
                          </a:solidFill>
                          <a:effectLst/>
                          <a:latin typeface="Roboto Mono" panose="00000009000000000000" pitchFamily="50" charset="0"/>
                        </a:rPr>
                        <a:t>o == </a:t>
                      </a:r>
                      <a:r>
                        <a:rPr kumimoji="0" lang="de-DE" altLang="de-DE" sz="1400" b="0" i="0" u="none" strike="noStrike" cap="none" normalizeH="0" baseline="0" dirty="0">
                          <a:ln>
                            <a:noFill/>
                          </a:ln>
                          <a:solidFill>
                            <a:srgbClr val="CC7E47"/>
                          </a:solidFill>
                          <a:effectLst/>
                          <a:latin typeface="Roboto Mono" panose="00000009000000000000" pitchFamily="50" charset="0"/>
                        </a:rPr>
                        <a:t>null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B9C7A6"/>
                          </a:solidFill>
                          <a:effectLst/>
                          <a:latin typeface="Roboto Mono" panose="00000009000000000000" pitchFamily="50" charset="0"/>
                        </a:rPr>
                        <a:t>getClass</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a:t>
                      </a:r>
                      <a:br>
                        <a:rPr kumimoji="0" lang="de-DE" altLang="de-DE" sz="1400" b="0" i="0" u="none" strike="noStrike" cap="none" normalizeH="0" baseline="0" dirty="0">
                          <a:ln>
                            <a:noFill/>
                          </a:ln>
                          <a:solidFill>
                            <a:srgbClr val="A9B7C6"/>
                          </a:solidFill>
                          <a:effectLst/>
                          <a:latin typeface="Roboto Mono" panose="00000009000000000000" pitchFamily="50" charset="0"/>
                        </a:rPr>
                      </a:b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B9C7A6"/>
                          </a:solidFill>
                          <a:effectLst/>
                          <a:latin typeface="Roboto Mono" panose="00000009000000000000" pitchFamily="50" charset="0"/>
                        </a:rPr>
                        <a:t>getClass</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false</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rPr>
                        <a:t>Position</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o</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9876AA"/>
                          </a:solidFill>
                          <a:effectLst/>
                          <a:latin typeface="Roboto Mono" panose="00000009000000000000" pitchFamily="50" charset="0"/>
                        </a:rPr>
                        <a:t>x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9876AA"/>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&amp;&amp; </a:t>
                      </a:r>
                      <a:r>
                        <a:rPr kumimoji="0" lang="de-DE" altLang="de-DE" sz="1400" b="0" i="0" u="none" strike="noStrike" cap="none" normalizeH="0" baseline="0" dirty="0">
                          <a:ln>
                            <a:noFill/>
                          </a:ln>
                          <a:solidFill>
                            <a:srgbClr val="9876AA"/>
                          </a:solidFill>
                          <a:effectLst/>
                          <a:latin typeface="Roboto Mono" panose="00000009000000000000" pitchFamily="50" charset="0"/>
                        </a:rPr>
                        <a:t>y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a:ln>
                            <a:noFill/>
                          </a:ln>
                          <a:solidFill>
                            <a:srgbClr val="BBB529"/>
                          </a:solidFill>
                          <a:effectLst/>
                          <a:latin typeface="Roboto Mono" panose="00000009000000000000" pitchFamily="50" charset="0"/>
                        </a:rPr>
                        <a:t>@Override</a:t>
                      </a:r>
                      <a:br>
                        <a:rPr kumimoji="0" lang="de-DE" altLang="de-DE" sz="1400" b="0" i="0" u="none" strike="noStrike" cap="none" normalizeH="0" baseline="0" dirty="0">
                          <a:ln>
                            <a:noFill/>
                          </a:ln>
                          <a:solidFill>
                            <a:srgbClr val="BBB529"/>
                          </a:solidFill>
                          <a:effectLst/>
                          <a:latin typeface="Roboto Mono" panose="00000009000000000000" pitchFamily="50" charset="0"/>
                        </a:rPr>
                      </a:br>
                      <a:r>
                        <a:rPr kumimoji="0" lang="de-DE" altLang="de-DE" sz="1400" b="0" i="0" u="none" strike="noStrike" cap="none" normalizeH="0" baseline="0" dirty="0">
                          <a:ln>
                            <a:noFill/>
                          </a:ln>
                          <a:solidFill>
                            <a:srgbClr val="BBB529"/>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int</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D6AF72"/>
                          </a:solidFill>
                          <a:effectLst/>
                          <a:latin typeface="Roboto Mono" panose="00000009000000000000" pitchFamily="50" charset="0"/>
                        </a:rPr>
                        <a:t>hashCode</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int</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6897BB"/>
                          </a:solidFill>
                          <a:effectLst/>
                          <a:latin typeface="Roboto Mono" panose="00000009000000000000" pitchFamily="50" charset="0"/>
                        </a:rPr>
                        <a:t>31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endParaRPr lang="de-DE" altLang="de-DE" dirty="0">
                        <a:latin typeface="IBM Plex Sans" panose="020B050305020300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de-DE" altLang="de-DE" b="0" dirty="0">
                          <a:latin typeface="IBM Plex Sans" panose="020B0503050203000203" pitchFamily="34" charset="0"/>
                        </a:rPr>
                        <a:t>"</a:t>
                      </a:r>
                      <a:r>
                        <a:rPr lang="de-DE" altLang="de-DE" b="0" dirty="0" err="1">
                          <a:solidFill>
                            <a:srgbClr val="FFCCFF"/>
                          </a:solidFill>
                        </a:rPr>
                        <a:t>boilerplate</a:t>
                      </a:r>
                      <a:r>
                        <a:rPr lang="de-DE" altLang="de-DE" b="0" dirty="0">
                          <a:solidFill>
                            <a:srgbClr val="FFCCFF"/>
                          </a:solidFill>
                        </a:rPr>
                        <a:t> code</a:t>
                      </a:r>
                      <a:r>
                        <a:rPr lang="de-DE" altLang="de-DE" b="0" dirty="0"/>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3814552"/>
                  </a:ext>
                </a:extLst>
              </a:tr>
            </a:tbl>
          </a:graphicData>
        </a:graphic>
      </p:graphicFrame>
      <p:cxnSp>
        <p:nvCxnSpPr>
          <p:cNvPr id="7" name="Connector: Elbow 6">
            <a:extLst>
              <a:ext uri="{FF2B5EF4-FFF2-40B4-BE49-F238E27FC236}">
                <a16:creationId xmlns:a16="http://schemas.microsoft.com/office/drawing/2014/main" id="{3D140E62-8EFC-4865-95E4-F0540FC660F1}"/>
              </a:ext>
            </a:extLst>
          </p:cNvPr>
          <p:cNvCxnSpPr>
            <a:cxnSpLocks/>
          </p:cNvCxnSpPr>
          <p:nvPr/>
        </p:nvCxnSpPr>
        <p:spPr>
          <a:xfrm flipV="1">
            <a:off x="2992582" y="1957647"/>
            <a:ext cx="4642658" cy="45054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pic>
        <p:nvPicPr>
          <p:cNvPr id="5" name="Graphic 4" descr="Lightbulb with solid fill">
            <a:extLst>
              <a:ext uri="{FF2B5EF4-FFF2-40B4-BE49-F238E27FC236}">
                <a16:creationId xmlns:a16="http://schemas.microsoft.com/office/drawing/2014/main" id="{74671F2D-1328-47E9-9968-ADE0838BFC5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8980932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31D01-33FA-41DD-A83F-4484FB800602}"/>
              </a:ext>
            </a:extLst>
          </p:cNvPr>
          <p:cNvSpPr>
            <a:spLocks noGrp="1"/>
          </p:cNvSpPr>
          <p:nvPr>
            <p:ph type="title"/>
          </p:nvPr>
        </p:nvSpPr>
        <p:spPr/>
        <p:txBody>
          <a:bodyPr/>
          <a:lstStyle/>
          <a:p>
            <a:r>
              <a:rPr lang="de-DE" dirty="0" err="1"/>
              <a:t>Record</a:t>
            </a:r>
            <a:endParaRPr lang="de-DE" dirty="0"/>
          </a:p>
        </p:txBody>
      </p:sp>
      <p:sp>
        <p:nvSpPr>
          <p:cNvPr id="3" name="Content Placeholder 2">
            <a:extLst>
              <a:ext uri="{FF2B5EF4-FFF2-40B4-BE49-F238E27FC236}">
                <a16:creationId xmlns:a16="http://schemas.microsoft.com/office/drawing/2014/main" id="{A41BF2FF-76D9-4627-ACC6-24A3AB2D4DEA}"/>
              </a:ext>
            </a:extLst>
          </p:cNvPr>
          <p:cNvSpPr>
            <a:spLocks noGrp="1"/>
          </p:cNvSpPr>
          <p:nvPr>
            <p:ph idx="1"/>
          </p:nvPr>
        </p:nvSpPr>
        <p:spPr/>
        <p:txBody>
          <a:bodyPr>
            <a:normAutofit lnSpcReduction="10000"/>
          </a:bodyPr>
          <a:lstStyle/>
          <a:p>
            <a:pPr marL="0" indent="0">
              <a:buNone/>
            </a:pPr>
            <a:r>
              <a:rPr lang="de-DE" dirty="0"/>
              <a:t>Ein </a:t>
            </a:r>
            <a:r>
              <a:rPr lang="de-DE" dirty="0" err="1"/>
              <a:t>Record</a:t>
            </a:r>
            <a:r>
              <a:rPr lang="de-DE" dirty="0"/>
              <a:t> ist eine Abkürzung für eine Klasse, die als reiner Datenspeicher dient. Er hat folgende Eigenschaften:</a:t>
            </a:r>
          </a:p>
          <a:p>
            <a:r>
              <a:rPr lang="de-DE" dirty="0"/>
              <a:t>Alle Attribute sind </a:t>
            </a:r>
            <a:r>
              <a:rPr kumimoji="0" lang="de-DE" altLang="de-DE" sz="2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final</a:t>
            </a:r>
            <a:endParaRPr lang="de-DE" dirty="0">
              <a:latin typeface="Roboto Mono" panose="00000009000000000000" pitchFamily="50" charset="0"/>
            </a:endParaRPr>
          </a:p>
          <a:p>
            <a:r>
              <a:rPr lang="de-DE" dirty="0"/>
              <a:t>Objekte sind genau dann </a:t>
            </a:r>
            <a:r>
              <a:rPr lang="de-DE" dirty="0" err="1">
                <a:hlinkClick r:id="rId2" action="ppaction://hlinksldjump"/>
              </a:rPr>
              <a:t>equals</a:t>
            </a:r>
            <a:r>
              <a:rPr lang="de-DE" dirty="0"/>
              <a:t>, wenn es ihre Attributwerte sind.</a:t>
            </a:r>
          </a:p>
          <a:p>
            <a:pPr marL="0" indent="0">
              <a:buNone/>
            </a:pPr>
            <a:r>
              <a:rPr lang="de-DE" dirty="0"/>
              <a:t>Beispiel:</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record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Position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Position </a:t>
            </a:r>
            <a:r>
              <a:rPr kumimoji="0" lang="de-DE" altLang="de-DE" sz="1800" b="0" i="0" u="none" strike="noStrike" cap="none" normalizeH="0" baseline="0" dirty="0" err="1">
                <a:ln>
                  <a:noFill/>
                </a:ln>
                <a:solidFill>
                  <a:srgbClr val="D6AF72"/>
                </a:solidFill>
                <a:effectLst/>
                <a:latin typeface="Roboto Mono" panose="00000009000000000000" pitchFamily="50" charset="0"/>
              </a:rPr>
              <a:t>add</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Position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Position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9876AA"/>
                </a:solidFill>
                <a:effectLst/>
                <a:latin typeface="Roboto Mono" panose="00000009000000000000" pitchFamily="50" charset="0"/>
              </a:rPr>
              <a:t>x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9876AA"/>
                </a:solidFill>
                <a:effectLst/>
                <a:latin typeface="Roboto Mono" panose="00000009000000000000" pitchFamily="50" charset="0"/>
              </a:rPr>
              <a:t>y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C1B6046D-084C-4E97-BE7C-ACBD5CA3A92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pic>
        <p:nvPicPr>
          <p:cNvPr id="6" name="Graphic 5" descr="Clapper board with solid fill">
            <a:hlinkClick r:id="rId5" tooltip="YouTube Video"/>
            <a:extLst>
              <a:ext uri="{FF2B5EF4-FFF2-40B4-BE49-F238E27FC236}">
                <a16:creationId xmlns:a16="http://schemas.microsoft.com/office/drawing/2014/main" id="{251F15BD-23F6-454D-970B-F08435AF1DDA}"/>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6947301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4F3753-F32F-4463-BD56-49F9C368492E}"/>
              </a:ext>
            </a:extLst>
          </p:cNvPr>
          <p:cNvSpPr>
            <a:spLocks noGrp="1"/>
          </p:cNvSpPr>
          <p:nvPr>
            <p:ph type="title"/>
          </p:nvPr>
        </p:nvSpPr>
        <p:spPr/>
        <p:txBody>
          <a:bodyPr/>
          <a:lstStyle/>
          <a:p>
            <a:r>
              <a:rPr lang="de-DE" dirty="0" err="1"/>
              <a:t>Enum</a:t>
            </a:r>
            <a:endParaRPr lang="de-DE" dirty="0"/>
          </a:p>
        </p:txBody>
      </p:sp>
      <p:sp>
        <p:nvSpPr>
          <p:cNvPr id="3" name="Inhaltsplatzhalter 2">
            <a:extLst>
              <a:ext uri="{FF2B5EF4-FFF2-40B4-BE49-F238E27FC236}">
                <a16:creationId xmlns:a16="http://schemas.microsoft.com/office/drawing/2014/main" id="{7E9492DB-3F3A-45C9-AC1F-274E1C31DB54}"/>
              </a:ext>
            </a:extLst>
          </p:cNvPr>
          <p:cNvSpPr>
            <a:spLocks noGrp="1"/>
          </p:cNvSpPr>
          <p:nvPr>
            <p:ph idx="1"/>
          </p:nvPr>
        </p:nvSpPr>
        <p:spPr/>
        <p:txBody>
          <a:bodyPr>
            <a:normAutofit lnSpcReduction="10000"/>
          </a:bodyPr>
          <a:lstStyle/>
          <a:p>
            <a:r>
              <a:rPr lang="de-DE" dirty="0"/>
              <a:t>Eine Klasse, die eine vordefinierte, sortierte Menge an Objekten hat.</a:t>
            </a:r>
          </a:p>
          <a:p>
            <a:pPr lvl="1"/>
            <a:r>
              <a:rPr lang="de-DE" dirty="0"/>
              <a:t>Zur Laufzeit können keine Objekte erzeugt werden.</a:t>
            </a:r>
          </a:p>
          <a:p>
            <a:pPr marL="0" indent="0">
              <a:buNone/>
            </a:pP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Monat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Januar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Februar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März</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April</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Mai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Juni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Juli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August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September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Oktober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November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Dezember</a:t>
            </a:r>
            <a:b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Schachfigur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Bauer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Turm</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Läufer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Springer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König</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cs typeface="JetBrains Mono" panose="02000009000000000000" pitchFamily="49" charset="0"/>
              </a:rPr>
              <a:t>Integer</a:t>
            </a:r>
            <a:r>
              <a:rPr kumimoji="0" lang="de-DE" altLang="de-DE" sz="1600" b="0" i="0" u="none" strike="noStrike" cap="none" normalizeH="0" baseline="0" dirty="0" err="1">
                <a:ln>
                  <a:noFill/>
                </a:ln>
                <a:solidFill>
                  <a:srgbClr val="AC91E3"/>
                </a:solidFill>
                <a:effectLst/>
                <a:latin typeface="Roboto Mono" panose="00000009000000000000" pitchFamily="50" charset="0"/>
                <a:cs typeface="JetBrains Mono" panose="02000009000000000000" pitchFamily="49"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cs typeface="JetBrains Mono" panose="02000009000000000000" pitchFamily="49" charset="0"/>
              </a:rPr>
              <a:t>MAX_VALUE</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Dame</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9</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final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DD8E6"/>
                </a:solidFill>
                <a:effectLst/>
                <a:latin typeface="Roboto Mono" panose="00000009000000000000" pitchFamily="50" charset="0"/>
                <a:cs typeface="JetBrains Mono" panose="02000009000000000000" pitchFamily="49" charset="0"/>
              </a:rPr>
              <a:t>Schachfigur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this</a:t>
            </a:r>
            <a:r>
              <a:rPr kumimoji="0" lang="de-DE" altLang="de-DE" sz="1600" b="0" i="0" u="none" strike="noStrike" cap="none" normalizeH="0" baseline="0" dirty="0" err="1">
                <a:ln>
                  <a:noFill/>
                </a:ln>
                <a:solidFill>
                  <a:srgbClr val="AC91E3"/>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9876AA"/>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wert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pic>
        <p:nvPicPr>
          <p:cNvPr id="6" name="Graphic 5" descr="Document with solid fill">
            <a:extLst>
              <a:ext uri="{FF2B5EF4-FFF2-40B4-BE49-F238E27FC236}">
                <a16:creationId xmlns:a16="http://schemas.microsoft.com/office/drawing/2014/main" id="{4870EAC7-0FCC-4896-B09C-E0491F62B05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9" name="Graphic 8" descr="Clapper board with solid fill">
            <a:hlinkClick r:id="rId4" tooltip="YouTube Video"/>
            <a:extLst>
              <a:ext uri="{FF2B5EF4-FFF2-40B4-BE49-F238E27FC236}">
                <a16:creationId xmlns:a16="http://schemas.microsoft.com/office/drawing/2014/main" id="{9AE1C8CE-3E45-4396-ABBD-FDD9F716155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8588896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6D20B5-908F-498E-A808-E097292FAB3A}"/>
              </a:ext>
            </a:extLst>
          </p:cNvPr>
          <p:cNvSpPr>
            <a:spLocks noGrp="1"/>
          </p:cNvSpPr>
          <p:nvPr>
            <p:ph type="title"/>
          </p:nvPr>
        </p:nvSpPr>
        <p:spPr/>
        <p:txBody>
          <a:bodyPr/>
          <a:lstStyle/>
          <a:p>
            <a:r>
              <a:rPr lang="de-DE" dirty="0" err="1"/>
              <a:t>Enum</a:t>
            </a:r>
            <a:r>
              <a:rPr lang="de-DE" dirty="0"/>
              <a:t>-Methoden</a:t>
            </a:r>
          </a:p>
        </p:txBody>
      </p:sp>
      <mc:AlternateContent xmlns:mc="http://schemas.openxmlformats.org/markup-compatibility/2006" xmlns:a14="http://schemas.microsoft.com/office/drawing/2010/main">
        <mc:Choice Requires="a14">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en-US" b="0" i="1" u="none" smtClean="0">
                                      <a:solidFill>
                                        <a:srgbClr val="92D050"/>
                                      </a:solidFill>
                                      <a:latin typeface="Cambria Math" panose="02040503050406030204" pitchFamily="18" charset="0"/>
                                    </a:rPr>
                                  </m:ctrlPr>
                                </m:sSubPr>
                                <m:e>
                                  <m:r>
                                    <a:rPr lang="en-US" b="0" i="1" u="none" smtClean="0">
                                      <a:solidFill>
                                        <a:srgbClr val="92D050"/>
                                      </a:solidFill>
                                      <a:latin typeface="Cambria Math" panose="02040503050406030204" pitchFamily="18" charset="0"/>
                                    </a:rPr>
                                    <m:t>𝐶</m:t>
                                  </m:r>
                                </m:e>
                                <m:sub>
                                  <m:r>
                                    <a:rPr lang="en-US" b="0" i="1" u="none" smtClean="0">
                                      <a:solidFill>
                                        <a:srgbClr val="92D050"/>
                                      </a:solidFill>
                                      <a:latin typeface="Cambria Math" panose="02040503050406030204" pitchFamily="18" charset="0"/>
                                    </a:rPr>
                                    <m:t>𝑖</m:t>
                                  </m:r>
                                </m:sub>
                              </m:sSub>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a:ln>
                                <a:noFill/>
                              </a:ln>
                              <a:solidFill>
                                <a:srgbClr val="AA7876"/>
                              </a:solidFill>
                              <a:effectLst/>
                              <a:latin typeface="Roboto Mono" panose="00000009000000000000" pitchFamily="50" charset="0"/>
                              <a:cs typeface="JetBrains Mono" panose="02000009000000000000" pitchFamily="49" charset="0"/>
                            </a:rPr>
                            <a:t>ordinal</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Index des </a:t>
                          </a:r>
                          <a:r>
                            <a:rPr lang="de-DE" u="none" dirty="0" err="1">
                              <a:solidFill>
                                <a:schemeClr val="tx1"/>
                              </a:solidFill>
                              <a:latin typeface="IBM Plex Sans" panose="020B0503050203000203" pitchFamily="34" charset="0"/>
                            </a:rPr>
                            <a:t>Enum</a:t>
                          </a:r>
                          <a:r>
                            <a:rPr lang="de-DE" u="none" dirty="0">
                              <a:solidFill>
                                <a:schemeClr val="tx1"/>
                              </a:solidFill>
                            </a:rPr>
                            <a:t>-Werts (hier </a:t>
                          </a:r>
                          <a14:m>
                            <m:oMath xmlns:m="http://schemas.openxmlformats.org/officeDocument/2006/math">
                              <m:r>
                                <a:rPr lang="en-US" b="0" i="1" u="none" smtClean="0">
                                  <a:solidFill>
                                    <a:srgbClr val="92D050"/>
                                  </a:solidFill>
                                  <a:latin typeface="Cambria Math" panose="02040503050406030204" pitchFamily="18" charset="0"/>
                                </a:rPr>
                                <m:t>𝑖</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cs typeface="JetBrains Mono" panose="02000009000000000000" pitchFamily="49" charset="0"/>
                            </a:rPr>
                            <a:t>values</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8552D3"/>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Sortiertes Array aller </a:t>
                          </a:r>
                          <a:r>
                            <a:rPr lang="de-DE" u="none" dirty="0" err="1">
                              <a:solidFill>
                                <a:schemeClr val="tx1"/>
                              </a:solidFill>
                              <a:latin typeface="IBM Plex Sans" panose="020B0503050203000203" pitchFamily="34" charset="0"/>
                            </a:rPr>
                            <a:t>Enum</a:t>
                          </a:r>
                          <a:r>
                            <a:rPr lang="de-DE" u="none" dirty="0">
                              <a:solidFill>
                                <a:schemeClr val="tx1"/>
                              </a:solidFill>
                            </a:rPr>
                            <a:t>-Werte aus </a:t>
                          </a:r>
                          <a14:m>
                            <m:oMath xmlns:m="http://schemas.openxmlformats.org/officeDocument/2006/math">
                              <m:r>
                                <a:rPr lang="de-DE" i="1" u="none" dirty="0" smtClean="0">
                                  <a:solidFill>
                                    <a:srgbClr val="92D050"/>
                                  </a:solidFill>
                                  <a:latin typeface="Cambria Math" panose="02040503050406030204" pitchFamily="18" charset="0"/>
                                </a:rPr>
                                <m:t>𝐸</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cs typeface="JetBrains Mono" panose="02000009000000000000" pitchFamily="49" charset="0"/>
                            </a:rPr>
                            <a:t>valueOf</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14:m>
                            <m:oMathPara xmlns:m="http://schemas.openxmlformats.org/officeDocument/2006/math">
                              <m:oMathParaPr>
                                <m:jc m:val="left"/>
                              </m:oMathParaPr>
                              <m:oMath xmlns:m="http://schemas.openxmlformats.org/officeDocument/2006/math">
                                <m:r>
                                  <a:rPr lang="de-DE" i="1" u="none" dirty="0" smtClean="0">
                                    <a:solidFill>
                                      <a:srgbClr val="92D050"/>
                                    </a:solidFill>
                                    <a:latin typeface="Cambria Math" panose="02040503050406030204" pitchFamily="18" charset="0"/>
                                  </a:rPr>
                                  <m:t>𝐸</m:t>
                                </m:r>
                              </m:oMath>
                            </m:oMathPara>
                          </a14:m>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Enum</a:t>
                          </a:r>
                          <a:r>
                            <a:rPr lang="de-DE" u="none" dirty="0">
                              <a:solidFill>
                                <a:schemeClr val="tx1"/>
                              </a:solidFill>
                              <a:latin typeface="IBM Plex Sans" panose="020B0503050203000203" pitchFamily="34" charset="0"/>
                            </a:rPr>
                            <a:t>-Wert mit dem Namen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Choice>
        <mc:Fallback xmlns="">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105405" r="-177939" b="-202703"/>
                          </a:stretch>
                        </a:blip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37414" t="-105405" b="-202703"/>
                          </a:stretch>
                        </a:blipFill>
                      </a:tcPr>
                    </a:tc>
                    <a:extLst>
                      <a:ext uri="{0D108BD9-81ED-4DB2-BD59-A6C34878D82A}">
                        <a16:rowId xmlns:a16="http://schemas.microsoft.com/office/drawing/2014/main" val="3631942836"/>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202667" r="-177939"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64286" t="-202667" r="-192328"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37414" t="-202667" b="-100000"/>
                          </a:stretch>
                        </a:blipFill>
                      </a:tcPr>
                    </a:tc>
                    <a:extLst>
                      <a:ext uri="{0D108BD9-81ED-4DB2-BD59-A6C34878D82A}">
                        <a16:rowId xmlns:a16="http://schemas.microsoft.com/office/drawing/2014/main" val="1381015050"/>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306757" r="-177939" b="-1351"/>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64286" t="-306757" r="-192328" b="-1351"/>
                          </a:stretch>
                        </a:blipFill>
                      </a:tcPr>
                    </a:tc>
                    <a:tc>
                      <a:txBody>
                        <a:bodyPr/>
                        <a:lstStyle/>
                        <a:p>
                          <a:r>
                            <a:rPr lang="de-DE" u="none" dirty="0" err="1">
                              <a:solidFill>
                                <a:schemeClr val="tx1"/>
                              </a:solidFill>
                              <a:latin typeface="IBM Plex Sans" panose="020B0503050203000203" pitchFamily="34" charset="0"/>
                            </a:rPr>
                            <a:t>Enum</a:t>
                          </a:r>
                          <a:r>
                            <a:rPr lang="de-DE" u="none" dirty="0">
                              <a:solidFill>
                                <a:schemeClr val="tx1"/>
                              </a:solidFill>
                              <a:latin typeface="IBM Plex Sans" panose="020B0503050203000203" pitchFamily="34" charset="0"/>
                            </a:rPr>
                            <a:t>-Wert mit dem Namen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8937DCA-9FCA-4A17-A88E-02E501E40472}"/>
                  </a:ext>
                </a:extLst>
              </p:cNvPr>
              <p:cNvSpPr txBox="1"/>
              <p:nvPr/>
            </p:nvSpPr>
            <p:spPr>
              <a:xfrm>
                <a:off x="838200" y="1825664"/>
                <a:ext cx="6878444" cy="369332"/>
              </a:xfrm>
              <a:prstGeom prst="rect">
                <a:avLst/>
              </a:prstGeom>
              <a:noFill/>
            </p:spPr>
            <p:txBody>
              <a:bodyPr wrap="square" rtlCol="0">
                <a:spAutoFit/>
              </a:bodyPr>
              <a:lstStyle/>
              <a:p>
                <a:r>
                  <a:rPr lang="de-DE" dirty="0">
                    <a:latin typeface="IBM Plex Sans" panose="020B0503050203000203" pitchFamily="34" charset="0"/>
                  </a:rPr>
                  <a:t>Sei </a:t>
                </a:r>
                <a14:m>
                  <m:oMath xmlns:m="http://schemas.openxmlformats.org/officeDocument/2006/math">
                    <m:r>
                      <a:rPr lang="de-DE" i="1" dirty="0" smtClean="0">
                        <a:solidFill>
                          <a:srgbClr val="92D050"/>
                        </a:solidFill>
                        <a:latin typeface="Cambria Math" panose="02040503050406030204" pitchFamily="18" charset="0"/>
                      </a:rPr>
                      <m:t>𝐸</m:t>
                    </m:r>
                  </m:oMath>
                </a14:m>
                <a:r>
                  <a:rPr lang="de-DE" dirty="0">
                    <a:latin typeface="IBM Plex Sans" panose="020B0503050203000203" pitchFamily="34" charset="0"/>
                  </a:rPr>
                  <a:t> ein </a:t>
                </a: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lang="de-DE" dirty="0">
                    <a:latin typeface="IBM Plex Sans" panose="020B0503050203000203" pitchFamily="34" charset="0"/>
                  </a:rPr>
                  <a:t> mit </a:t>
                </a:r>
                <a:r>
                  <a:rPr lang="de-DE" dirty="0" err="1">
                    <a:latin typeface="IBM Plex Sans" panose="020B0503050203000203" pitchFamily="34" charset="0"/>
                  </a:rPr>
                  <a:t>Enum</a:t>
                </a:r>
                <a:r>
                  <a:rPr lang="de-DE" dirty="0">
                    <a:latin typeface="IBM Plex Sans" panose="020B0503050203000203" pitchFamily="34" charset="0"/>
                  </a:rPr>
                  <a:t>-Konstanten </a:t>
                </a:r>
                <a14:m>
                  <m:oMath xmlns:m="http://schemas.openxmlformats.org/officeDocument/2006/math">
                    <m:sSub>
                      <m:sSubPr>
                        <m:ctrlPr>
                          <a:rPr lang="de-DE"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𝑛</m:t>
                        </m:r>
                      </m:sub>
                    </m:sSub>
                  </m:oMath>
                </a14:m>
                <a:r>
                  <a:rPr lang="de-DE" dirty="0">
                    <a:latin typeface="IBM Plex Sans" panose="020B0503050203000203" pitchFamily="34" charset="0"/>
                  </a:rPr>
                  <a:t>.</a:t>
                </a:r>
              </a:p>
            </p:txBody>
          </p:sp>
        </mc:Choice>
        <mc:Fallback xmlns="">
          <p:sp>
            <p:nvSpPr>
              <p:cNvPr id="3" name="TextBox 2">
                <a:extLst>
                  <a:ext uri="{FF2B5EF4-FFF2-40B4-BE49-F238E27FC236}">
                    <a16:creationId xmlns:a16="http://schemas.microsoft.com/office/drawing/2014/main" id="{78937DCA-9FCA-4A17-A88E-02E501E40472}"/>
                  </a:ext>
                </a:extLst>
              </p:cNvPr>
              <p:cNvSpPr txBox="1">
                <a:spLocks noRot="1" noChangeAspect="1" noMove="1" noResize="1" noEditPoints="1" noAdjustHandles="1" noChangeArrowheads="1" noChangeShapeType="1" noTextEdit="1"/>
              </p:cNvSpPr>
              <p:nvPr/>
            </p:nvSpPr>
            <p:spPr>
              <a:xfrm>
                <a:off x="838200" y="1825664"/>
                <a:ext cx="6878444" cy="369332"/>
              </a:xfrm>
              <a:prstGeom prst="rect">
                <a:avLst/>
              </a:prstGeom>
              <a:blipFill>
                <a:blip r:embed="rId3"/>
                <a:stretch>
                  <a:fillRect l="-798" t="-8197" b="-24590"/>
                </a:stretch>
              </a:blipFill>
            </p:spPr>
            <p:txBody>
              <a:bodyPr/>
              <a:lstStyle/>
              <a:p>
                <a:r>
                  <a:rPr lang="de-DE">
                    <a:noFill/>
                  </a:rPr>
                  <a:t> </a:t>
                </a:r>
              </a:p>
            </p:txBody>
          </p:sp>
        </mc:Fallback>
      </mc:AlternateContent>
      <p:pic>
        <p:nvPicPr>
          <p:cNvPr id="5" name="Graphic 4" descr="Books with solid fill">
            <a:extLst>
              <a:ext uri="{FF2B5EF4-FFF2-40B4-BE49-F238E27FC236}">
                <a16:creationId xmlns:a16="http://schemas.microsoft.com/office/drawing/2014/main" id="{CC7F0A5F-3DD8-49E0-992B-59CB48CD252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8881712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F687D-F17E-482A-970E-7A255D3475E0}"/>
              </a:ext>
            </a:extLst>
          </p:cNvPr>
          <p:cNvSpPr>
            <a:spLocks noGrp="1"/>
          </p:cNvSpPr>
          <p:nvPr>
            <p:ph type="title"/>
          </p:nvPr>
        </p:nvSpPr>
        <p:spPr/>
        <p:txBody>
          <a:bodyPr/>
          <a:lstStyle/>
          <a:p>
            <a:r>
              <a:rPr lang="de-DE" dirty="0"/>
              <a:t>Primitive </a:t>
            </a:r>
            <a:r>
              <a:rPr lang="de-DE" dirty="0" err="1"/>
              <a:t>wrapper</a:t>
            </a:r>
            <a:r>
              <a:rPr lang="de-DE" dirty="0"/>
              <a:t> </a:t>
            </a:r>
            <a:r>
              <a:rPr lang="de-DE" dirty="0" err="1"/>
              <a:t>classes</a:t>
            </a:r>
            <a:endParaRPr lang="de-DE" dirty="0"/>
          </a:p>
        </p:txBody>
      </p:sp>
      <p:sp>
        <p:nvSpPr>
          <p:cNvPr id="3" name="Content Placeholder 2">
            <a:extLst>
              <a:ext uri="{FF2B5EF4-FFF2-40B4-BE49-F238E27FC236}">
                <a16:creationId xmlns:a16="http://schemas.microsoft.com/office/drawing/2014/main" id="{C54D4D3B-0421-4F59-87EB-00A62A21F363}"/>
              </a:ext>
            </a:extLst>
          </p:cNvPr>
          <p:cNvSpPr>
            <a:spLocks noGrp="1"/>
          </p:cNvSpPr>
          <p:nvPr>
            <p:ph idx="1"/>
          </p:nvPr>
        </p:nvSpPr>
        <p:spPr/>
        <p:txBody>
          <a:bodyPr/>
          <a:lstStyle/>
          <a:p>
            <a:r>
              <a:rPr lang="de-DE" dirty="0" err="1"/>
              <a:t>Autoboxing</a:t>
            </a:r>
            <a:endParaRPr lang="de-DE" dirty="0"/>
          </a:p>
          <a:p>
            <a:r>
              <a:rPr lang="de-DE" dirty="0" err="1"/>
              <a:t>unboxing</a:t>
            </a:r>
            <a:r>
              <a:rPr lang="de-DE" dirty="0"/>
              <a:t> (</a:t>
            </a:r>
            <a:r>
              <a:rPr lang="de-DE" dirty="0" err="1"/>
              <a:t>NullPointerException</a:t>
            </a:r>
            <a:r>
              <a:rPr lang="de-DE" dirty="0"/>
              <a:t>)</a:t>
            </a:r>
          </a:p>
        </p:txBody>
      </p:sp>
    </p:spTree>
    <p:extLst>
      <p:ext uri="{BB962C8B-B14F-4D97-AF65-F5344CB8AC3E}">
        <p14:creationId xmlns:p14="http://schemas.microsoft.com/office/powerpoint/2010/main" val="412202125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09C7BB-5A6B-4A8F-8222-00E1A52B916A}"/>
              </a:ext>
            </a:extLst>
          </p:cNvPr>
          <p:cNvSpPr>
            <a:spLocks noGrp="1"/>
          </p:cNvSpPr>
          <p:nvPr>
            <p:ph type="title"/>
          </p:nvPr>
        </p:nvSpPr>
        <p:spPr/>
        <p:txBody>
          <a:bodyPr/>
          <a:lstStyle/>
          <a:p>
            <a:r>
              <a:rPr lang="de-DE" dirty="0"/>
              <a:t>Datenstruktur</a:t>
            </a:r>
          </a:p>
        </p:txBody>
      </p:sp>
      <p:sp>
        <p:nvSpPr>
          <p:cNvPr id="3" name="Inhaltsplatzhalter 2">
            <a:extLst>
              <a:ext uri="{FF2B5EF4-FFF2-40B4-BE49-F238E27FC236}">
                <a16:creationId xmlns:a16="http://schemas.microsoft.com/office/drawing/2014/main" id="{0F810A94-D402-4C54-B1C4-73243E9DCEBA}"/>
              </a:ext>
            </a:extLst>
          </p:cNvPr>
          <p:cNvSpPr>
            <a:spLocks noGrp="1"/>
          </p:cNvSpPr>
          <p:nvPr>
            <p:ph idx="1"/>
          </p:nvPr>
        </p:nvSpPr>
        <p:spPr/>
        <p:txBody>
          <a:bodyPr>
            <a:normAutofit fontScale="92500" lnSpcReduction="10000"/>
          </a:bodyPr>
          <a:lstStyle/>
          <a:p>
            <a:r>
              <a:rPr lang="de-DE" dirty="0"/>
              <a:t>Eine Datenstruktur speichert und organisiert Daten.</a:t>
            </a:r>
          </a:p>
          <a:p>
            <a:pPr lvl="1"/>
            <a:r>
              <a:rPr lang="de-DE" dirty="0"/>
              <a:t>Arraylisten nummerieren Objekte durch. Sie beginnen bei 0 und können beliebig viele Objekte beinhalten.</a:t>
            </a:r>
          </a:p>
          <a:p>
            <a:pPr lvl="1"/>
            <a:r>
              <a:rPr lang="de-DE" dirty="0" err="1"/>
              <a:t>HashSets</a:t>
            </a:r>
            <a:r>
              <a:rPr lang="de-DE" dirty="0"/>
              <a:t> merken sich alle Objekte, die sie enthalten, auf eine strukturierte Weise. So kann man schnell herausfinden, ob ein Objekt vorhanden ist, ohne alle Objekte zu durchstöbern.</a:t>
            </a:r>
            <a:br>
              <a:rPr lang="de-DE" dirty="0"/>
            </a:br>
            <a:r>
              <a:rPr lang="de-DE" dirty="0"/>
              <a:t>Beispiel: Wenn in einer Bibliothek „Der Herr der Ringe“ nicht unter „Fantasyromane mit D“ oder „Fantasyromane mit H“ zu finden ist, muss man im Rest der Bibliothek gar nicht erst danach suchen.</a:t>
            </a:r>
            <a:br>
              <a:rPr lang="de-DE" dirty="0"/>
            </a:br>
            <a:r>
              <a:rPr lang="de-DE" dirty="0"/>
              <a:t>Außerdem können Sets (Mengen) im allgemeinen jedes Objekt nur einmal enthalten.</a:t>
            </a:r>
          </a:p>
          <a:p>
            <a:pPr lvl="1"/>
            <a:r>
              <a:rPr lang="de-DE" dirty="0" err="1"/>
              <a:t>HashMaps</a:t>
            </a:r>
            <a:r>
              <a:rPr lang="de-DE" dirty="0"/>
              <a:t> ordnen Objekten andere Objekte zu. So kann man z.B. Positionen auf einem schachbrettartigen Spielfeld die Figur zuordnen, die sich darauf befindet.</a:t>
            </a:r>
          </a:p>
        </p:txBody>
      </p:sp>
      <p:pic>
        <p:nvPicPr>
          <p:cNvPr id="4" name="Graphic 3" descr="Books with solid fill">
            <a:extLst>
              <a:ext uri="{FF2B5EF4-FFF2-40B4-BE49-F238E27FC236}">
                <a16:creationId xmlns:a16="http://schemas.microsoft.com/office/drawing/2014/main" id="{D9966F58-2A75-42A9-A18B-E59C5FA656B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6458449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A48B76-16DD-4B7B-90C5-D9156A41D6E5}"/>
              </a:ext>
            </a:extLst>
          </p:cNvPr>
          <p:cNvSpPr>
            <a:spLocks noGrp="1"/>
          </p:cNvSpPr>
          <p:nvPr>
            <p:ph type="title"/>
          </p:nvPr>
        </p:nvSpPr>
        <p:spPr/>
        <p:txBody>
          <a:bodyPr/>
          <a:lstStyle/>
          <a:p>
            <a:r>
              <a:rPr lang="de-DE" dirty="0" err="1"/>
              <a:t>Generics</a:t>
            </a:r>
            <a:endParaRPr lang="de-DE" dirty="0"/>
          </a:p>
        </p:txBody>
      </p:sp>
      <p:sp>
        <p:nvSpPr>
          <p:cNvPr id="3" name="Inhaltsplatzhalter 2">
            <a:extLst>
              <a:ext uri="{FF2B5EF4-FFF2-40B4-BE49-F238E27FC236}">
                <a16:creationId xmlns:a16="http://schemas.microsoft.com/office/drawing/2014/main" id="{C6CFDA68-2C72-43AE-B56B-E14822E9B586}"/>
              </a:ext>
            </a:extLst>
          </p:cNvPr>
          <p:cNvSpPr>
            <a:spLocks noGrp="1"/>
          </p:cNvSpPr>
          <p:nvPr>
            <p:ph idx="1"/>
          </p:nvPr>
        </p:nvSpPr>
        <p:spPr/>
        <p:txBody>
          <a:bodyPr/>
          <a:lstStyle/>
          <a:p>
            <a:r>
              <a:rPr lang="de-DE" dirty="0" err="1"/>
              <a:t>Generics</a:t>
            </a:r>
            <a:r>
              <a:rPr lang="de-DE" dirty="0"/>
              <a:t> machen es möglich, Klassen und Methoden für beliebige Typen zu verwenden.</a:t>
            </a:r>
          </a:p>
          <a:p>
            <a:r>
              <a:rPr lang="de-DE" dirty="0" err="1"/>
              <a:t>Generics</a:t>
            </a:r>
            <a:r>
              <a:rPr lang="de-DE" dirty="0"/>
              <a:t> sind durch eine gespitzte Klammer um den Namen des generischen Typen gekennzeichnet, z.B. &lt;T&gt;</a:t>
            </a:r>
          </a:p>
          <a:p>
            <a:r>
              <a:rPr lang="de-DE" dirty="0"/>
              <a:t>Wenn der Typ unbestimmt ist, wird ein ? eingesetzt, z.B. &lt;?&gt;</a:t>
            </a:r>
          </a:p>
        </p:txBody>
      </p:sp>
      <p:pic>
        <p:nvPicPr>
          <p:cNvPr id="4" name="Graphic 3" descr="Books with solid fill">
            <a:extLst>
              <a:ext uri="{FF2B5EF4-FFF2-40B4-BE49-F238E27FC236}">
                <a16:creationId xmlns:a16="http://schemas.microsoft.com/office/drawing/2014/main" id="{045B96BD-EA63-42BE-B053-3CFE0A9801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514826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2A8527-3911-40D2-9C81-5C4C6ADEF309}"/>
              </a:ext>
            </a:extLst>
          </p:cNvPr>
          <p:cNvSpPr>
            <a:spLocks noGrp="1"/>
          </p:cNvSpPr>
          <p:nvPr>
            <p:ph type="title"/>
          </p:nvPr>
        </p:nvSpPr>
        <p:spPr/>
        <p:txBody>
          <a:bodyPr/>
          <a:lstStyle/>
          <a:p>
            <a:r>
              <a:rPr lang="de-DE" dirty="0"/>
              <a:t>Collection&lt;E&gt;</a:t>
            </a:r>
          </a:p>
        </p:txBody>
      </p:sp>
      <p:graphicFrame>
        <p:nvGraphicFramePr>
          <p:cNvPr id="4" name="Tabelle 7">
            <a:extLst>
              <a:ext uri="{FF2B5EF4-FFF2-40B4-BE49-F238E27FC236}">
                <a16:creationId xmlns:a16="http://schemas.microsoft.com/office/drawing/2014/main" id="{584274A5-57A5-453D-8E2B-258B77429208}"/>
              </a:ext>
            </a:extLst>
          </p:cNvPr>
          <p:cNvGraphicFramePr>
            <a:graphicFrameLocks noGrp="1"/>
          </p:cNvGraphicFramePr>
          <p:nvPr/>
        </p:nvGraphicFramePr>
        <p:xfrm>
          <a:off x="838200" y="1690688"/>
          <a:ext cx="10515599" cy="5342571"/>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size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isEmpty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latin typeface="IBM Plex Sans" panose="020B0503050203000203" pitchFamily="34" charset="0"/>
                        </a:rPr>
                        <a:t>contains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das Objekt „o“ enthalten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latin typeface="IBM Plex Sans" panose="020B0503050203000203" pitchFamily="34" charset="0"/>
                        </a:rPr>
                        <a:t>containsAll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alle Objekte aus c auch hier enthalten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add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 </a:t>
                      </a:r>
                      <a:r>
                        <a:rPr lang="de-DE" u="none" dirty="0" err="1">
                          <a:solidFill>
                            <a:schemeClr val="tx1"/>
                          </a:solidFill>
                          <a:latin typeface="IBM Plex Sans" panose="020B0503050203000203" pitchFamily="34" charset="0"/>
                        </a:rPr>
                        <a:t>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Fügt das Element „e“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latin typeface="IBM Plex Sans" panose="020B0503050203000203" pitchFamily="34" charset="0"/>
                        </a:rPr>
                        <a:t>remove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das Objekt „o“, wenn enthalten.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r h="451379">
                <a:tc>
                  <a:txBody>
                    <a:bodyPr/>
                    <a:lstStyle/>
                    <a:p>
                      <a:r>
                        <a:rPr lang="de-DE" u="none" dirty="0" err="1">
                          <a:solidFill>
                            <a:schemeClr val="tx1"/>
                          </a:solidFill>
                          <a:latin typeface="IBM Plex Sans" panose="020B0503050203000203" pitchFamily="34" charset="0"/>
                        </a:rPr>
                        <a:t>addAll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 </a:t>
                      </a:r>
                      <a:r>
                        <a:rPr lang="de-DE" u="none" dirty="0" err="1">
                          <a:solidFill>
                            <a:schemeClr val="tx1"/>
                          </a:solidFill>
                          <a:latin typeface="IBM Plex Sans" panose="020B0503050203000203" pitchFamily="34" charset="0"/>
                        </a:rPr>
                        <a:t>extends</a:t>
                      </a:r>
                      <a:r>
                        <a:rPr lang="de-DE" u="none" dirty="0">
                          <a:solidFill>
                            <a:schemeClr val="tx1"/>
                          </a:solidFill>
                        </a:rPr>
                        <a:t> E&gt;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Fügt alle Elemente auf c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18670606"/>
                  </a:ext>
                </a:extLst>
              </a:tr>
              <a:tr h="451379">
                <a:tc>
                  <a:txBody>
                    <a:bodyPr/>
                    <a:lstStyle/>
                    <a:p>
                      <a:r>
                        <a:rPr lang="de-DE" u="none" dirty="0" err="1">
                          <a:solidFill>
                            <a:schemeClr val="tx1"/>
                          </a:solidFill>
                          <a:latin typeface="IBM Plex Sans" panose="020B0503050203000203" pitchFamily="34" charset="0"/>
                        </a:rPr>
                        <a:t>removeAll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alle Elemente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07417104"/>
                  </a:ext>
                </a:extLst>
              </a:tr>
              <a:tr h="451379">
                <a:tc>
                  <a:txBody>
                    <a:bodyPr/>
                    <a:lstStyle/>
                    <a:p>
                      <a:r>
                        <a:rPr lang="de-DE" u="none" dirty="0" err="1">
                          <a:solidFill>
                            <a:schemeClr val="tx1"/>
                          </a:solidFill>
                          <a:latin typeface="IBM Plex Sans" panose="020B0503050203000203" pitchFamily="34" charset="0"/>
                        </a:rPr>
                        <a:t>clear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void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Leert die Collection.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11201518"/>
                  </a:ext>
                </a:extLst>
              </a:tr>
              <a:tr h="451379">
                <a:tc>
                  <a:txBody>
                    <a:bodyPr/>
                    <a:lstStyle/>
                    <a:p>
                      <a:r>
                        <a:rPr lang="de-DE" u="none" dirty="0" err="1">
                          <a:solidFill>
                            <a:schemeClr val="tx1"/>
                          </a:solidFill>
                          <a:latin typeface="IBM Plex Sans" panose="020B0503050203000203" pitchFamily="34" charset="0"/>
                        </a:rPr>
                        <a:t>retainAll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alle Elemente, bis auf die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3329608"/>
                  </a:ext>
                </a:extLst>
              </a:tr>
            </a:tbl>
          </a:graphicData>
        </a:graphic>
      </p:graphicFrame>
      <p:pic>
        <p:nvPicPr>
          <p:cNvPr id="5" name="Graphic 4" descr="Books with solid fill">
            <a:extLst>
              <a:ext uri="{FF2B5EF4-FFF2-40B4-BE49-F238E27FC236}">
                <a16:creationId xmlns:a16="http://schemas.microsoft.com/office/drawing/2014/main" id="{C58B2FF7-7E9F-41F1-8C07-086FF04C10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594159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C42AE2-B519-4754-AE97-B452A9FF1F49}"/>
              </a:ext>
            </a:extLst>
          </p:cNvPr>
          <p:cNvSpPr>
            <a:spLocks noGrp="1"/>
          </p:cNvSpPr>
          <p:nvPr>
            <p:ph type="title"/>
          </p:nvPr>
        </p:nvSpPr>
        <p:spPr/>
        <p:txBody>
          <a:bodyPr/>
          <a:lstStyle/>
          <a:p>
            <a:r>
              <a:rPr lang="de-DE" dirty="0" err="1"/>
              <a:t>ArrayList</a:t>
            </a:r>
            <a:r>
              <a:rPr lang="de-DE" dirty="0"/>
              <a:t>&lt;E&gt; (ist eine Collection)</a:t>
            </a:r>
          </a:p>
        </p:txBody>
      </p:sp>
      <p:graphicFrame>
        <p:nvGraphicFramePr>
          <p:cNvPr id="4" name="Tabelle 7">
            <a:extLst>
              <a:ext uri="{FF2B5EF4-FFF2-40B4-BE49-F238E27FC236}">
                <a16:creationId xmlns:a16="http://schemas.microsoft.com/office/drawing/2014/main" id="{ABDCC862-E6BD-4362-AF21-A24DFAA7236B}"/>
              </a:ext>
            </a:extLst>
          </p:cNvPr>
          <p:cNvGraphicFramePr>
            <a:graphicFrameLocks noGrp="1"/>
          </p:cNvGraphicFramePr>
          <p:nvPr/>
        </p:nvGraphicFramePr>
        <p:xfrm>
          <a:off x="838201" y="2657059"/>
          <a:ext cx="10515599" cy="1731539"/>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13716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get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r>
                        <a:rPr lang="de-DE" u="none" dirty="0">
                          <a:solidFill>
                            <a:schemeClr val="tx1"/>
                          </a:solidFill>
                          <a:latin typeface="IBM Plex Sans" panose="020B0503050203000203" pitchFamily="34" charset="0"/>
                        </a:rPr>
                        <a:t> </a:t>
                      </a:r>
                      <a:r>
                        <a:rPr lang="de-DE" u="none" dirty="0" err="1">
                          <a:solidFill>
                            <a:schemeClr val="tx1"/>
                          </a:solidFill>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das Objekt mit der Nummer </a:t>
                      </a:r>
                      <a:r>
                        <a:rPr lang="de-DE" u="none" dirty="0" err="1">
                          <a:solidFill>
                            <a:schemeClr val="tx1"/>
                          </a:solidFill>
                          <a:latin typeface="IBM Plex Sans" panose="020B0503050203000203" pitchFamily="34" charset="0"/>
                        </a:rPr>
                        <a:t>index</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latin typeface="IBM Plex Sans" panose="020B0503050203000203" pitchFamily="34" charset="0"/>
                        </a:rPr>
                        <a:t>indexOf</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falls o enthalten, den (ersten) Index von o, sonst -1.</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bl>
          </a:graphicData>
        </a:graphic>
      </p:graphicFrame>
      <p:sp>
        <p:nvSpPr>
          <p:cNvPr id="5" name="Textfeld 4">
            <a:extLst>
              <a:ext uri="{FF2B5EF4-FFF2-40B4-BE49-F238E27FC236}">
                <a16:creationId xmlns:a16="http://schemas.microsoft.com/office/drawing/2014/main" id="{7EA2548D-458E-4EE8-8E70-C77E69943370}"/>
              </a:ext>
            </a:extLst>
          </p:cNvPr>
          <p:cNvSpPr txBox="1"/>
          <p:nvPr/>
        </p:nvSpPr>
        <p:spPr>
          <a:xfrm>
            <a:off x="838200" y="1684656"/>
            <a:ext cx="9222396" cy="646331"/>
          </a:xfrm>
          <a:prstGeom prst="rect">
            <a:avLst/>
          </a:prstGeom>
          <a:noFill/>
        </p:spPr>
        <p:txBody>
          <a:bodyPr wrap="none" rtlCol="0">
            <a:spAutoFit/>
          </a:bodyPr>
          <a:lstStyle/>
          <a:p>
            <a:r>
              <a:rPr lang="de-DE" dirty="0">
                <a:latin typeface="IBM Plex Sans" panose="020B0503050203000203" pitchFamily="34" charset="0"/>
              </a:rPr>
              <a:t>Nummeriert Objekte durch. Beginnt bei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latin typeface="IBM Plex Sans" panose="020B0503050203000203" pitchFamily="34" charset="0"/>
              </a:rPr>
              <a:t> und kann beliebig viele Objekte referenzieren.</a:t>
            </a:r>
          </a:p>
          <a:p>
            <a:r>
              <a:rPr lang="de-DE" dirty="0">
                <a:latin typeface="IBM Plex Sans" panose="020B0503050203000203" pitchFamily="34" charset="0"/>
              </a:rPr>
              <a:t>Anders als ein Array kann sich die Länge einer </a:t>
            </a:r>
            <a:r>
              <a:rPr lang="de-DE" dirty="0" err="1">
                <a:latin typeface="IBM Plex Sans" panose="020B0503050203000203" pitchFamily="34" charset="0"/>
              </a:rPr>
              <a:t>ArrayList</a:t>
            </a:r>
            <a:r>
              <a:rPr lang="de-DE" dirty="0">
                <a:latin typeface="IBM Plex Sans" panose="020B0503050203000203" pitchFamily="34" charset="0"/>
              </a:rPr>
              <a:t> ändern.</a:t>
            </a:r>
          </a:p>
        </p:txBody>
      </p:sp>
      <p:pic>
        <p:nvPicPr>
          <p:cNvPr id="6" name="Graphic 5" descr="Books with solid fill">
            <a:extLst>
              <a:ext uri="{FF2B5EF4-FFF2-40B4-BE49-F238E27FC236}">
                <a16:creationId xmlns:a16="http://schemas.microsoft.com/office/drawing/2014/main" id="{6713745A-2AA1-41C5-81F6-F9E95553602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5861182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7D0A80-21D2-45F7-8DA8-E73BE2E34F7E}"/>
              </a:ext>
            </a:extLst>
          </p:cNvPr>
          <p:cNvSpPr>
            <a:spLocks noGrp="1"/>
          </p:cNvSpPr>
          <p:nvPr>
            <p:ph type="title"/>
          </p:nvPr>
        </p:nvSpPr>
        <p:spPr/>
        <p:txBody>
          <a:bodyPr/>
          <a:lstStyle/>
          <a:p>
            <a:r>
              <a:rPr lang="de-DE" dirty="0" err="1"/>
              <a:t>HashSet</a:t>
            </a:r>
            <a:r>
              <a:rPr lang="de-DE" dirty="0"/>
              <a:t>&lt;E&gt; (ist eine Collection)</a:t>
            </a:r>
          </a:p>
        </p:txBody>
      </p:sp>
      <p:sp>
        <p:nvSpPr>
          <p:cNvPr id="4" name="Textfeld 3">
            <a:extLst>
              <a:ext uri="{FF2B5EF4-FFF2-40B4-BE49-F238E27FC236}">
                <a16:creationId xmlns:a16="http://schemas.microsoft.com/office/drawing/2014/main" id="{FEF3277F-8ECB-486F-A055-E075F83233C5}"/>
              </a:ext>
            </a:extLst>
          </p:cNvPr>
          <p:cNvSpPr txBox="1"/>
          <p:nvPr/>
        </p:nvSpPr>
        <p:spPr>
          <a:xfrm>
            <a:off x="838200" y="1684656"/>
            <a:ext cx="10515599" cy="3970318"/>
          </a:xfrm>
          <a:prstGeom prst="rect">
            <a:avLst/>
          </a:prstGeom>
          <a:noFill/>
        </p:spPr>
        <p:txBody>
          <a:bodyPr wrap="square" rtlCol="0">
            <a:spAutoFit/>
          </a:bodyPr>
          <a:lstStyle/>
          <a:p>
            <a:r>
              <a:rPr lang="de-DE" dirty="0">
                <a:latin typeface="IBM Plex Sans" panose="020B0503050203000203" pitchFamily="34" charset="0"/>
              </a:rPr>
              <a:t>Repräsentiert eine endliche Menge an Objekten des Datentypen E.</a:t>
            </a:r>
          </a:p>
          <a:p>
            <a:endParaRPr lang="de-DE" dirty="0">
              <a:latin typeface="IBM Plex Sans" panose="020B0503050203000203" pitchFamily="34" charset="0"/>
            </a:endParaRPr>
          </a:p>
          <a:p>
            <a:r>
              <a:rPr lang="de-DE" dirty="0">
                <a:latin typeface="IBM Plex Sans" panose="020B0503050203000203" pitchFamily="34" charset="0"/>
              </a:rPr>
              <a:t>Merkt sich alle Objekte, die sie enthalten, auf eine strukturierte Weise. So kann man schnell herausfinden, ob ein Objekt vorhanden ist, ohne alle Objekte zu durchstöbern.</a:t>
            </a:r>
          </a:p>
          <a:p>
            <a:br>
              <a:rPr lang="de-DE" dirty="0">
                <a:latin typeface="IBM Plex Sans" panose="020B0503050203000203" pitchFamily="34" charset="0"/>
              </a:rPr>
            </a:br>
            <a:r>
              <a:rPr lang="de-DE" dirty="0">
                <a:latin typeface="IBM Plex Sans" panose="020B0503050203000203" pitchFamily="34" charset="0"/>
              </a:rPr>
              <a:t>Beispiel:</a:t>
            </a:r>
          </a:p>
          <a:p>
            <a:r>
              <a:rPr lang="de-DE" dirty="0">
                <a:latin typeface="IBM Plex Sans" panose="020B0503050203000203" pitchFamily="34" charset="0"/>
              </a:rPr>
              <a:t>Wenn in einer Bibliothek „Der Herr der Ringe“ nicht unter „Fantasyromane mit D“ oder „Fantasyromane mit H“ zu finden ist, muss man im Rest der Bibliothek gar nicht erst danach suchen.</a:t>
            </a:r>
          </a:p>
          <a:p>
            <a:endParaRPr lang="de-DE" dirty="0">
              <a:latin typeface="IBM Plex Sans" panose="020B0503050203000203" pitchFamily="34" charset="0"/>
            </a:endParaRPr>
          </a:p>
          <a:p>
            <a:r>
              <a:rPr lang="de-DE" dirty="0">
                <a:latin typeface="IBM Plex Sans" panose="020B0503050203000203" pitchFamily="34" charset="0"/>
              </a:rPr>
              <a:t>Sets (Mengen) allgemein:</a:t>
            </a:r>
          </a:p>
          <a:p>
            <a:pPr marL="285750" indent="-285750">
              <a:buFont typeface="Arial" panose="020B0604020202020204" pitchFamily="34" charset="0"/>
              <a:buChar char="•"/>
            </a:pPr>
            <a:r>
              <a:rPr lang="de-DE" dirty="0">
                <a:latin typeface="IBM Plex Sans" panose="020B0503050203000203" pitchFamily="34" charset="0"/>
              </a:rPr>
              <a:t>Können jedes Element nur einmal enthalten. Entweder ist es enthalten, oder nicht.</a:t>
            </a:r>
          </a:p>
          <a:p>
            <a:pPr marL="285750" indent="-285750">
              <a:buFont typeface="Arial" panose="020B0604020202020204" pitchFamily="34" charset="0"/>
              <a:buChar char="•"/>
            </a:pPr>
            <a:r>
              <a:rPr lang="de-DE" dirty="0">
                <a:latin typeface="IBM Plex Sans" panose="020B0503050203000203" pitchFamily="34" charset="0"/>
              </a:rPr>
              <a:t>Haben, anders als Listen, keine Information über die Reihenfolge der Objekte. Sie ist entweder komplett willkürlich oder hängt von Eigenschaften der Objekte ab.</a:t>
            </a:r>
          </a:p>
          <a:p>
            <a:pPr marL="742950" lvl="1" indent="-285750">
              <a:buFont typeface="Arial" panose="020B0604020202020204" pitchFamily="34" charset="0"/>
              <a:buChar char="•"/>
            </a:pPr>
            <a:r>
              <a:rPr lang="de-DE" dirty="0">
                <a:latin typeface="IBM Plex Sans" panose="020B0503050203000203" pitchFamily="34" charset="0"/>
              </a:rPr>
              <a:t>Es gibt keine Indizes.</a:t>
            </a:r>
          </a:p>
        </p:txBody>
      </p:sp>
      <p:pic>
        <p:nvPicPr>
          <p:cNvPr id="5" name="Graphic 4" descr="Books with solid fill">
            <a:extLst>
              <a:ext uri="{FF2B5EF4-FFF2-40B4-BE49-F238E27FC236}">
                <a16:creationId xmlns:a16="http://schemas.microsoft.com/office/drawing/2014/main" id="{16C23DA6-DCA2-4095-99D0-A1C759ED26D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7205780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182BCD-583B-4DF5-908B-E196C3AB16BF}"/>
              </a:ext>
            </a:extLst>
          </p:cNvPr>
          <p:cNvSpPr>
            <a:spLocks noGrp="1"/>
          </p:cNvSpPr>
          <p:nvPr>
            <p:ph type="title"/>
          </p:nvPr>
        </p:nvSpPr>
        <p:spPr/>
        <p:txBody>
          <a:bodyPr/>
          <a:lstStyle/>
          <a:p>
            <a:r>
              <a:rPr lang="de-DE" dirty="0" err="1"/>
              <a:t>HashMap</a:t>
            </a:r>
            <a:r>
              <a:rPr lang="de-DE" dirty="0"/>
              <a:t>&lt;K, V&gt;</a:t>
            </a:r>
          </a:p>
        </p:txBody>
      </p:sp>
      <p:sp>
        <p:nvSpPr>
          <p:cNvPr id="3" name="Inhaltsplatzhalter 2">
            <a:extLst>
              <a:ext uri="{FF2B5EF4-FFF2-40B4-BE49-F238E27FC236}">
                <a16:creationId xmlns:a16="http://schemas.microsoft.com/office/drawing/2014/main" id="{ED105477-A36E-40B8-8138-5AB86B946BC0}"/>
              </a:ext>
            </a:extLst>
          </p:cNvPr>
          <p:cNvSpPr>
            <a:spLocks noGrp="1"/>
          </p:cNvSpPr>
          <p:nvPr>
            <p:ph idx="1"/>
          </p:nvPr>
        </p:nvSpPr>
        <p:spPr>
          <a:xfrm>
            <a:off x="838200" y="1825625"/>
            <a:ext cx="10515600" cy="587375"/>
          </a:xfrm>
        </p:spPr>
        <p:txBody>
          <a:bodyPr>
            <a:normAutofit/>
          </a:bodyPr>
          <a:lstStyle/>
          <a:p>
            <a:pPr marL="0" indent="0">
              <a:buNone/>
            </a:pPr>
            <a:r>
              <a:rPr lang="de-DE" sz="1800" dirty="0"/>
              <a:t>Ordnet Objekten andere Objekte zu. So kann man z.B. Positionen auf einem schachbrettartigen Spielfeld die darauf befindliche Figur zuordnen.</a:t>
            </a:r>
          </a:p>
        </p:txBody>
      </p:sp>
      <p:graphicFrame>
        <p:nvGraphicFramePr>
          <p:cNvPr id="4" name="Tabelle 7">
            <a:extLst>
              <a:ext uri="{FF2B5EF4-FFF2-40B4-BE49-F238E27FC236}">
                <a16:creationId xmlns:a16="http://schemas.microsoft.com/office/drawing/2014/main" id="{DBB5F8A0-80FD-4EAB-9774-719A00558EEC}"/>
              </a:ext>
            </a:extLst>
          </p:cNvPr>
          <p:cNvGraphicFramePr>
            <a:graphicFrameLocks noGrp="1"/>
          </p:cNvGraphicFramePr>
          <p:nvPr/>
        </p:nvGraphicFramePr>
        <p:xfrm>
          <a:off x="838201" y="2547937"/>
          <a:ext cx="10515599" cy="4177135"/>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size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isEmpty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latin typeface="IBM Plex Sans" panose="020B0503050203000203" pitchFamily="34" charset="0"/>
                        </a:rPr>
                        <a:t>clear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void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Leert die </a:t>
                      </a:r>
                      <a:r>
                        <a:rPr lang="de-DE" u="none" dirty="0" err="1">
                          <a:solidFill>
                            <a:schemeClr val="tx1"/>
                          </a:solidFill>
                          <a:latin typeface="IBM Plex Sans" panose="020B0503050203000203" pitchFamily="34" charset="0"/>
                        </a:rPr>
                        <a:t>HashMap</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err="1">
                          <a:solidFill>
                            <a:schemeClr val="tx1"/>
                          </a:solidFill>
                          <a:latin typeface="IBM Plex Sans" panose="020B0503050203000203" pitchFamily="34" charset="0"/>
                        </a:rPr>
                        <a:t>put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 </a:t>
                      </a:r>
                      <a:r>
                        <a:rPr lang="de-DE" u="none" dirty="0" err="1">
                          <a:solidFill>
                            <a:schemeClr val="tx1"/>
                          </a:solidFill>
                          <a:latin typeface="IBM Plex Sans" panose="020B0503050203000203" pitchFamily="34" charset="0"/>
                        </a:rPr>
                        <a:t>key</a:t>
                      </a:r>
                      <a:r>
                        <a:rPr lang="de-DE" u="none" dirty="0">
                          <a:solidFill>
                            <a:schemeClr val="tx1"/>
                          </a:solidFill>
                        </a:rPr>
                        <a:t>, V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Ordnet </a:t>
                      </a:r>
                      <a:r>
                        <a:rPr lang="de-DE" u="none" dirty="0" err="1">
                          <a:solidFill>
                            <a:schemeClr val="tx1"/>
                          </a:solidFill>
                          <a:latin typeface="IBM Plex Sans" panose="020B0503050203000203" pitchFamily="34" charset="0"/>
                        </a:rPr>
                        <a:t>key</a:t>
                      </a:r>
                      <a:r>
                        <a:rPr lang="de-DE" u="none" dirty="0">
                          <a:solidFill>
                            <a:schemeClr val="tx1"/>
                          </a:solidFill>
                        </a:rPr>
                        <a:t> </a:t>
                      </a:r>
                      <a:r>
                        <a:rPr lang="de-DE" u="none" dirty="0" err="1">
                          <a:solidFill>
                            <a:schemeClr val="tx1"/>
                          </a:solidFill>
                        </a:rPr>
                        <a:t>value</a:t>
                      </a:r>
                      <a:r>
                        <a:rPr lang="de-DE" u="none" dirty="0">
                          <a:solidFill>
                            <a:schemeClr val="tx1"/>
                          </a:solidFill>
                        </a:rPr>
                        <a:t> 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latin typeface="IBM Plex Sans" panose="020B0503050203000203" pitchFamily="34" charset="0"/>
                        </a:rPr>
                        <a:t>get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das zu </a:t>
                      </a:r>
                      <a:r>
                        <a:rPr lang="de-DE" u="none" dirty="0" err="1">
                          <a:solidFill>
                            <a:schemeClr val="tx1"/>
                          </a:solidFill>
                          <a:latin typeface="IBM Plex Sans" panose="020B0503050203000203" pitchFamily="34" charset="0"/>
                        </a:rPr>
                        <a:t>key</a:t>
                      </a:r>
                      <a:r>
                        <a:rPr lang="de-DE" u="none" dirty="0">
                          <a:solidFill>
                            <a:schemeClr val="tx1"/>
                          </a:solidFill>
                        </a:rPr>
                        <a:t> zugeordnete Objekt, oder null wenn keines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containsKey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a:t>
                      </a:r>
                      <a:r>
                        <a:rPr lang="de-DE" u="none" dirty="0" err="1">
                          <a:solidFill>
                            <a:schemeClr val="tx1"/>
                          </a:solidFill>
                          <a:latin typeface="IBM Plex Sans" panose="020B0503050203000203" pitchFamily="34" charset="0"/>
                        </a:rPr>
                        <a:t>key</a:t>
                      </a:r>
                      <a:r>
                        <a:rPr lang="de-DE" u="none" dirty="0">
                          <a:solidFill>
                            <a:schemeClr val="tx1"/>
                          </a:solidFill>
                        </a:rPr>
                        <a:t> ein Objekt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latin typeface="IBM Plex Sans" panose="020B0503050203000203" pitchFamily="34" charset="0"/>
                        </a:rPr>
                        <a:t>containsValue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irgendeinem Objekt </a:t>
                      </a:r>
                      <a:r>
                        <a:rPr lang="de-DE" u="none" dirty="0" err="1">
                          <a:solidFill>
                            <a:schemeClr val="tx1"/>
                          </a:solidFill>
                          <a:latin typeface="IBM Plex Sans" panose="020B0503050203000203" pitchFamily="34" charset="0"/>
                        </a:rPr>
                        <a:t>value</a:t>
                      </a:r>
                      <a:r>
                        <a:rPr lang="de-DE" u="none" dirty="0">
                          <a:solidFill>
                            <a:schemeClr val="tx1"/>
                          </a:solidFill>
                        </a:rPr>
                        <a: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bl>
          </a:graphicData>
        </a:graphic>
      </p:graphicFrame>
      <p:pic>
        <p:nvPicPr>
          <p:cNvPr id="5" name="Graphic 4" descr="Books with solid fill">
            <a:extLst>
              <a:ext uri="{FF2B5EF4-FFF2-40B4-BE49-F238E27FC236}">
                <a16:creationId xmlns:a16="http://schemas.microsoft.com/office/drawing/2014/main" id="{020A3BCD-7E10-445C-BCEA-50194626AC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1" name="Graphic 10" descr="Clapper board with solid fill">
            <a:hlinkClick r:id="rId4" tooltip="YouTube Video"/>
            <a:extLst>
              <a:ext uri="{FF2B5EF4-FFF2-40B4-BE49-F238E27FC236}">
                <a16:creationId xmlns:a16="http://schemas.microsoft.com/office/drawing/2014/main" id="{E83CC6F0-A6F1-4014-8331-2340A3227E7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235649851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E2C69-AAC6-4B1D-A340-1B7C1CE66E25}"/>
              </a:ext>
            </a:extLst>
          </p:cNvPr>
          <p:cNvSpPr>
            <a:spLocks noGrp="1"/>
          </p:cNvSpPr>
          <p:nvPr>
            <p:ph type="title"/>
          </p:nvPr>
        </p:nvSpPr>
        <p:spPr/>
        <p:txBody>
          <a:bodyPr/>
          <a:lstStyle/>
          <a:p>
            <a:r>
              <a:rPr lang="de-DE" dirty="0"/>
              <a:t>Codestruktur</a:t>
            </a:r>
          </a:p>
        </p:txBody>
      </p:sp>
      <p:sp>
        <p:nvSpPr>
          <p:cNvPr id="3" name="Content Placeholder 2">
            <a:extLst>
              <a:ext uri="{FF2B5EF4-FFF2-40B4-BE49-F238E27FC236}">
                <a16:creationId xmlns:a16="http://schemas.microsoft.com/office/drawing/2014/main" id="{F5E38DCE-EEB3-46F8-A793-8203E3B08480}"/>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6680608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5F34F-0A37-4E85-93FB-166D7ACC0E13}"/>
              </a:ext>
            </a:extLst>
          </p:cNvPr>
          <p:cNvSpPr>
            <a:spLocks noGrp="1"/>
          </p:cNvSpPr>
          <p:nvPr>
            <p:ph type="title"/>
          </p:nvPr>
        </p:nvSpPr>
        <p:spPr/>
        <p:txBody>
          <a:bodyPr/>
          <a:lstStyle/>
          <a:p>
            <a:r>
              <a:rPr lang="de-DE" dirty="0"/>
              <a:t>Aggregation vs. Komposition</a:t>
            </a:r>
          </a:p>
        </p:txBody>
      </p:sp>
      <p:sp>
        <p:nvSpPr>
          <p:cNvPr id="3" name="Content Placeholder 2">
            <a:extLst>
              <a:ext uri="{FF2B5EF4-FFF2-40B4-BE49-F238E27FC236}">
                <a16:creationId xmlns:a16="http://schemas.microsoft.com/office/drawing/2014/main" id="{E9E0D1DF-2320-4DD5-AB4D-7C5136F3004A}"/>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427941590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3257-4771-41D8-87F7-17EF5194C9D5}"/>
              </a:ext>
            </a:extLst>
          </p:cNvPr>
          <p:cNvSpPr>
            <a:spLocks noGrp="1"/>
          </p:cNvSpPr>
          <p:nvPr>
            <p:ph type="title"/>
          </p:nvPr>
        </p:nvSpPr>
        <p:spPr/>
        <p:txBody>
          <a:bodyPr/>
          <a:lstStyle/>
          <a:p>
            <a:r>
              <a:rPr lang="de-DE" dirty="0" err="1"/>
              <a:t>exception</a:t>
            </a:r>
            <a:r>
              <a:rPr lang="de-DE" dirty="0"/>
              <a:t> </a:t>
            </a:r>
            <a:r>
              <a:rPr lang="de-DE" dirty="0" err="1"/>
              <a:t>handling</a:t>
            </a:r>
            <a:endParaRPr lang="de-DE" dirty="0"/>
          </a:p>
        </p:txBody>
      </p:sp>
      <p:sp>
        <p:nvSpPr>
          <p:cNvPr id="3" name="Content Placeholder 2">
            <a:extLst>
              <a:ext uri="{FF2B5EF4-FFF2-40B4-BE49-F238E27FC236}">
                <a16:creationId xmlns:a16="http://schemas.microsoft.com/office/drawing/2014/main" id="{573672AD-248D-488E-9BA4-76D72E2A1DA7}"/>
              </a:ext>
            </a:extLst>
          </p:cNvPr>
          <p:cNvSpPr>
            <a:spLocks noGrp="1"/>
          </p:cNvSpPr>
          <p:nvPr>
            <p:ph idx="1"/>
          </p:nvPr>
        </p:nvSpPr>
        <p:spPr/>
        <p:txBody>
          <a:bodyPr/>
          <a:lstStyle/>
          <a:p>
            <a:r>
              <a:rPr lang="de-DE" dirty="0"/>
              <a:t>Errors (out </a:t>
            </a:r>
            <a:r>
              <a:rPr lang="de-DE" dirty="0" err="1"/>
              <a:t>of</a:t>
            </a:r>
            <a:r>
              <a:rPr lang="de-DE" dirty="0"/>
              <a:t> </a:t>
            </a:r>
            <a:r>
              <a:rPr lang="de-DE" dirty="0" err="1"/>
              <a:t>memory</a:t>
            </a:r>
            <a:r>
              <a:rPr lang="de-DE" dirty="0"/>
              <a:t>) </a:t>
            </a:r>
            <a:r>
              <a:rPr lang="de-DE" dirty="0" err="1"/>
              <a:t>vs</a:t>
            </a:r>
            <a:r>
              <a:rPr lang="de-DE" dirty="0"/>
              <a:t> </a:t>
            </a:r>
            <a:r>
              <a:rPr lang="de-DE" dirty="0" err="1"/>
              <a:t>Exceptions</a:t>
            </a:r>
            <a:r>
              <a:rPr lang="de-DE" dirty="0"/>
              <a:t> </a:t>
            </a:r>
            <a:r>
              <a:rPr lang="de-DE" dirty="0" err="1"/>
              <a:t>vs</a:t>
            </a:r>
            <a:r>
              <a:rPr lang="de-DE" dirty="0"/>
              <a:t> </a:t>
            </a:r>
            <a:r>
              <a:rPr lang="de-DE" dirty="0" err="1"/>
              <a:t>RuntimeExceptions</a:t>
            </a:r>
            <a:r>
              <a:rPr lang="de-DE" dirty="0"/>
              <a:t> (Teilen durch 0) </a:t>
            </a:r>
          </a:p>
          <a:p>
            <a:r>
              <a:rPr lang="de-DE" dirty="0"/>
              <a:t>Debugging</a:t>
            </a:r>
          </a:p>
        </p:txBody>
      </p:sp>
      <p:pic>
        <p:nvPicPr>
          <p:cNvPr id="4" name="Graphic 3" descr="Document with solid fill">
            <a:extLst>
              <a:ext uri="{FF2B5EF4-FFF2-40B4-BE49-F238E27FC236}">
                <a16:creationId xmlns:a16="http://schemas.microsoft.com/office/drawing/2014/main" id="{611071BF-2687-4F66-8D3E-1E4C9014657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5029547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6466F-7A17-49DD-BAB4-252AAC139184}"/>
              </a:ext>
            </a:extLst>
          </p:cNvPr>
          <p:cNvSpPr>
            <a:spLocks noGrp="1"/>
          </p:cNvSpPr>
          <p:nvPr>
            <p:ph type="title"/>
          </p:nvPr>
        </p:nvSpPr>
        <p:spPr/>
        <p:txBody>
          <a:bodyPr/>
          <a:lstStyle/>
          <a:p>
            <a:r>
              <a:rPr lang="de-DE" dirty="0" err="1"/>
              <a:t>annotations</a:t>
            </a:r>
            <a:endParaRPr lang="de-DE" dirty="0"/>
          </a:p>
        </p:txBody>
      </p:sp>
      <p:sp>
        <p:nvSpPr>
          <p:cNvPr id="3" name="Content Placeholder 2">
            <a:extLst>
              <a:ext uri="{FF2B5EF4-FFF2-40B4-BE49-F238E27FC236}">
                <a16:creationId xmlns:a16="http://schemas.microsoft.com/office/drawing/2014/main" id="{2093C722-7487-498F-95A6-300BD818AAA3}"/>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22862031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AAF2D-351D-4204-AFEC-B279186027C8}"/>
              </a:ext>
            </a:extLst>
          </p:cNvPr>
          <p:cNvSpPr>
            <a:spLocks noGrp="1"/>
          </p:cNvSpPr>
          <p:nvPr>
            <p:ph type="title"/>
          </p:nvPr>
        </p:nvSpPr>
        <p:spPr/>
        <p:txBody>
          <a:bodyPr/>
          <a:lstStyle/>
          <a:p>
            <a:r>
              <a:rPr lang="de-DE" dirty="0"/>
              <a:t>Abstrakte Klassen</a:t>
            </a:r>
          </a:p>
        </p:txBody>
      </p:sp>
      <p:sp>
        <p:nvSpPr>
          <p:cNvPr id="3" name="Content Placeholder 2">
            <a:extLst>
              <a:ext uri="{FF2B5EF4-FFF2-40B4-BE49-F238E27FC236}">
                <a16:creationId xmlns:a16="http://schemas.microsoft.com/office/drawing/2014/main" id="{305C3308-8D71-43B5-8CC5-F8C852C904A1}"/>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89668864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1749B5-E743-4316-9598-D089F5F166E5}"/>
              </a:ext>
            </a:extLst>
          </p:cNvPr>
          <p:cNvSpPr>
            <a:spLocks noGrp="1"/>
          </p:cNvSpPr>
          <p:nvPr>
            <p:ph type="title"/>
          </p:nvPr>
        </p:nvSpPr>
        <p:spPr/>
        <p:txBody>
          <a:bodyPr/>
          <a:lstStyle/>
          <a:p>
            <a:r>
              <a:rPr lang="de-DE" dirty="0"/>
              <a:t>Interfaces</a:t>
            </a:r>
          </a:p>
        </p:txBody>
      </p:sp>
      <p:sp>
        <p:nvSpPr>
          <p:cNvPr id="3" name="Inhaltsplatzhalter 2">
            <a:extLst>
              <a:ext uri="{FF2B5EF4-FFF2-40B4-BE49-F238E27FC236}">
                <a16:creationId xmlns:a16="http://schemas.microsoft.com/office/drawing/2014/main" id="{0710EA50-F5A7-495F-9371-386CBA462F63}"/>
              </a:ext>
            </a:extLst>
          </p:cNvPr>
          <p:cNvSpPr>
            <a:spLocks noGrp="1"/>
          </p:cNvSpPr>
          <p:nvPr>
            <p:ph idx="1"/>
          </p:nvPr>
        </p:nvSpPr>
        <p:spPr/>
        <p:txBody>
          <a:bodyPr>
            <a:normAutofit/>
          </a:bodyPr>
          <a:lstStyle/>
          <a:p>
            <a:pPr marL="0" indent="0">
              <a:buNone/>
            </a:pPr>
            <a:r>
              <a:rPr lang="de-DE" dirty="0"/>
              <a:t>Gibt vor, welche Methoden abgeleitete Klassen bereitstellen müssen.</a:t>
            </a:r>
          </a:p>
          <a:p>
            <a:pPr marL="0" indent="0">
              <a:buNone/>
            </a:pPr>
            <a:r>
              <a:rPr lang="de-DE" dirty="0"/>
              <a:t>Methoden sind standardmäßig </a:t>
            </a:r>
            <a:r>
              <a:rPr kumimoji="0" lang="de-DE" altLang="de-DE" sz="2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abstract</a:t>
            </a:r>
            <a:r>
              <a:rPr lang="de-DE" dirty="0"/>
              <a:t>.</a:t>
            </a:r>
          </a:p>
          <a:p>
            <a:pPr marL="0" indent="0">
              <a:buNone/>
            </a:pPr>
            <a:r>
              <a:rPr lang="de-DE" dirty="0"/>
              <a:t>Eignen sich als Methode, die man übergeben kann.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interface </a:t>
            </a:r>
            <a:r>
              <a:rPr kumimoji="0" lang="de-DE" altLang="de-DE" sz="1800" b="0" i="0" u="none" strike="noStrike" cap="none" normalizeH="0" baseline="0" dirty="0" err="1">
                <a:ln>
                  <a:noFill/>
                </a:ln>
                <a:solidFill>
                  <a:srgbClr val="5FB1DA"/>
                </a:solidFill>
                <a:effectLst/>
                <a:latin typeface="Roboto Mono" panose="00000009000000000000" pitchFamily="50" charset="0"/>
              </a:rPr>
              <a:t>CoordinateAction</a:t>
            </a:r>
            <a:r>
              <a:rPr kumimoji="0" lang="de-DE" altLang="de-DE" sz="1800" b="0" i="0" u="none" strike="noStrike" cap="none" normalizeH="0" baseline="0" dirty="0">
                <a:ln>
                  <a:noFill/>
                </a:ln>
                <a:solidFill>
                  <a:srgbClr val="5FB1DA"/>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execute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p>
          <a:p>
            <a:pPr marL="0" indent="0">
              <a:buNone/>
            </a:pPr>
            <a:r>
              <a:rPr lang="de-DE" altLang="de-DE" dirty="0"/>
              <a:t>Beispiel: </a:t>
            </a:r>
            <a:r>
              <a:rPr lang="de-DE" altLang="de-DE" dirty="0" err="1"/>
              <a:t>ArrayList</a:t>
            </a:r>
            <a:r>
              <a:rPr lang="de-DE" altLang="de-DE" dirty="0"/>
              <a:t> und </a:t>
            </a:r>
            <a:r>
              <a:rPr lang="de-DE" altLang="de-DE" dirty="0" err="1"/>
              <a:t>HashSet</a:t>
            </a:r>
            <a:r>
              <a:rPr lang="de-DE" altLang="de-DE" dirty="0"/>
              <a:t> sind Collections </a:t>
            </a:r>
          </a:p>
        </p:txBody>
      </p:sp>
      <p:pic>
        <p:nvPicPr>
          <p:cNvPr id="4" name="Graphic 3" descr="Document with solid fill">
            <a:extLst>
              <a:ext uri="{FF2B5EF4-FFF2-40B4-BE49-F238E27FC236}">
                <a16:creationId xmlns:a16="http://schemas.microsoft.com/office/drawing/2014/main" id="{87E446F7-92F8-4F61-AC55-D9FEC5C4376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75911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1D98B-B8BA-4E14-9F1B-551F64FF02BD}"/>
              </a:ext>
            </a:extLst>
          </p:cNvPr>
          <p:cNvSpPr>
            <a:spLocks noGrp="1"/>
          </p:cNvSpPr>
          <p:nvPr>
            <p:ph type="title"/>
          </p:nvPr>
        </p:nvSpPr>
        <p:spPr/>
        <p:txBody>
          <a:bodyPr/>
          <a:lstStyle/>
          <a:p>
            <a:endParaRPr lang="de-DE"/>
          </a:p>
        </p:txBody>
      </p:sp>
      <p:sp>
        <p:nvSpPr>
          <p:cNvPr id="3" name="Content Placeholder 2">
            <a:extLst>
              <a:ext uri="{FF2B5EF4-FFF2-40B4-BE49-F238E27FC236}">
                <a16:creationId xmlns:a16="http://schemas.microsoft.com/office/drawing/2014/main" id="{C93F1AC7-3B55-4F62-84A6-4BCF60785D82}"/>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68061052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6EEA1-7C66-47EF-A90D-F65AAF185E4B}"/>
              </a:ext>
            </a:extLst>
          </p:cNvPr>
          <p:cNvSpPr>
            <a:spLocks noGrp="1"/>
          </p:cNvSpPr>
          <p:nvPr>
            <p:ph type="title"/>
          </p:nvPr>
        </p:nvSpPr>
        <p:spPr/>
        <p:txBody>
          <a:bodyPr/>
          <a:lstStyle/>
          <a:p>
            <a:r>
              <a:rPr lang="de-DE" dirty="0"/>
              <a:t>Weitere Java-Features</a:t>
            </a:r>
          </a:p>
        </p:txBody>
      </p:sp>
      <p:sp>
        <p:nvSpPr>
          <p:cNvPr id="3" name="Content Placeholder 2">
            <a:extLst>
              <a:ext uri="{FF2B5EF4-FFF2-40B4-BE49-F238E27FC236}">
                <a16:creationId xmlns:a16="http://schemas.microsoft.com/office/drawing/2014/main" id="{AF309486-8E15-4D9E-92AA-C5522371BF52}"/>
              </a:ext>
            </a:extLst>
          </p:cNvPr>
          <p:cNvSpPr>
            <a:spLocks noGrp="1"/>
          </p:cNvSpPr>
          <p:nvPr>
            <p:ph idx="1"/>
          </p:nvPr>
        </p:nvSpPr>
        <p:spPr/>
        <p:txBody>
          <a:bodyPr/>
          <a:lstStyle/>
          <a:p>
            <a:r>
              <a:rPr lang="de-DE" dirty="0"/>
              <a:t>Wir verweisen bei Bedarf hier hin.</a:t>
            </a:r>
          </a:p>
        </p:txBody>
      </p:sp>
      <p:pic>
        <p:nvPicPr>
          <p:cNvPr id="2050" name="Picture 2">
            <a:extLst>
              <a:ext uri="{FF2B5EF4-FFF2-40B4-BE49-F238E27FC236}">
                <a16:creationId xmlns:a16="http://schemas.microsoft.com/office/drawing/2014/main" id="{E951BE2F-9163-456E-90E0-FFD61ABD4B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55158" y="1825625"/>
            <a:ext cx="2298642"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083171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FA93C-48C3-473B-9FA1-31ED7BF3B620}"/>
              </a:ext>
            </a:extLst>
          </p:cNvPr>
          <p:cNvSpPr>
            <a:spLocks noGrp="1"/>
          </p:cNvSpPr>
          <p:nvPr>
            <p:ph type="title"/>
          </p:nvPr>
        </p:nvSpPr>
        <p:spPr/>
        <p:txBody>
          <a:bodyPr/>
          <a:lstStyle/>
          <a:p>
            <a:r>
              <a:rPr lang="de-DE" dirty="0"/>
              <a:t>Innere Klassen</a:t>
            </a:r>
          </a:p>
        </p:txBody>
      </p:sp>
      <p:sp>
        <p:nvSpPr>
          <p:cNvPr id="3" name="Content Placeholder 2">
            <a:extLst>
              <a:ext uri="{FF2B5EF4-FFF2-40B4-BE49-F238E27FC236}">
                <a16:creationId xmlns:a16="http://schemas.microsoft.com/office/drawing/2014/main" id="{BC433ACF-725B-4C79-B89D-B3B6AFD45C59}"/>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36491828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F2E39-FC51-46DA-BC61-EA495771B7CF}"/>
              </a:ext>
            </a:extLst>
          </p:cNvPr>
          <p:cNvSpPr>
            <a:spLocks noGrp="1"/>
          </p:cNvSpPr>
          <p:nvPr>
            <p:ph type="title"/>
          </p:nvPr>
        </p:nvSpPr>
        <p:spPr/>
        <p:txBody>
          <a:bodyPr/>
          <a:lstStyle/>
          <a:p>
            <a:r>
              <a:rPr lang="de-DE" dirty="0"/>
              <a:t>Anonyme Klassen</a:t>
            </a:r>
          </a:p>
        </p:txBody>
      </p:sp>
      <p:sp>
        <p:nvSpPr>
          <p:cNvPr id="3" name="Content Placeholder 2">
            <a:extLst>
              <a:ext uri="{FF2B5EF4-FFF2-40B4-BE49-F238E27FC236}">
                <a16:creationId xmlns:a16="http://schemas.microsoft.com/office/drawing/2014/main" id="{F6F02A5E-113B-4050-97C7-D6ADEECBE9D1}"/>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7579383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B0090-7EBB-443B-82BB-934BF2DAEDDF}"/>
              </a:ext>
            </a:extLst>
          </p:cNvPr>
          <p:cNvSpPr>
            <a:spLocks noGrp="1"/>
          </p:cNvSpPr>
          <p:nvPr>
            <p:ph type="title"/>
          </p:nvPr>
        </p:nvSpPr>
        <p:spPr/>
        <p:txBody>
          <a:bodyPr/>
          <a:lstStyle/>
          <a:p>
            <a:r>
              <a:rPr lang="de-DE" dirty="0"/>
              <a:t>Lambda </a:t>
            </a:r>
            <a:r>
              <a:rPr lang="de-DE" dirty="0" err="1"/>
              <a:t>Expressions</a:t>
            </a:r>
            <a:endParaRPr lang="de-DE" dirty="0"/>
          </a:p>
        </p:txBody>
      </p:sp>
      <p:sp>
        <p:nvSpPr>
          <p:cNvPr id="3" name="Content Placeholder 2">
            <a:extLst>
              <a:ext uri="{FF2B5EF4-FFF2-40B4-BE49-F238E27FC236}">
                <a16:creationId xmlns:a16="http://schemas.microsoft.com/office/drawing/2014/main" id="{3A682F08-919D-477B-A330-4B88161EE3FE}"/>
              </a:ext>
            </a:extLst>
          </p:cNvPr>
          <p:cNvSpPr>
            <a:spLocks noGrp="1"/>
          </p:cNvSpPr>
          <p:nvPr>
            <p:ph idx="1"/>
          </p:nvPr>
        </p:nvSpPr>
        <p:spPr/>
        <p:txBody>
          <a:bodyPr/>
          <a:lstStyle/>
          <a:p>
            <a:r>
              <a:rPr lang="de-DE" dirty="0"/>
              <a:t>Aufbau</a:t>
            </a:r>
          </a:p>
          <a:p>
            <a:r>
              <a:rPr lang="de-DE" dirty="0"/>
              <a:t>Funktionale Programmierung</a:t>
            </a:r>
          </a:p>
        </p:txBody>
      </p:sp>
    </p:spTree>
    <p:extLst>
      <p:ext uri="{BB962C8B-B14F-4D97-AF65-F5344CB8AC3E}">
        <p14:creationId xmlns:p14="http://schemas.microsoft.com/office/powerpoint/2010/main" val="234802207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B1BF9-1189-4908-95AB-F4CBECF1FE72}"/>
              </a:ext>
            </a:extLst>
          </p:cNvPr>
          <p:cNvSpPr>
            <a:spLocks noGrp="1"/>
          </p:cNvSpPr>
          <p:nvPr>
            <p:ph type="title"/>
          </p:nvPr>
        </p:nvSpPr>
        <p:spPr/>
        <p:txBody>
          <a:bodyPr/>
          <a:lstStyle/>
          <a:p>
            <a:r>
              <a:rPr lang="de-DE" dirty="0"/>
              <a:t>Java Streaming API</a:t>
            </a:r>
          </a:p>
        </p:txBody>
      </p:sp>
      <p:sp>
        <p:nvSpPr>
          <p:cNvPr id="3" name="Content Placeholder 2">
            <a:extLst>
              <a:ext uri="{FF2B5EF4-FFF2-40B4-BE49-F238E27FC236}">
                <a16:creationId xmlns:a16="http://schemas.microsoft.com/office/drawing/2014/main" id="{63D781E2-BADB-48CD-B888-61F00B7547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579201741"/>
      </p:ext>
    </p:extLst>
  </p:cSld>
  <p:clrMapOvr>
    <a:masterClrMapping/>
  </p:clrMapOvr>
</p:sld>
</file>

<file path=ppt/theme/theme1.xml><?xml version="1.0" encoding="utf-8"?>
<a:theme xmlns:a="http://schemas.openxmlformats.org/drawingml/2006/main" name="Office">
  <a:themeElements>
    <a:clrScheme name="Custom 3">
      <a:dk1>
        <a:sysClr val="windowText" lastClr="000000"/>
      </a:dk1>
      <a:lt1>
        <a:srgbClr val="F2F5FA"/>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heme Font">
      <a:majorFont>
        <a:latin typeface="Nunito"/>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6920</Words>
  <Application>Microsoft Office PowerPoint</Application>
  <PresentationFormat>Widescreen</PresentationFormat>
  <Paragraphs>903</Paragraphs>
  <Slides>103</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103</vt:i4>
      </vt:variant>
    </vt:vector>
  </HeadingPairs>
  <TitlesOfParts>
    <vt:vector size="111" baseType="lpstr">
      <vt:lpstr>Arial</vt:lpstr>
      <vt:lpstr>Cambria Math</vt:lpstr>
      <vt:lpstr>Courier New</vt:lpstr>
      <vt:lpstr>IBM Plex Sans</vt:lpstr>
      <vt:lpstr>Nunito</vt:lpstr>
      <vt:lpstr>Roboto Mono</vt:lpstr>
      <vt:lpstr>Wingdings</vt:lpstr>
      <vt:lpstr>Office</vt:lpstr>
      <vt:lpstr>Eigene Projekte mit Java entwickeln</vt:lpstr>
      <vt:lpstr>Codeschnipsel</vt:lpstr>
      <vt:lpstr>Kommentare</vt:lpstr>
      <vt:lpstr>Syntax vs. Semantik</vt:lpstr>
      <vt:lpstr>Start-Methode</vt:lpstr>
      <vt:lpstr>Befehle</vt:lpstr>
      <vt:lpstr>Binärdarstellung</vt:lpstr>
      <vt:lpstr>Primitive Datentypen</vt:lpstr>
      <vt:lpstr>Variablen</vt:lpstr>
      <vt:lpstr>Begriffe – Variablen</vt:lpstr>
      <vt:lpstr>Operatoren und Ausdrücke</vt:lpstr>
      <vt:lpstr>primitive type casting</vt:lpstr>
      <vt:lpstr>Compilezeit vs. Laufzeit</vt:lpstr>
      <vt:lpstr>Objekte</vt:lpstr>
      <vt:lpstr>Scanner</vt:lpstr>
      <vt:lpstr>Objektvariablen</vt:lpstr>
      <vt:lpstr>Null pointer</vt:lpstr>
      <vt:lpstr>Garbage collection ♻️</vt:lpstr>
      <vt:lpstr>Beispiel – Begrüßung</vt:lpstr>
      <vt:lpstr>Typ einer Variable</vt:lpstr>
      <vt:lpstr>Was sind Methoden?</vt:lpstr>
      <vt:lpstr>Beispiele für Methodenaufrufe</vt:lpstr>
      <vt:lpstr>Warum eigene Methoden schreiben?</vt:lpstr>
      <vt:lpstr>Aufbau einer Methode</vt:lpstr>
      <vt:lpstr>Ergebnis der Methode festlegen</vt:lpstr>
      <vt:lpstr>Methoden in Aktion</vt:lpstr>
      <vt:lpstr>Methoden vs. Funktionen</vt:lpstr>
      <vt:lpstr>Begriffe – Methoden</vt:lpstr>
      <vt:lpstr>Arten von Methoden</vt:lpstr>
      <vt:lpstr>Nicht verwechseln: Deklaration und Aufruf</vt:lpstr>
      <vt:lpstr>Klassen</vt:lpstr>
      <vt:lpstr>Abstraktion</vt:lpstr>
      <vt:lpstr>Programmier-Paradigmen</vt:lpstr>
      <vt:lpstr>Objektorientierung</vt:lpstr>
      <vt:lpstr>Eigene Klassen erstellen</vt:lpstr>
      <vt:lpstr>Konstruktor</vt:lpstr>
      <vt:lpstr>this</vt:lpstr>
      <vt:lpstr>Import</vt:lpstr>
      <vt:lpstr>Bezeichnung Methoden von Klassen</vt:lpstr>
      <vt:lpstr>Sichtbarkeitsmodifikatoren</vt:lpstr>
      <vt:lpstr>Indizierung</vt:lpstr>
      <vt:lpstr>Indizierung - Konventionen</vt:lpstr>
      <vt:lpstr>String-Klasse</vt:lpstr>
      <vt:lpstr>System-Klasse</vt:lpstr>
      <vt:lpstr>equals-Methode</vt:lpstr>
      <vt:lpstr>Kontrollstrukturen</vt:lpstr>
      <vt:lpstr>Ausnahmen: Reihenfolge der Ausführung</vt:lpstr>
      <vt:lpstr>Threading</vt:lpstr>
      <vt:lpstr>Blöcke</vt:lpstr>
      <vt:lpstr>Beispiele für Blöcke</vt:lpstr>
      <vt:lpstr>Arten von Variablen</vt:lpstr>
      <vt:lpstr>Einlesen anderer Datentypen</vt:lpstr>
      <vt:lpstr>Problem: Alle Geschichten ausgeben</vt:lpstr>
      <vt:lpstr>Abkürzungen: Variablen verändern</vt:lpstr>
      <vt:lpstr>for-Schleife</vt:lpstr>
      <vt:lpstr>Kontrolle von Schleifen</vt:lpstr>
      <vt:lpstr>Verschachtelung</vt:lpstr>
      <vt:lpstr>Der Ternary-Operator</vt:lpstr>
      <vt:lpstr>Random</vt:lpstr>
      <vt:lpstr>Math-Klasse</vt:lpstr>
      <vt:lpstr>Array</vt:lpstr>
      <vt:lpstr>Array-Visualisierung</vt:lpstr>
      <vt:lpstr>Array-Inhalte verändern</vt:lpstr>
      <vt:lpstr>Beliebig viele Argumente</vt:lpstr>
      <vt:lpstr>Mehrdimensionale Arrays</vt:lpstr>
      <vt:lpstr>Algorithmus</vt:lpstr>
      <vt:lpstr>Beispiel: Durchschnitt mehrerer Zahlen</vt:lpstr>
      <vt:lpstr>foreach-Schleife</vt:lpstr>
      <vt:lpstr>Iterator</vt:lpstr>
      <vt:lpstr>Verbessert: Durchschnitt mehrerer Zahlen</vt:lpstr>
      <vt:lpstr>Rekursion</vt:lpstr>
      <vt:lpstr>Polymorphismus</vt:lpstr>
      <vt:lpstr>Vererbung</vt:lpstr>
      <vt:lpstr>Begriffe - Vererbung</vt:lpstr>
      <vt:lpstr>final-Modifikator</vt:lpstr>
      <vt:lpstr>Object-Klasse</vt:lpstr>
      <vt:lpstr>Zugriffsfunktionen</vt:lpstr>
      <vt:lpstr>Arten von Methoden 2</vt:lpstr>
      <vt:lpstr>super</vt:lpstr>
      <vt:lpstr>object/class type casting</vt:lpstr>
      <vt:lpstr>Klasse Position 🤮</vt:lpstr>
      <vt:lpstr>Record</vt:lpstr>
      <vt:lpstr>Enum</vt:lpstr>
      <vt:lpstr>Enum-Methoden</vt:lpstr>
      <vt:lpstr>Primitive wrapper classes</vt:lpstr>
      <vt:lpstr>Datenstruktur</vt:lpstr>
      <vt:lpstr>Generics</vt:lpstr>
      <vt:lpstr>Collection&lt;E&gt;</vt:lpstr>
      <vt:lpstr>ArrayList&lt;E&gt; (ist eine Collection)</vt:lpstr>
      <vt:lpstr>HashSet&lt;E&gt; (ist eine Collection)</vt:lpstr>
      <vt:lpstr>HashMap&lt;K, V&gt;</vt:lpstr>
      <vt:lpstr>Codestruktur</vt:lpstr>
      <vt:lpstr>Aggregation vs. Komposition</vt:lpstr>
      <vt:lpstr>exception handling</vt:lpstr>
      <vt:lpstr>annotations</vt:lpstr>
      <vt:lpstr>Abstrakte Klassen</vt:lpstr>
      <vt:lpstr>Interfaces</vt:lpstr>
      <vt:lpstr>PowerPoint Presentation</vt:lpstr>
      <vt:lpstr>Weitere Java-Features</vt:lpstr>
      <vt:lpstr>Innere Klassen</vt:lpstr>
      <vt:lpstr>Anonyme Klassen</vt:lpstr>
      <vt:lpstr>Lambda Expressions</vt:lpstr>
      <vt:lpstr>Java Streaming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2025-03-17T21:21:38Z</dcterms:created>
  <dcterms:modified xsi:type="dcterms:W3CDTF">2026-02-20T19:20:54Z</dcterms:modified>
</cp:coreProperties>
</file>